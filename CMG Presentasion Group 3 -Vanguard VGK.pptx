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1495f067e_2_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41495f067e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1495f067e_2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41495f067e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1c957a18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41c957a18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1495f067e_2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41495f067e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1c957a18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41c957a18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1495f067e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41495f067e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1c957a18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41c957a18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1495f067e_2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41495f067e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1495f067e_2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41495f067e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1495f067e_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41495f067e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1495f067e_2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41495f067e_2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5" name="Google Shape;65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" name="Google Shape;67;p15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alt1">
  <p:cSld name="TITLE_1">
    <p:bg>
      <p:bgPr>
        <a:solidFill>
          <a:schemeClr val="lt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71" name="Google Shape;71;p16"/>
          <p:cNvPicPr preferRelativeResize="0"/>
          <p:nvPr/>
        </p:nvPicPr>
        <p:blipFill rotWithShape="1">
          <a:blip r:embed="rId2">
            <a:alphaModFix/>
          </a:blip>
          <a:srcRect b="23590" l="0" r="0" t="21799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4" name="Google Shape;74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1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16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16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16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5" name="Google Shape;85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2" name="Google Shape;92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0" name="Google Shape;100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2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9" name="Google Shape;109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2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15" name="Google Shape;115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2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2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2" name="Google Shape;122;p2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2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25" name="Google Shape;125;p2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6" name="Google Shape;126;p2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2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3" name="Google Shape;133;p2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4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4800">
                <a:solidFill>
                  <a:srgbClr val="000000"/>
                </a:solidFill>
              </a:rPr>
              <a:t>Vanguard FTSE Europe ETF (VGK)</a:t>
            </a:r>
            <a:endParaRPr/>
          </a:p>
        </p:txBody>
      </p:sp>
      <p:sp>
        <p:nvSpPr>
          <p:cNvPr id="145" name="Google Shape;145;p26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" sz="1400"/>
              <a:t>Group name: Group 3</a:t>
            </a:r>
            <a:endParaRPr b="1" sz="1400"/>
          </a:p>
        </p:txBody>
      </p:sp>
      <p:pic>
        <p:nvPicPr>
          <p:cNvPr id="146" name="Google Shape;14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790100" y="1287050"/>
            <a:ext cx="66762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General, relevant market information 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721225" y="1952050"/>
            <a:ext cx="4809300" cy="21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European equities ETF investing in developed European markets.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Market influenced by ECB monetary policies, European economic growth, political stability within the EU, consumer behavior, unemployment rates, and inflation dynamics.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53" name="Google Shape;1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790100" y="1287050"/>
            <a:ext cx="66762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General, relevant market information </a:t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 title="Screenshot 2025-03-19 at 16.50.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9050" y="1870200"/>
            <a:ext cx="6818002" cy="295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753700" y="1318625"/>
            <a:ext cx="75264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Business overview</a:t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9"/>
          <p:cNvSpPr txBox="1"/>
          <p:nvPr/>
        </p:nvSpPr>
        <p:spPr>
          <a:xfrm>
            <a:off x="437350" y="2109425"/>
            <a:ext cx="84141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Company Background:</a:t>
            </a:r>
            <a:r>
              <a:rPr lang="en" sz="1100"/>
              <a:t> VGK tracks FTSE Developed Europe All Cap Index; includes large-cap and mid-cap European stocks.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Revenue Sources:</a:t>
            </a:r>
            <a:r>
              <a:rPr lang="en" sz="1100"/>
              <a:t> Primarily from capital appreciation and dividend income from underlying European stocks.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Customers:</a:t>
            </a:r>
            <a:r>
              <a:rPr lang="en" sz="1100"/>
              <a:t> Institutional and retail investors seeking European market exposure.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Business Model:</a:t>
            </a:r>
            <a:r>
              <a:rPr lang="en" sz="1100"/>
              <a:t> Passive ETF management with low expense ratio (0.08%), offering broad, diversified exposure.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Positive News: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Economic recovery post-pandemic.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Strong dividend yields among European blue-chip companies.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Negative News: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Geopolitical tensions (Ukraine-Russia conflict).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Energy crisis vulnerability.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753700" y="1318625"/>
            <a:ext cx="75264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Business overview</a:t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0"/>
          <p:cNvSpPr txBox="1"/>
          <p:nvPr/>
        </p:nvSpPr>
        <p:spPr>
          <a:xfrm>
            <a:off x="446850" y="1928775"/>
            <a:ext cx="8414100" cy="29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SWOT Analysis: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Strengths: Diversified exposure, low fees.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Weaknesses: Sensitive to European economic instability.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Opportunities: Post-pandemic recovery, undervalued European markets.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Threats: Geopolitical risks, inflation pressures.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730000" y="1318650"/>
            <a:ext cx="39264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Industry Performance</a:t>
            </a: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1"/>
          <p:cNvSpPr txBox="1"/>
          <p:nvPr/>
        </p:nvSpPr>
        <p:spPr>
          <a:xfrm>
            <a:off x="511325" y="1858850"/>
            <a:ext cx="6090600" cy="22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Industry:</a:t>
            </a:r>
            <a:r>
              <a:rPr lang="en" sz="1100"/>
              <a:t> Diversified European equities.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Growth:</a:t>
            </a:r>
            <a:r>
              <a:rPr lang="en" sz="1100"/>
              <a:t> Moderate growth post-pandemic, driven by tech, industrials, and consumer sectors.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Market Share:</a:t>
            </a:r>
            <a:r>
              <a:rPr lang="en" sz="1100"/>
              <a:t> VGK is a leading European ETF (approx. $21B AUM).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Competition:</a:t>
            </a:r>
            <a:r>
              <a:rPr lang="en" sz="1100"/>
              <a:t> Competitive but VGK maintains a strong position due to cost leadership and liquidity.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701475" y="541200"/>
            <a:ext cx="39264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Industry Performance</a:t>
            </a:r>
            <a:endParaRPr/>
          </a:p>
        </p:txBody>
      </p:sp>
      <p:pic>
        <p:nvPicPr>
          <p:cNvPr id="187" name="Google Shape;18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2" title="Screenshot 2025-03-19 at 16.53.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2275" y="1241450"/>
            <a:ext cx="7339448" cy="382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Fundamentals</a:t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721225" y="2097075"/>
            <a:ext cx="8148300" cy="25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Revenue &amp; Earnings Trends: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Stable dividend distributions; moderate long-term capital appreciation.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Financial Ratios: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Dividend yield ~3%.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Expense ratio: 0.08% (below industry average).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Debt Management: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Not directly applicable; monitors financial health of holdings.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Valuation: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Moderately undervalued compared to historical valuations (P/E multiples below historical averages).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40C28"/>
              </a:solidFill>
            </a:endParaRPr>
          </a:p>
        </p:txBody>
      </p:sp>
      <p:pic>
        <p:nvPicPr>
          <p:cNvPr id="195" name="Google Shape;19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Risk</a:t>
            </a:r>
            <a:endParaRPr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721225" y="2038450"/>
            <a:ext cx="5860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Highly competitive European markets.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Inflation and interest rate exposure.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Geopolitical instability (Ukraine conflict).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Commodity price volatility, especially energy.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Regulatory risks across multiple jurisdictions.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02" name="Google Shape;20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Proposal and Exit strategy </a:t>
            </a:r>
            <a:endParaRPr/>
          </a:p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721225" y="2781725"/>
            <a:ext cx="72825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Proposal: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Allocate 10% of portfolio to VGK.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Rationale: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Attractive valuation, stable dividends, potential recovery in Europe.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Exit Strategy: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Sell if geopolitical tensions escalate significantly.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Trigger stop-loss at ~10% downside.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Reevaluate quarterly based on economic indicators and inflation reports.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29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09" name="Google Shape;20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4800">
                <a:solidFill>
                  <a:srgbClr val="000000"/>
                </a:solidFill>
              </a:rPr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