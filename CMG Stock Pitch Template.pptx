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embeddedFontLst>
    <p:embeddedFont>
      <p:font typeface="Lato" panose="020F0502020204030203" pitchFamily="34" charset="0"/>
      <p:regular r:id="rId14"/>
      <p:bold r:id="rId15"/>
      <p:italic r:id="rId16"/>
      <p:boldItalic r:id="rId17"/>
    </p:embeddedFont>
    <p:embeddedFont>
      <p:font typeface="Raleway" pitchFamily="2" charset="77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02"/>
  </p:normalViewPr>
  <p:slideViewPr>
    <p:cSldViewPr snapToGrid="0">
      <p:cViewPr varScale="1">
        <p:scale>
          <a:sx n="151" d="100"/>
          <a:sy n="151" d="100"/>
        </p:scale>
        <p:origin x="544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61ff2a8e4e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61ff2a8e4e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607323dd88_0_2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607323dd88_0_2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607323dd88_0_2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607323dd88_0_2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607323dd88_0_2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607323dd88_0_2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992c0c5f11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2992c0c5f11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992c0c5f11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992c0c5f11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607323dd88_0_2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607323dd88_0_2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607323dd88_0_2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2607323dd88_0_2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607323dd88_0_2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607323dd88_0_2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1f88252dc4_0_15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1f88252dc4_0_15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" name="Google Shape;77;p11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_alt1">
  <p:cSld name="TITLE_1">
    <p:bg>
      <p:bgPr>
        <a:solidFill>
          <a:schemeClr val="lt2"/>
        </a:solid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3" descr="shutterstock_429987889_edited.jpg"/>
          <p:cNvPicPr preferRelativeResize="0"/>
          <p:nvPr/>
        </p:nvPicPr>
        <p:blipFill rotWithShape="1">
          <a:blip r:embed="rId2">
            <a:alphaModFix/>
          </a:blip>
          <a:srcRect t="21799" b="23591"/>
          <a:stretch/>
        </p:blipFill>
        <p:spPr>
          <a:xfrm>
            <a:off x="0" y="487825"/>
            <a:ext cx="9144000" cy="4655676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" name="Google Shape;85;p1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86" name="Google Shape;86;p1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1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8" name="Google Shape;88;p13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1" name="Google Shape;91;p13">
            <a:hlinkClick r:id="" action="ppaction://noaction"/>
          </p:cNvPr>
          <p:cNvSpPr/>
          <p:nvPr/>
        </p:nvSpPr>
        <p:spPr>
          <a:xfrm>
            <a:off x="8280450" y="0"/>
            <a:ext cx="863400" cy="454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2" name="Google Shape;92;p13">
            <a:hlinkClick r:id="" action="ppaction://noaction"/>
          </p:cNvPr>
          <p:cNvCxnSpPr/>
          <p:nvPr/>
        </p:nvCxnSpPr>
        <p:spPr>
          <a:xfrm>
            <a:off x="8598817" y="216350"/>
            <a:ext cx="216300" cy="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3" name="Google Shape;93;p13">
            <a:hlinkClick r:id="" action="ppaction://noaction"/>
          </p:cNvPr>
          <p:cNvCxnSpPr/>
          <p:nvPr/>
        </p:nvCxnSpPr>
        <p:spPr>
          <a:xfrm>
            <a:off x="8598817" y="250138"/>
            <a:ext cx="216300" cy="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4" name="Google Shape;94;p13">
            <a:hlinkClick r:id="" action="ppaction://noaction"/>
          </p:cNvPr>
          <p:cNvCxnSpPr/>
          <p:nvPr/>
        </p:nvCxnSpPr>
        <p:spPr>
          <a:xfrm>
            <a:off x="8598817" y="283925"/>
            <a:ext cx="216300" cy="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>
                <a:solidFill>
                  <a:srgbClr val="000000"/>
                </a:solidFill>
              </a:rPr>
              <a:t>Company Name</a:t>
            </a:r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/>
              <a:t>Group name:</a:t>
            </a:r>
            <a:endParaRPr sz="1400" b="1"/>
          </a:p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32500" y="0"/>
            <a:ext cx="541200" cy="54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 txBox="1">
            <a:spLocks noGrp="1"/>
          </p:cNvSpPr>
          <p:nvPr>
            <p:ph type="title"/>
          </p:nvPr>
        </p:nvSpPr>
        <p:spPr>
          <a:xfrm>
            <a:off x="790100" y="1287050"/>
            <a:ext cx="66762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General, relevant market information </a:t>
            </a:r>
            <a:endParaRPr/>
          </a:p>
        </p:txBody>
      </p:sp>
      <p:sp>
        <p:nvSpPr>
          <p:cNvPr id="107" name="Google Shape;107;p15"/>
          <p:cNvSpPr txBox="1">
            <a:spLocks noGrp="1"/>
          </p:cNvSpPr>
          <p:nvPr>
            <p:ph type="body" idx="1"/>
          </p:nvPr>
        </p:nvSpPr>
        <p:spPr>
          <a:xfrm>
            <a:off x="721225" y="2180650"/>
            <a:ext cx="4809300" cy="219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Systematic factors that influence the stock price </a:t>
            </a:r>
            <a:endParaRPr>
              <a:solidFill>
                <a:srgbClr val="000000"/>
              </a:solidFill>
            </a:endParaRPr>
          </a:p>
          <a:p>
            <a:pPr marL="457200" lvl="0" indent="-31115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-GB">
                <a:solidFill>
                  <a:srgbClr val="000000"/>
                </a:solidFill>
              </a:rPr>
              <a:t>FED rate</a:t>
            </a:r>
            <a:endParaRPr>
              <a:solidFill>
                <a:srgbClr val="000000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-GB">
                <a:solidFill>
                  <a:srgbClr val="000000"/>
                </a:solidFill>
              </a:rPr>
              <a:t>Economic growth</a:t>
            </a:r>
            <a:endParaRPr>
              <a:solidFill>
                <a:srgbClr val="000000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-GB">
                <a:solidFill>
                  <a:srgbClr val="000000"/>
                </a:solidFill>
              </a:rPr>
              <a:t>Political issues</a:t>
            </a:r>
            <a:endParaRPr>
              <a:solidFill>
                <a:srgbClr val="000000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-GB">
                <a:solidFill>
                  <a:srgbClr val="000000"/>
                </a:solidFill>
              </a:rPr>
              <a:t>Consumer behaviour </a:t>
            </a:r>
            <a:endParaRPr>
              <a:solidFill>
                <a:srgbClr val="000000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-GB">
                <a:solidFill>
                  <a:srgbClr val="000000"/>
                </a:solidFill>
              </a:rPr>
              <a:t>Unemployment </a:t>
            </a:r>
            <a:endParaRPr>
              <a:solidFill>
                <a:srgbClr val="000000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-GB">
                <a:solidFill>
                  <a:srgbClr val="000000"/>
                </a:solidFill>
              </a:rPr>
              <a:t>Inflation 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rgbClr val="000000"/>
              </a:solidFill>
            </a:endParaRPr>
          </a:p>
        </p:txBody>
      </p:sp>
      <p:pic>
        <p:nvPicPr>
          <p:cNvPr id="108" name="Google Shape;10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32500" y="0"/>
            <a:ext cx="541200" cy="54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 txBox="1">
            <a:spLocks noGrp="1"/>
          </p:cNvSpPr>
          <p:nvPr>
            <p:ph type="title"/>
          </p:nvPr>
        </p:nvSpPr>
        <p:spPr>
          <a:xfrm>
            <a:off x="753700" y="1318625"/>
            <a:ext cx="7526400" cy="79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Business overview</a:t>
            </a:r>
            <a:endParaRPr/>
          </a:p>
        </p:txBody>
      </p:sp>
      <p:sp>
        <p:nvSpPr>
          <p:cNvPr id="114" name="Google Shape;114;p16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78591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000000"/>
                </a:solidFill>
              </a:rPr>
              <a:t>Company background, qualitative analysis</a:t>
            </a:r>
            <a:endParaRPr b="1">
              <a:solidFill>
                <a:srgbClr val="000000"/>
              </a:solidFill>
            </a:endParaRPr>
          </a:p>
          <a:p>
            <a:pPr marL="457200" marR="0" lvl="0" indent="-304958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-GB">
                <a:solidFill>
                  <a:srgbClr val="000000"/>
                </a:solidFill>
              </a:rPr>
              <a:t>How do they make money (sources of revenue) </a:t>
            </a:r>
            <a:endParaRPr>
              <a:solidFill>
                <a:srgbClr val="000000"/>
              </a:solidFill>
            </a:endParaRPr>
          </a:p>
          <a:p>
            <a:pPr marL="457200" lvl="0" indent="-304958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-GB">
                <a:solidFill>
                  <a:srgbClr val="000000"/>
                </a:solidFill>
              </a:rPr>
              <a:t>Who are their customers </a:t>
            </a:r>
            <a:endParaRPr>
              <a:solidFill>
                <a:srgbClr val="000000"/>
              </a:solidFill>
            </a:endParaRPr>
          </a:p>
          <a:p>
            <a:pPr marL="457200" lvl="0" indent="-304958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-GB">
                <a:solidFill>
                  <a:srgbClr val="000000"/>
                </a:solidFill>
              </a:rPr>
              <a:t>Business model</a:t>
            </a:r>
            <a:endParaRPr>
              <a:solidFill>
                <a:srgbClr val="000000"/>
              </a:solidFill>
            </a:endParaRPr>
          </a:p>
          <a:p>
            <a:pPr marL="457200" lvl="0" indent="-304958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-GB">
                <a:solidFill>
                  <a:srgbClr val="000000"/>
                </a:solidFill>
              </a:rPr>
              <a:t>positive/negative news</a:t>
            </a:r>
            <a:endParaRPr>
              <a:solidFill>
                <a:srgbClr val="000000"/>
              </a:solidFill>
            </a:endParaRPr>
          </a:p>
          <a:p>
            <a:pPr marL="457200" lvl="0" indent="-304958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-GB">
                <a:solidFill>
                  <a:srgbClr val="000000"/>
                </a:solidFill>
              </a:rPr>
              <a:t>SWOT, Porter forces </a:t>
            </a:r>
            <a:endParaRPr>
              <a:solidFill>
                <a:srgbClr val="000000"/>
              </a:solidFill>
            </a:endParaRPr>
          </a:p>
          <a:p>
            <a:pPr marL="457200" lvl="0" indent="-304958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-GB">
                <a:solidFill>
                  <a:srgbClr val="000000"/>
                </a:solidFill>
              </a:rPr>
              <a:t>Other factors to consider: m&amp;a, dividends, regulation 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115" name="Google Shape;11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32500" y="0"/>
            <a:ext cx="541200" cy="54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926400" cy="80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Industry Performance</a:t>
            </a:r>
            <a:endParaRPr/>
          </a:p>
        </p:txBody>
      </p:sp>
      <p:sp>
        <p:nvSpPr>
          <p:cNvPr id="121" name="Google Shape;121;p17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68085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457200" lvl="0" indent="-292576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-GB">
                <a:solidFill>
                  <a:srgbClr val="000000"/>
                </a:solidFill>
              </a:rPr>
              <a:t>What industry is your target firm situated in? </a:t>
            </a:r>
            <a:endParaRPr>
              <a:solidFill>
                <a:srgbClr val="000000"/>
              </a:solidFill>
            </a:endParaRPr>
          </a:p>
          <a:p>
            <a:pPr marL="457200" lvl="0" indent="-292576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-GB">
                <a:solidFill>
                  <a:srgbClr val="000000"/>
                </a:solidFill>
              </a:rPr>
              <a:t>Is the industry growing? Check Indices and Market trends</a:t>
            </a:r>
            <a:endParaRPr>
              <a:solidFill>
                <a:srgbClr val="000000"/>
              </a:solidFill>
            </a:endParaRPr>
          </a:p>
          <a:p>
            <a:pPr marL="457200" lvl="0" indent="-292576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-GB">
                <a:solidFill>
                  <a:srgbClr val="000000"/>
                </a:solidFill>
              </a:rPr>
              <a:t>What is the market share of your company </a:t>
            </a:r>
            <a:endParaRPr>
              <a:solidFill>
                <a:srgbClr val="000000"/>
              </a:solidFill>
            </a:endParaRPr>
          </a:p>
          <a:p>
            <a:pPr marL="457200" lvl="0" indent="-292576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-GB">
                <a:solidFill>
                  <a:srgbClr val="000000"/>
                </a:solidFill>
              </a:rPr>
              <a:t>How fierce the competition </a:t>
            </a:r>
            <a:endParaRPr>
              <a:solidFill>
                <a:srgbClr val="000000"/>
              </a:solidFill>
            </a:endParaRPr>
          </a:p>
          <a:p>
            <a:pPr marL="457200" lvl="0" indent="-292576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-GB">
                <a:solidFill>
                  <a:srgbClr val="000000"/>
                </a:solidFill>
              </a:rPr>
              <a:t>competitive: construction, apparel</a:t>
            </a:r>
            <a:endParaRPr>
              <a:solidFill>
                <a:srgbClr val="000000"/>
              </a:solidFill>
            </a:endParaRPr>
          </a:p>
          <a:p>
            <a:pPr marL="457200" lvl="0" indent="-292576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-GB">
                <a:solidFill>
                  <a:srgbClr val="000000"/>
                </a:solidFill>
              </a:rPr>
              <a:t> Oligopoly: airplane manufacturing </a:t>
            </a:r>
            <a:endParaRPr>
              <a:solidFill>
                <a:srgbClr val="000000"/>
              </a:solidFill>
            </a:endParaRPr>
          </a:p>
          <a:p>
            <a:pPr marL="457200" lvl="0" indent="-292576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-GB">
                <a:solidFill>
                  <a:srgbClr val="000000"/>
                </a:solidFill>
              </a:rPr>
              <a:t> Monopolistic: facebook? 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b="1">
                <a:solidFill>
                  <a:srgbClr val="000000"/>
                </a:solidFill>
              </a:rPr>
              <a:t>How is your company situated in this industry? </a:t>
            </a:r>
            <a:endParaRPr b="1">
              <a:solidFill>
                <a:srgbClr val="000000"/>
              </a:solidFill>
            </a:endParaRPr>
          </a:p>
        </p:txBody>
      </p:sp>
      <p:pic>
        <p:nvPicPr>
          <p:cNvPr id="122" name="Google Shape;12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32500" y="0"/>
            <a:ext cx="541200" cy="54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7" descr="Graphical user interface, application&#10;&#10;Description automatically generate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48800" y="1049700"/>
            <a:ext cx="3426949" cy="193572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7"/>
          <p:cNvSpPr txBox="1"/>
          <p:nvPr/>
        </p:nvSpPr>
        <p:spPr>
          <a:xfrm>
            <a:off x="944800" y="6609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Fundamentals</a:t>
            </a:r>
            <a:endParaRPr/>
          </a:p>
        </p:txBody>
      </p:sp>
      <p:sp>
        <p:nvSpPr>
          <p:cNvPr id="130" name="Google Shape;130;p18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50256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rgbClr val="040C28"/>
              </a:buClr>
              <a:buSzPts val="1300"/>
              <a:buChar char="●"/>
            </a:pPr>
            <a:r>
              <a:rPr lang="en-GB">
                <a:solidFill>
                  <a:srgbClr val="040C28"/>
                </a:solidFill>
              </a:rPr>
              <a:t>Revenue and earnings (trends, figures)</a:t>
            </a:r>
            <a:endParaRPr>
              <a:solidFill>
                <a:srgbClr val="040C28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rgbClr val="040C28"/>
              </a:buClr>
              <a:buSzPts val="1300"/>
              <a:buChar char="●"/>
            </a:pPr>
            <a:r>
              <a:rPr lang="en-GB">
                <a:solidFill>
                  <a:srgbClr val="040C28"/>
                </a:solidFill>
              </a:rPr>
              <a:t>Financial ratios</a:t>
            </a:r>
            <a:endParaRPr>
              <a:solidFill>
                <a:srgbClr val="040C28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rgbClr val="040C28"/>
              </a:buClr>
              <a:buSzPts val="1300"/>
              <a:buChar char="●"/>
            </a:pPr>
            <a:r>
              <a:rPr lang="en-GB">
                <a:solidFill>
                  <a:srgbClr val="040C28"/>
                </a:solidFill>
              </a:rPr>
              <a:t>Debt management</a:t>
            </a:r>
            <a:endParaRPr>
              <a:solidFill>
                <a:srgbClr val="040C28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rgbClr val="040C28"/>
              </a:buClr>
              <a:buSzPts val="1300"/>
              <a:buChar char="●"/>
            </a:pPr>
            <a:r>
              <a:rPr lang="en-GB">
                <a:solidFill>
                  <a:srgbClr val="040C28"/>
                </a:solidFill>
              </a:rPr>
              <a:t>Valuation</a:t>
            </a:r>
            <a:endParaRPr>
              <a:solidFill>
                <a:srgbClr val="040C28"/>
              </a:solidFill>
            </a:endParaRPr>
          </a:p>
        </p:txBody>
      </p:sp>
      <p:pic>
        <p:nvPicPr>
          <p:cNvPr id="131" name="Google Shape;13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32500" y="0"/>
            <a:ext cx="541200" cy="54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9"/>
          <p:cNvSpPr txBox="1">
            <a:spLocks noGrp="1"/>
          </p:cNvSpPr>
          <p:nvPr>
            <p:ph type="title"/>
          </p:nvPr>
        </p:nvSpPr>
        <p:spPr>
          <a:xfrm>
            <a:off x="758500" y="1279150"/>
            <a:ext cx="5129100" cy="62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Discounted cash flow model </a:t>
            </a:r>
            <a:endParaRPr/>
          </a:p>
        </p:txBody>
      </p:sp>
      <p:sp>
        <p:nvSpPr>
          <p:cNvPr id="137" name="Google Shape;137;p19"/>
          <p:cNvSpPr txBox="1">
            <a:spLocks noGrp="1"/>
          </p:cNvSpPr>
          <p:nvPr>
            <p:ph type="body" idx="1"/>
          </p:nvPr>
        </p:nvSpPr>
        <p:spPr>
          <a:xfrm>
            <a:off x="721225" y="2212250"/>
            <a:ext cx="7764300" cy="216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Next time!</a:t>
            </a:r>
            <a:endParaRPr/>
          </a:p>
        </p:txBody>
      </p:sp>
      <p:pic>
        <p:nvPicPr>
          <p:cNvPr id="138" name="Google Shape;13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32500" y="0"/>
            <a:ext cx="541200" cy="54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Comparables</a:t>
            </a:r>
            <a:endParaRPr/>
          </a:p>
        </p:txBody>
      </p:sp>
      <p:sp>
        <p:nvSpPr>
          <p:cNvPr id="144" name="Google Shape;144;p20"/>
          <p:cNvSpPr txBox="1">
            <a:spLocks noGrp="1"/>
          </p:cNvSpPr>
          <p:nvPr>
            <p:ph type="body" idx="1"/>
          </p:nvPr>
        </p:nvSpPr>
        <p:spPr>
          <a:xfrm>
            <a:off x="730000" y="2133850"/>
            <a:ext cx="33009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Next time </a:t>
            </a:r>
            <a:endParaRPr/>
          </a:p>
        </p:txBody>
      </p:sp>
      <p:pic>
        <p:nvPicPr>
          <p:cNvPr id="145" name="Google Shape;14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32500" y="0"/>
            <a:ext cx="541200" cy="54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1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Technical Analysis</a:t>
            </a:r>
            <a:endParaRPr/>
          </a:p>
        </p:txBody>
      </p:sp>
      <p:sp>
        <p:nvSpPr>
          <p:cNvPr id="151" name="Google Shape;151;p21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Only if applicable</a:t>
            </a:r>
            <a:endParaRPr>
              <a:solidFill>
                <a:srgbClr val="000000"/>
              </a:solidFill>
            </a:endParaRPr>
          </a:p>
          <a:p>
            <a:pPr marL="457200" lvl="0" indent="-31115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-GB">
                <a:solidFill>
                  <a:srgbClr val="000000"/>
                </a:solidFill>
              </a:rPr>
              <a:t>Indicators, trend lines, support lines </a:t>
            </a:r>
            <a:endParaRPr>
              <a:solidFill>
                <a:srgbClr val="000000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-GB">
                <a:solidFill>
                  <a:srgbClr val="000000"/>
                </a:solidFill>
              </a:rPr>
              <a:t>Fibonacci levels, oscillators 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152" name="Google Shape;15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32500" y="0"/>
            <a:ext cx="541200" cy="54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2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Risk</a:t>
            </a:r>
            <a:endParaRPr/>
          </a:p>
        </p:txBody>
      </p:sp>
      <p:sp>
        <p:nvSpPr>
          <p:cNvPr id="158" name="Google Shape;158;p22"/>
          <p:cNvSpPr txBox="1">
            <a:spLocks noGrp="1"/>
          </p:cNvSpPr>
          <p:nvPr>
            <p:ph type="body" idx="1"/>
          </p:nvPr>
        </p:nvSpPr>
        <p:spPr>
          <a:xfrm>
            <a:off x="721225" y="2038450"/>
            <a:ext cx="5860200" cy="234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Examples</a:t>
            </a:r>
            <a:endParaRPr>
              <a:solidFill>
                <a:srgbClr val="000000"/>
              </a:solidFill>
            </a:endParaRPr>
          </a:p>
          <a:p>
            <a:pPr marL="457200" lvl="0" indent="-31115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-GB">
                <a:solidFill>
                  <a:srgbClr val="000000"/>
                </a:solidFill>
              </a:rPr>
              <a:t>Highly competitive market</a:t>
            </a:r>
            <a:endParaRPr>
              <a:solidFill>
                <a:srgbClr val="000000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-GB">
                <a:solidFill>
                  <a:srgbClr val="000000"/>
                </a:solidFill>
              </a:rPr>
              <a:t>Inflation</a:t>
            </a:r>
            <a:endParaRPr>
              <a:solidFill>
                <a:srgbClr val="000000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-GB">
                <a:solidFill>
                  <a:srgbClr val="000000"/>
                </a:solidFill>
              </a:rPr>
              <a:t>Commodity exposure </a:t>
            </a:r>
            <a:endParaRPr>
              <a:solidFill>
                <a:srgbClr val="000000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-GB">
                <a:solidFill>
                  <a:srgbClr val="000000"/>
                </a:solidFill>
              </a:rPr>
              <a:t>Geopolitical risks </a:t>
            </a:r>
            <a:endParaRPr>
              <a:solidFill>
                <a:srgbClr val="000000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-GB">
                <a:solidFill>
                  <a:srgbClr val="000000"/>
                </a:solidFill>
              </a:rPr>
              <a:t>Look at what the company says in their reports! 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159" name="Google Shape;15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32500" y="0"/>
            <a:ext cx="541200" cy="54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3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Proposal and Exit strategy </a:t>
            </a:r>
            <a:endParaRPr/>
          </a:p>
        </p:txBody>
      </p:sp>
      <p:sp>
        <p:nvSpPr>
          <p:cNvPr id="165" name="Google Shape;165;p23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72825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Buy 10% of portfolio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Stoploss? 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Hold until the end of competition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Reasons: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rgbClr val="000000"/>
                </a:solidFill>
              </a:rPr>
              <a:t>Exit: what should happen for us to sell (catalysts, risks materializing) 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166" name="Google Shape;16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32500" y="0"/>
            <a:ext cx="541200" cy="54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4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>
                <a:solidFill>
                  <a:srgbClr val="000000"/>
                </a:solidFill>
              </a:rPr>
              <a:t>Thank you.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225</Words>
  <Application>Microsoft Macintosh PowerPoint</Application>
  <PresentationFormat>On-screen Show (16:9)</PresentationFormat>
  <Paragraphs>55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Raleway</vt:lpstr>
      <vt:lpstr>Lato</vt:lpstr>
      <vt:lpstr>Arial</vt:lpstr>
      <vt:lpstr>Streamline</vt:lpstr>
      <vt:lpstr>Company Name</vt:lpstr>
      <vt:lpstr>General, relevant market information </vt:lpstr>
      <vt:lpstr>Business overview</vt:lpstr>
      <vt:lpstr>Industry Performance</vt:lpstr>
      <vt:lpstr>Fundamentals</vt:lpstr>
      <vt:lpstr>Discounted cash flow model </vt:lpstr>
      <vt:lpstr>Comparables</vt:lpstr>
      <vt:lpstr>Technical Analysis</vt:lpstr>
      <vt:lpstr>Risk</vt:lpstr>
      <vt:lpstr>Proposal and Exit strategy </vt:lpstr>
      <vt:lpstr>Thank you.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Name</dc:title>
  <cp:lastModifiedBy>Rafid Mantari</cp:lastModifiedBy>
  <cp:revision>1</cp:revision>
  <dcterms:modified xsi:type="dcterms:W3CDTF">2025-03-17T19:08:13Z</dcterms:modified>
</cp:coreProperties>
</file>