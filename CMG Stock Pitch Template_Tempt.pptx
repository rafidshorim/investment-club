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Raleway" pitchFamily="2" charset="77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30"/>
  </p:normalViewPr>
  <p:slideViewPr>
    <p:cSldViewPr snapToGrid="0">
      <p:cViewPr varScale="1">
        <p:scale>
          <a:sx n="151" d="100"/>
          <a:sy n="151" d="100"/>
        </p:scale>
        <p:origin x="62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61ff2a8e4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61ff2a8e4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607323dd88_0_2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607323dd88_0_2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607323dd88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607323dd88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607323dd88_0_2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607323dd88_0_2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992c0c5f1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992c0c5f1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992c0c5f11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992c0c5f11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607323dd88_0_2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607323dd88_0_2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07323dd88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07323dd88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607323dd88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607323dd88_0_2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f88252dc4_0_1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1f88252dc4_0_1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_alt1">
  <p:cSld name="TITLE_1">
    <p:bg>
      <p:bgPr>
        <a:solidFill>
          <a:schemeClr val="lt2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3" descr="shutterstock_429987889_edited.jpg"/>
          <p:cNvPicPr preferRelativeResize="0"/>
          <p:nvPr/>
        </p:nvPicPr>
        <p:blipFill rotWithShape="1">
          <a:blip r:embed="rId2">
            <a:alphaModFix/>
          </a:blip>
          <a:srcRect t="21799" b="23591"/>
          <a:stretch/>
        </p:blipFill>
        <p:spPr>
          <a:xfrm>
            <a:off x="0" y="487825"/>
            <a:ext cx="9144000" cy="4655676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86" name="Google Shape;86;p1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1" name="Google Shape;91;p13">
            <a:hlinkClick r:id="" action="ppaction://noaction"/>
          </p:cNvPr>
          <p:cNvSpPr/>
          <p:nvPr/>
        </p:nvSpPr>
        <p:spPr>
          <a:xfrm>
            <a:off x="8280450" y="0"/>
            <a:ext cx="863400" cy="454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2" name="Google Shape;92;p13">
            <a:hlinkClick r:id="" action="ppaction://noaction"/>
          </p:cNvPr>
          <p:cNvCxnSpPr/>
          <p:nvPr/>
        </p:nvCxnSpPr>
        <p:spPr>
          <a:xfrm>
            <a:off x="8598817" y="216350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" name="Google Shape;93;p13">
            <a:hlinkClick r:id="" action="ppaction://noaction"/>
          </p:cNvPr>
          <p:cNvCxnSpPr/>
          <p:nvPr/>
        </p:nvCxnSpPr>
        <p:spPr>
          <a:xfrm>
            <a:off x="8598817" y="250138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" name="Google Shape;94;p13">
            <a:hlinkClick r:id="" action="ppaction://noaction"/>
          </p:cNvPr>
          <p:cNvCxnSpPr/>
          <p:nvPr/>
        </p:nvCxnSpPr>
        <p:spPr>
          <a:xfrm>
            <a:off x="8598817" y="283925"/>
            <a:ext cx="216300" cy="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00000"/>
                </a:solidFill>
              </a:rPr>
              <a:t>Company Name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/>
              <a:t>Group name:</a:t>
            </a:r>
            <a:endParaRPr sz="1400" b="1"/>
          </a:p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790100" y="1287050"/>
            <a:ext cx="66762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General, relevant market information 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body" idx="1"/>
          </p:nvPr>
        </p:nvSpPr>
        <p:spPr>
          <a:xfrm>
            <a:off x="721225" y="2180650"/>
            <a:ext cx="4809300" cy="21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Systematic factors that influence the stock price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FED rate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Economic growth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Political issues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Consumer behaviour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Unemployment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Inflation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753700" y="1318625"/>
            <a:ext cx="7526400" cy="7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Business overview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78591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solidFill>
                  <a:srgbClr val="000000"/>
                </a:solidFill>
              </a:rPr>
              <a:t>Company background, qualitative analysis</a:t>
            </a:r>
            <a:endParaRPr b="1">
              <a:solidFill>
                <a:srgbClr val="000000"/>
              </a:solidFill>
            </a:endParaRPr>
          </a:p>
          <a:p>
            <a:pPr marL="457200" marR="0" lvl="0" indent="-304958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How do they make money (sources of revenue) 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Who are their customers 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Business model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positive/negative news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SWOT, Porter forces </a:t>
            </a:r>
            <a:endParaRPr>
              <a:solidFill>
                <a:srgbClr val="000000"/>
              </a:solidFill>
            </a:endParaRPr>
          </a:p>
          <a:p>
            <a:pPr marL="457200" lvl="0" indent="-30495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Other factors to consider: m&amp;a, dividends, regulation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926400" cy="80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Industry Performance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68085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What industry is your target firm situated in? 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Is the industry growing? Check Indices and Market trends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What is the market share of your company 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How fierce the competition 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competitive: construction, apparel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 Oligopoly: airplane manufacturing </a:t>
            </a:r>
            <a:endParaRPr>
              <a:solidFill>
                <a:srgbClr val="000000"/>
              </a:solidFill>
            </a:endParaRPr>
          </a:p>
          <a:p>
            <a:pPr marL="457200" lvl="0" indent="-292576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-GB">
                <a:solidFill>
                  <a:srgbClr val="000000"/>
                </a:solidFill>
              </a:rPr>
              <a:t> Monopolistic: facebook?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solidFill>
                  <a:srgbClr val="000000"/>
                </a:solidFill>
              </a:rPr>
              <a:t>How is your company situated in this industry? </a:t>
            </a:r>
            <a:endParaRPr b="1">
              <a:solidFill>
                <a:srgbClr val="000000"/>
              </a:solidFill>
            </a:endParaRPr>
          </a:p>
        </p:txBody>
      </p:sp>
      <p:pic>
        <p:nvPicPr>
          <p:cNvPr id="122" name="Google Shape;12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7" descr="Graphical user interface, application&#10;&#10;Description automatically generat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48800" y="1049700"/>
            <a:ext cx="3426949" cy="1935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944800" y="6609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Fundamentals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50256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40C28"/>
              </a:buClr>
              <a:buSzPts val="1300"/>
              <a:buChar char="●"/>
            </a:pPr>
            <a:r>
              <a:rPr lang="en-GB">
                <a:solidFill>
                  <a:srgbClr val="040C28"/>
                </a:solidFill>
              </a:rPr>
              <a:t>Revenue and earnings (trends, figures)</a:t>
            </a:r>
            <a:endParaRPr>
              <a:solidFill>
                <a:srgbClr val="040C28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40C28"/>
              </a:buClr>
              <a:buSzPts val="1300"/>
              <a:buChar char="●"/>
            </a:pPr>
            <a:r>
              <a:rPr lang="en-GB">
                <a:solidFill>
                  <a:srgbClr val="040C28"/>
                </a:solidFill>
              </a:rPr>
              <a:t>Financial ratios</a:t>
            </a:r>
            <a:endParaRPr>
              <a:solidFill>
                <a:srgbClr val="040C28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40C28"/>
              </a:buClr>
              <a:buSzPts val="1300"/>
              <a:buChar char="●"/>
            </a:pPr>
            <a:r>
              <a:rPr lang="en-GB">
                <a:solidFill>
                  <a:srgbClr val="040C28"/>
                </a:solidFill>
              </a:rPr>
              <a:t>Debt management</a:t>
            </a:r>
            <a:endParaRPr>
              <a:solidFill>
                <a:srgbClr val="040C28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40C28"/>
              </a:buClr>
              <a:buSzPts val="1300"/>
              <a:buChar char="●"/>
            </a:pPr>
            <a:r>
              <a:rPr lang="en-GB">
                <a:solidFill>
                  <a:srgbClr val="040C28"/>
                </a:solidFill>
              </a:rPr>
              <a:t>Valuation</a:t>
            </a:r>
            <a:endParaRPr>
              <a:solidFill>
                <a:srgbClr val="040C28"/>
              </a:solidFill>
            </a:endParaRPr>
          </a:p>
        </p:txBody>
      </p:sp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9"/>
          <p:cNvSpPr txBox="1">
            <a:spLocks noGrp="1"/>
          </p:cNvSpPr>
          <p:nvPr>
            <p:ph type="title"/>
          </p:nvPr>
        </p:nvSpPr>
        <p:spPr>
          <a:xfrm>
            <a:off x="758500" y="1279150"/>
            <a:ext cx="5129100" cy="6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Discounted cash flow model </a:t>
            </a:r>
            <a:endParaRPr/>
          </a:p>
        </p:txBody>
      </p:sp>
      <p:sp>
        <p:nvSpPr>
          <p:cNvPr id="137" name="Google Shape;137;p19"/>
          <p:cNvSpPr txBox="1">
            <a:spLocks noGrp="1"/>
          </p:cNvSpPr>
          <p:nvPr>
            <p:ph type="body" idx="1"/>
          </p:nvPr>
        </p:nvSpPr>
        <p:spPr>
          <a:xfrm>
            <a:off x="721225" y="2212250"/>
            <a:ext cx="7764300" cy="216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Next time!</a:t>
            </a:r>
            <a:endParaRPr/>
          </a:p>
        </p:txBody>
      </p:sp>
      <p:pic>
        <p:nvPicPr>
          <p:cNvPr id="138" name="Google Shape;13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Comparables</a:t>
            </a:r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body" idx="1"/>
          </p:nvPr>
        </p:nvSpPr>
        <p:spPr>
          <a:xfrm>
            <a:off x="730000" y="2133850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Next time </a:t>
            </a:r>
            <a:endParaRPr/>
          </a:p>
        </p:txBody>
      </p:sp>
      <p:pic>
        <p:nvPicPr>
          <p:cNvPr id="145" name="Google Shape;14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Technical Analysis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Only if applicable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Indicators, trend lines, support lines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Fibonacci levels, oscillators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2" name="Google Shape;1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Risk</a:t>
            </a:r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1"/>
          </p:nvPr>
        </p:nvSpPr>
        <p:spPr>
          <a:xfrm>
            <a:off x="721225" y="2038450"/>
            <a:ext cx="5860200" cy="23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Examples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Highly competitive market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Inflation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Commodity exposure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Geopolitical risks </a:t>
            </a:r>
            <a:endParaRPr>
              <a:solidFill>
                <a:srgbClr val="000000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Char char="●"/>
            </a:pPr>
            <a:r>
              <a:rPr lang="en-GB">
                <a:solidFill>
                  <a:srgbClr val="000000"/>
                </a:solidFill>
              </a:rPr>
              <a:t>Look at what the company says in their reports!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Proposal and Exit strategy </a:t>
            </a:r>
            <a:endParaRPr/>
          </a:p>
        </p:txBody>
      </p:sp>
      <p:sp>
        <p:nvSpPr>
          <p:cNvPr id="165" name="Google Shape;165;p23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72825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Buy 10% of portfolio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Stoploss?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Hold until the end of competition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Reasons: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rgbClr val="000000"/>
                </a:solidFill>
              </a:rPr>
              <a:t>Exit: what should happen for us to sell (catalysts, risks materializing) </a:t>
            </a:r>
            <a:endParaRPr>
              <a:solidFill>
                <a:srgbClr val="000000"/>
              </a:solidFill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2500" y="0"/>
            <a:ext cx="541200" cy="54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800">
                <a:solidFill>
                  <a:srgbClr val="000000"/>
                </a:solidFill>
              </a:rPr>
              <a:t>Thank you.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225</Words>
  <Application>Microsoft Macintosh PowerPoint</Application>
  <PresentationFormat>On-screen Show (16:9)</PresentationFormat>
  <Paragraphs>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Lato</vt:lpstr>
      <vt:lpstr>Raleway</vt:lpstr>
      <vt:lpstr>Arial</vt:lpstr>
      <vt:lpstr>Streamline</vt:lpstr>
      <vt:lpstr>Company Name</vt:lpstr>
      <vt:lpstr>General, relevant market information </vt:lpstr>
      <vt:lpstr>Business overview</vt:lpstr>
      <vt:lpstr>Industry Performance</vt:lpstr>
      <vt:lpstr>Fundamentals</vt:lpstr>
      <vt:lpstr>Discounted cash flow model </vt:lpstr>
      <vt:lpstr>Comparables</vt:lpstr>
      <vt:lpstr>Technical Analysis</vt:lpstr>
      <vt:lpstr>Risk</vt:lpstr>
      <vt:lpstr>Proposal and Exit strategy </vt:lpstr>
      <vt:lpstr>Thank you.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Name</dc:title>
  <cp:lastModifiedBy>Rafid Mantari</cp:lastModifiedBy>
  <cp:revision>1</cp:revision>
  <dcterms:modified xsi:type="dcterms:W3CDTF">2025-01-29T09:01:43Z</dcterms:modified>
</cp:coreProperties>
</file>