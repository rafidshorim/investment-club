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640"/>
  </p:normalViewPr>
  <p:slideViewPr>
    <p:cSldViewPr>
      <p:cViewPr varScale="1">
        <p:scale>
          <a:sx n="155" d="100"/>
          <a:sy n="155" d="100"/>
        </p:scale>
        <p:origin x="504"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250" b="1"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735012" y="1408747"/>
            <a:ext cx="3371215" cy="3343910"/>
          </a:xfrm>
          <a:prstGeom prst="rect">
            <a:avLst/>
          </a:prstGeom>
        </p:spPr>
        <p:txBody>
          <a:bodyPr wrap="square" lIns="0" tIns="0" rIns="0" bIns="0">
            <a:spAutoFit/>
          </a:bodyPr>
          <a:lstStyle>
            <a:lvl1pPr>
              <a:defRPr sz="800" b="1" i="0">
                <a:solidFill>
                  <a:schemeClr val="tx1"/>
                </a:solidFill>
                <a:latin typeface="Arial"/>
                <a:cs typeface="Arial"/>
              </a:defRPr>
            </a:lvl1pPr>
          </a:lstStyle>
          <a:p>
            <a:endParaRPr/>
          </a:p>
        </p:txBody>
      </p:sp>
      <p:sp>
        <p:nvSpPr>
          <p:cNvPr id="4" name="Holder 4"/>
          <p:cNvSpPr>
            <a:spLocks noGrp="1"/>
          </p:cNvSpPr>
          <p:nvPr>
            <p:ph sz="half" idx="3"/>
          </p:nvPr>
        </p:nvSpPr>
        <p:spPr>
          <a:xfrm>
            <a:off x="4841875" y="1373441"/>
            <a:ext cx="4069079" cy="3319779"/>
          </a:xfrm>
          <a:prstGeom prst="rect">
            <a:avLst/>
          </a:prstGeom>
        </p:spPr>
        <p:txBody>
          <a:bodyPr wrap="square" lIns="0" tIns="0" rIns="0" bIns="0">
            <a:spAutoFit/>
          </a:bodyPr>
          <a:lstStyle>
            <a:lvl1pPr>
              <a:defRPr sz="1200" b="0" i="0">
                <a:solidFill>
                  <a:srgbClr val="1A1A1A"/>
                </a:solidFill>
                <a:latin typeface="Tahoma"/>
                <a:cs typeface="Tahom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485775"/>
          </a:xfrm>
          <a:custGeom>
            <a:avLst/>
            <a:gdLst/>
            <a:ahLst/>
            <a:cxnLst/>
            <a:rect l="l" t="t" r="r" b="b"/>
            <a:pathLst>
              <a:path w="9144000" h="485775">
                <a:moveTo>
                  <a:pt x="9144000" y="0"/>
                </a:moveTo>
                <a:lnTo>
                  <a:pt x="0" y="0"/>
                </a:lnTo>
                <a:lnTo>
                  <a:pt x="0" y="485775"/>
                </a:lnTo>
                <a:lnTo>
                  <a:pt x="9144000" y="485775"/>
                </a:lnTo>
                <a:lnTo>
                  <a:pt x="9144000" y="0"/>
                </a:lnTo>
                <a:close/>
              </a:path>
            </a:pathLst>
          </a:custGeom>
          <a:solidFill>
            <a:srgbClr val="E9ECED"/>
          </a:solidFill>
        </p:spPr>
        <p:txBody>
          <a:bodyPr wrap="square" lIns="0" tIns="0" rIns="0" bIns="0" rtlCol="0"/>
          <a:lstStyle/>
          <a:p>
            <a:endParaRPr/>
          </a:p>
        </p:txBody>
      </p:sp>
      <p:sp>
        <p:nvSpPr>
          <p:cNvPr id="17" name="bg object 17"/>
          <p:cNvSpPr/>
          <p:nvPr/>
        </p:nvSpPr>
        <p:spPr>
          <a:xfrm>
            <a:off x="1200150" y="1190625"/>
            <a:ext cx="371475" cy="47625"/>
          </a:xfrm>
          <a:custGeom>
            <a:avLst/>
            <a:gdLst/>
            <a:ahLst/>
            <a:cxnLst/>
            <a:rect l="l" t="t" r="r" b="b"/>
            <a:pathLst>
              <a:path w="371475" h="47625">
                <a:moveTo>
                  <a:pt x="371475" y="0"/>
                </a:moveTo>
                <a:lnTo>
                  <a:pt x="0" y="0"/>
                </a:lnTo>
                <a:lnTo>
                  <a:pt x="0" y="47625"/>
                </a:lnTo>
                <a:lnTo>
                  <a:pt x="371475" y="47625"/>
                </a:lnTo>
                <a:lnTo>
                  <a:pt x="371475" y="0"/>
                </a:lnTo>
                <a:close/>
              </a:path>
            </a:pathLst>
          </a:custGeom>
          <a:solidFill>
            <a:srgbClr val="EB5500"/>
          </a:solidFill>
        </p:spPr>
        <p:txBody>
          <a:bodyPr wrap="square" lIns="0" tIns="0" rIns="0" bIns="0" rtlCol="0"/>
          <a:lstStyle/>
          <a:p>
            <a:endParaRPr/>
          </a:p>
        </p:txBody>
      </p:sp>
      <p:sp>
        <p:nvSpPr>
          <p:cNvPr id="18" name="bg object 18"/>
          <p:cNvSpPr/>
          <p:nvPr/>
        </p:nvSpPr>
        <p:spPr>
          <a:xfrm>
            <a:off x="828675" y="1190625"/>
            <a:ext cx="381000" cy="47625"/>
          </a:xfrm>
          <a:custGeom>
            <a:avLst/>
            <a:gdLst/>
            <a:ahLst/>
            <a:cxnLst/>
            <a:rect l="l" t="t" r="r" b="b"/>
            <a:pathLst>
              <a:path w="381000" h="47625">
                <a:moveTo>
                  <a:pt x="381000" y="0"/>
                </a:moveTo>
                <a:lnTo>
                  <a:pt x="0" y="0"/>
                </a:lnTo>
                <a:lnTo>
                  <a:pt x="0" y="47625"/>
                </a:lnTo>
                <a:lnTo>
                  <a:pt x="381000" y="47625"/>
                </a:lnTo>
                <a:lnTo>
                  <a:pt x="381000" y="0"/>
                </a:lnTo>
                <a:close/>
              </a:path>
            </a:pathLst>
          </a:custGeom>
          <a:solidFill>
            <a:srgbClr val="1A9987"/>
          </a:solidFill>
        </p:spPr>
        <p:txBody>
          <a:bodyPr wrap="square" lIns="0" tIns="0" rIns="0" bIns="0" rtlCol="0"/>
          <a:lstStyle/>
          <a:p>
            <a:endParaRPr/>
          </a:p>
        </p:txBody>
      </p:sp>
      <p:sp>
        <p:nvSpPr>
          <p:cNvPr id="2" name="Holder 2"/>
          <p:cNvSpPr>
            <a:spLocks noGrp="1"/>
          </p:cNvSpPr>
          <p:nvPr>
            <p:ph type="title"/>
          </p:nvPr>
        </p:nvSpPr>
        <p:spPr>
          <a:xfrm>
            <a:off x="808990" y="1375346"/>
            <a:ext cx="7526019" cy="758189"/>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589279" y="2022792"/>
            <a:ext cx="7965440" cy="2653665"/>
          </a:xfrm>
          <a:prstGeom prst="rect">
            <a:avLst/>
          </a:prstGeom>
        </p:spPr>
        <p:txBody>
          <a:bodyPr wrap="square" lIns="0" tIns="0" rIns="0" bIns="0">
            <a:spAutoFit/>
          </a:bodyPr>
          <a:lstStyle>
            <a:lvl1pPr>
              <a:defRPr sz="1250" b="1"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12/11/24</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coca-colacompany.com/media-center/coca-cola-reports-second-quarter-2024-results" TargetMode="External"/><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2.jpg"/><Relationship Id="rId4" Type="http://schemas.openxmlformats.org/officeDocument/2006/relationships/hyperlink" Target="https://www.tickergate.com/stocks/ko/revenu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85775"/>
            <a:ext cx="9144000" cy="4657725"/>
          </a:xfrm>
          <a:custGeom>
            <a:avLst/>
            <a:gdLst/>
            <a:ahLst/>
            <a:cxnLst/>
            <a:rect l="l" t="t" r="r" b="b"/>
            <a:pathLst>
              <a:path w="9144000" h="4657725">
                <a:moveTo>
                  <a:pt x="0" y="4657724"/>
                </a:moveTo>
                <a:lnTo>
                  <a:pt x="9144000" y="4657724"/>
                </a:lnTo>
                <a:lnTo>
                  <a:pt x="9144000" y="0"/>
                </a:lnTo>
                <a:lnTo>
                  <a:pt x="0" y="0"/>
                </a:lnTo>
                <a:lnTo>
                  <a:pt x="0" y="4657724"/>
                </a:lnTo>
                <a:close/>
              </a:path>
            </a:pathLst>
          </a:custGeom>
          <a:solidFill>
            <a:srgbClr val="E9ECED"/>
          </a:solidFill>
        </p:spPr>
        <p:txBody>
          <a:bodyPr wrap="square" lIns="0" tIns="0" rIns="0" bIns="0" rtlCol="0"/>
          <a:lstStyle/>
          <a:p>
            <a:endParaRPr/>
          </a:p>
        </p:txBody>
      </p:sp>
      <p:sp>
        <p:nvSpPr>
          <p:cNvPr id="3" name="object 3"/>
          <p:cNvSpPr/>
          <p:nvPr/>
        </p:nvSpPr>
        <p:spPr>
          <a:xfrm>
            <a:off x="0" y="0"/>
            <a:ext cx="9144000" cy="485775"/>
          </a:xfrm>
          <a:custGeom>
            <a:avLst/>
            <a:gdLst/>
            <a:ahLst/>
            <a:cxnLst/>
            <a:rect l="l" t="t" r="r" b="b"/>
            <a:pathLst>
              <a:path w="9144000" h="485775">
                <a:moveTo>
                  <a:pt x="9144000" y="0"/>
                </a:moveTo>
                <a:lnTo>
                  <a:pt x="0" y="0"/>
                </a:lnTo>
                <a:lnTo>
                  <a:pt x="0" y="485775"/>
                </a:lnTo>
                <a:lnTo>
                  <a:pt x="9144000" y="485775"/>
                </a:lnTo>
                <a:lnTo>
                  <a:pt x="9144000" y="0"/>
                </a:lnTo>
                <a:close/>
              </a:path>
            </a:pathLst>
          </a:custGeom>
          <a:solidFill>
            <a:srgbClr val="FFFFFF"/>
          </a:solidFill>
        </p:spPr>
        <p:txBody>
          <a:bodyPr wrap="square" lIns="0" tIns="0" rIns="0" bIns="0" rtlCol="0"/>
          <a:lstStyle/>
          <a:p>
            <a:endParaRPr/>
          </a:p>
        </p:txBody>
      </p:sp>
      <p:grpSp>
        <p:nvGrpSpPr>
          <p:cNvPr id="4" name="object 4"/>
          <p:cNvGrpSpPr/>
          <p:nvPr/>
        </p:nvGrpSpPr>
        <p:grpSpPr>
          <a:xfrm>
            <a:off x="828675" y="1190625"/>
            <a:ext cx="742950" cy="47625"/>
            <a:chOff x="828675" y="1190625"/>
            <a:chExt cx="742950" cy="47625"/>
          </a:xfrm>
        </p:grpSpPr>
        <p:sp>
          <p:nvSpPr>
            <p:cNvPr id="5" name="object 5"/>
            <p:cNvSpPr/>
            <p:nvPr/>
          </p:nvSpPr>
          <p:spPr>
            <a:xfrm>
              <a:off x="1200150" y="1190625"/>
              <a:ext cx="371475" cy="47625"/>
            </a:xfrm>
            <a:custGeom>
              <a:avLst/>
              <a:gdLst/>
              <a:ahLst/>
              <a:cxnLst/>
              <a:rect l="l" t="t" r="r" b="b"/>
              <a:pathLst>
                <a:path w="371475" h="47625">
                  <a:moveTo>
                    <a:pt x="371475" y="0"/>
                  </a:moveTo>
                  <a:lnTo>
                    <a:pt x="0" y="0"/>
                  </a:lnTo>
                  <a:lnTo>
                    <a:pt x="0" y="47625"/>
                  </a:lnTo>
                  <a:lnTo>
                    <a:pt x="371475" y="47625"/>
                  </a:lnTo>
                  <a:lnTo>
                    <a:pt x="371475" y="0"/>
                  </a:lnTo>
                  <a:close/>
                </a:path>
              </a:pathLst>
            </a:custGeom>
            <a:solidFill>
              <a:srgbClr val="EB5500"/>
            </a:solidFill>
          </p:spPr>
          <p:txBody>
            <a:bodyPr wrap="square" lIns="0" tIns="0" rIns="0" bIns="0" rtlCol="0"/>
            <a:lstStyle/>
            <a:p>
              <a:endParaRPr/>
            </a:p>
          </p:txBody>
        </p:sp>
        <p:sp>
          <p:nvSpPr>
            <p:cNvPr id="6" name="object 6"/>
            <p:cNvSpPr/>
            <p:nvPr/>
          </p:nvSpPr>
          <p:spPr>
            <a:xfrm>
              <a:off x="828675" y="1190625"/>
              <a:ext cx="381000" cy="47625"/>
            </a:xfrm>
            <a:custGeom>
              <a:avLst/>
              <a:gdLst/>
              <a:ahLst/>
              <a:cxnLst/>
              <a:rect l="l" t="t" r="r" b="b"/>
              <a:pathLst>
                <a:path w="381000" h="47625">
                  <a:moveTo>
                    <a:pt x="381000" y="0"/>
                  </a:moveTo>
                  <a:lnTo>
                    <a:pt x="0" y="0"/>
                  </a:lnTo>
                  <a:lnTo>
                    <a:pt x="0" y="47625"/>
                  </a:lnTo>
                  <a:lnTo>
                    <a:pt x="381000" y="47625"/>
                  </a:lnTo>
                  <a:lnTo>
                    <a:pt x="381000" y="0"/>
                  </a:lnTo>
                  <a:close/>
                </a:path>
              </a:pathLst>
            </a:custGeom>
            <a:solidFill>
              <a:srgbClr val="1A9987"/>
            </a:solidFill>
          </p:spPr>
          <p:txBody>
            <a:bodyPr wrap="square" lIns="0" tIns="0" rIns="0" bIns="0" rtlCol="0"/>
            <a:lstStyle/>
            <a:p>
              <a:endParaRPr/>
            </a:p>
          </p:txBody>
        </p:sp>
      </p:grpSp>
      <p:sp>
        <p:nvSpPr>
          <p:cNvPr id="7" name="object 7"/>
          <p:cNvSpPr txBox="1">
            <a:spLocks noGrp="1"/>
          </p:cNvSpPr>
          <p:nvPr>
            <p:ph type="title"/>
          </p:nvPr>
        </p:nvSpPr>
        <p:spPr>
          <a:xfrm>
            <a:off x="808990" y="1375346"/>
            <a:ext cx="5925820" cy="758190"/>
          </a:xfrm>
          <a:prstGeom prst="rect">
            <a:avLst/>
          </a:prstGeom>
        </p:spPr>
        <p:txBody>
          <a:bodyPr vert="horz" wrap="square" lIns="0" tIns="13335" rIns="0" bIns="0" rtlCol="0">
            <a:spAutoFit/>
          </a:bodyPr>
          <a:lstStyle/>
          <a:p>
            <a:pPr marL="12700">
              <a:lnSpc>
                <a:spcPct val="100000"/>
              </a:lnSpc>
              <a:spcBef>
                <a:spcPts val="105"/>
              </a:spcBef>
            </a:pPr>
            <a:r>
              <a:rPr spc="254" dirty="0"/>
              <a:t>Coca</a:t>
            </a:r>
            <a:r>
              <a:rPr spc="-345" dirty="0"/>
              <a:t> </a:t>
            </a:r>
            <a:r>
              <a:rPr spc="210" dirty="0"/>
              <a:t>Cola</a:t>
            </a:r>
            <a:r>
              <a:rPr spc="-335" dirty="0"/>
              <a:t> </a:t>
            </a:r>
            <a:r>
              <a:rPr spc="204" dirty="0"/>
              <a:t>Company</a:t>
            </a:r>
          </a:p>
        </p:txBody>
      </p:sp>
      <p:sp>
        <p:nvSpPr>
          <p:cNvPr id="8" name="object 8"/>
          <p:cNvSpPr txBox="1"/>
          <p:nvPr/>
        </p:nvSpPr>
        <p:spPr>
          <a:xfrm>
            <a:off x="809307" y="3247644"/>
            <a:ext cx="1052830" cy="243840"/>
          </a:xfrm>
          <a:prstGeom prst="rect">
            <a:avLst/>
          </a:prstGeom>
        </p:spPr>
        <p:txBody>
          <a:bodyPr vert="horz" wrap="square" lIns="0" tIns="16510" rIns="0" bIns="0" rtlCol="0">
            <a:spAutoFit/>
          </a:bodyPr>
          <a:lstStyle/>
          <a:p>
            <a:pPr marL="12700">
              <a:lnSpc>
                <a:spcPct val="100000"/>
              </a:lnSpc>
              <a:spcBef>
                <a:spcPts val="130"/>
              </a:spcBef>
            </a:pPr>
            <a:r>
              <a:rPr sz="1400" b="1" spc="5" dirty="0">
                <a:solidFill>
                  <a:srgbClr val="585858"/>
                </a:solidFill>
                <a:latin typeface="Tahoma"/>
                <a:cs typeface="Tahoma"/>
              </a:rPr>
              <a:t>G</a:t>
            </a:r>
            <a:r>
              <a:rPr sz="1400" b="1" spc="-85" dirty="0">
                <a:solidFill>
                  <a:srgbClr val="585858"/>
                </a:solidFill>
                <a:latin typeface="Tahoma"/>
                <a:cs typeface="Tahoma"/>
              </a:rPr>
              <a:t>r</a:t>
            </a:r>
            <a:r>
              <a:rPr sz="1400" b="1" spc="-120" dirty="0">
                <a:solidFill>
                  <a:srgbClr val="585858"/>
                </a:solidFill>
                <a:latin typeface="Tahoma"/>
                <a:cs typeface="Tahoma"/>
              </a:rPr>
              <a:t>o</a:t>
            </a:r>
            <a:r>
              <a:rPr sz="1400" b="1" spc="-75" dirty="0">
                <a:solidFill>
                  <a:srgbClr val="585858"/>
                </a:solidFill>
                <a:latin typeface="Tahoma"/>
                <a:cs typeface="Tahoma"/>
              </a:rPr>
              <a:t>u</a:t>
            </a:r>
            <a:r>
              <a:rPr sz="1400" b="1" spc="-70" dirty="0">
                <a:solidFill>
                  <a:srgbClr val="585858"/>
                </a:solidFill>
                <a:latin typeface="Tahoma"/>
                <a:cs typeface="Tahoma"/>
              </a:rPr>
              <a:t>p</a:t>
            </a:r>
            <a:r>
              <a:rPr sz="1400" b="1" spc="-100" dirty="0">
                <a:solidFill>
                  <a:srgbClr val="585858"/>
                </a:solidFill>
                <a:latin typeface="Tahoma"/>
                <a:cs typeface="Tahoma"/>
              </a:rPr>
              <a:t> </a:t>
            </a:r>
            <a:r>
              <a:rPr sz="1400" b="1" spc="-150" dirty="0">
                <a:solidFill>
                  <a:srgbClr val="585858"/>
                </a:solidFill>
                <a:latin typeface="Tahoma"/>
                <a:cs typeface="Tahoma"/>
              </a:rPr>
              <a:t>n</a:t>
            </a:r>
            <a:r>
              <a:rPr sz="1400" b="1" spc="-95" dirty="0">
                <a:solidFill>
                  <a:srgbClr val="585858"/>
                </a:solidFill>
                <a:latin typeface="Tahoma"/>
                <a:cs typeface="Tahoma"/>
              </a:rPr>
              <a:t>a</a:t>
            </a:r>
            <a:r>
              <a:rPr sz="1400" b="1" spc="-130" dirty="0">
                <a:solidFill>
                  <a:srgbClr val="585858"/>
                </a:solidFill>
                <a:latin typeface="Tahoma"/>
                <a:cs typeface="Tahoma"/>
              </a:rPr>
              <a:t>m</a:t>
            </a:r>
            <a:r>
              <a:rPr sz="1400" b="1" spc="-95" dirty="0">
                <a:solidFill>
                  <a:srgbClr val="585858"/>
                </a:solidFill>
                <a:latin typeface="Tahoma"/>
                <a:cs typeface="Tahoma"/>
              </a:rPr>
              <a:t>e</a:t>
            </a:r>
            <a:r>
              <a:rPr sz="1400" b="1" spc="-145" dirty="0">
                <a:solidFill>
                  <a:srgbClr val="585858"/>
                </a:solidFill>
                <a:latin typeface="Tahoma"/>
                <a:cs typeface="Tahoma"/>
              </a:rPr>
              <a:t>:</a:t>
            </a:r>
            <a:endParaRPr sz="1400">
              <a:latin typeface="Tahoma"/>
              <a:cs typeface="Tahoma"/>
            </a:endParaRPr>
          </a:p>
        </p:txBody>
      </p:sp>
      <p:pic>
        <p:nvPicPr>
          <p:cNvPr id="9" name="object 9"/>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9632" y="1349374"/>
            <a:ext cx="5913120" cy="426720"/>
          </a:xfrm>
          <a:prstGeom prst="rect">
            <a:avLst/>
          </a:prstGeom>
        </p:spPr>
        <p:txBody>
          <a:bodyPr vert="horz" wrap="square" lIns="0" tIns="16510" rIns="0" bIns="0" rtlCol="0">
            <a:spAutoFit/>
          </a:bodyPr>
          <a:lstStyle/>
          <a:p>
            <a:pPr marL="12700">
              <a:lnSpc>
                <a:spcPct val="100000"/>
              </a:lnSpc>
              <a:spcBef>
                <a:spcPts val="130"/>
              </a:spcBef>
            </a:pPr>
            <a:r>
              <a:rPr sz="2600" spc="130" dirty="0">
                <a:solidFill>
                  <a:srgbClr val="1A1A1A"/>
                </a:solidFill>
              </a:rPr>
              <a:t>G</a:t>
            </a:r>
            <a:r>
              <a:rPr sz="2600" spc="65" dirty="0">
                <a:solidFill>
                  <a:srgbClr val="1A1A1A"/>
                </a:solidFill>
              </a:rPr>
              <a:t>e</a:t>
            </a:r>
            <a:r>
              <a:rPr sz="2600" spc="55" dirty="0">
                <a:solidFill>
                  <a:srgbClr val="1A1A1A"/>
                </a:solidFill>
              </a:rPr>
              <a:t>n</a:t>
            </a:r>
            <a:r>
              <a:rPr sz="2600" spc="-10" dirty="0">
                <a:solidFill>
                  <a:srgbClr val="1A1A1A"/>
                </a:solidFill>
              </a:rPr>
              <a:t>e</a:t>
            </a:r>
            <a:r>
              <a:rPr sz="2600" spc="-50" dirty="0">
                <a:solidFill>
                  <a:srgbClr val="1A1A1A"/>
                </a:solidFill>
              </a:rPr>
              <a:t>r</a:t>
            </a:r>
            <a:r>
              <a:rPr sz="2600" spc="120" dirty="0">
                <a:solidFill>
                  <a:srgbClr val="1A1A1A"/>
                </a:solidFill>
              </a:rPr>
              <a:t>a</a:t>
            </a:r>
            <a:r>
              <a:rPr sz="2600" spc="50" dirty="0">
                <a:solidFill>
                  <a:srgbClr val="1A1A1A"/>
                </a:solidFill>
              </a:rPr>
              <a:t>l</a:t>
            </a:r>
            <a:r>
              <a:rPr sz="2600" spc="-345" dirty="0">
                <a:solidFill>
                  <a:srgbClr val="1A1A1A"/>
                </a:solidFill>
              </a:rPr>
              <a:t>,</a:t>
            </a:r>
            <a:r>
              <a:rPr sz="2600" spc="-190" dirty="0">
                <a:solidFill>
                  <a:srgbClr val="1A1A1A"/>
                </a:solidFill>
              </a:rPr>
              <a:t> </a:t>
            </a:r>
            <a:r>
              <a:rPr sz="2600" spc="-65" dirty="0">
                <a:solidFill>
                  <a:srgbClr val="1A1A1A"/>
                </a:solidFill>
              </a:rPr>
              <a:t>r</a:t>
            </a:r>
            <a:r>
              <a:rPr sz="2600" spc="65" dirty="0">
                <a:solidFill>
                  <a:srgbClr val="1A1A1A"/>
                </a:solidFill>
              </a:rPr>
              <a:t>el</a:t>
            </a:r>
            <a:r>
              <a:rPr sz="2600" spc="10" dirty="0">
                <a:solidFill>
                  <a:srgbClr val="1A1A1A"/>
                </a:solidFill>
              </a:rPr>
              <a:t>e</a:t>
            </a:r>
            <a:r>
              <a:rPr sz="2600" spc="55" dirty="0">
                <a:solidFill>
                  <a:srgbClr val="1A1A1A"/>
                </a:solidFill>
              </a:rPr>
              <a:t>v</a:t>
            </a:r>
            <a:r>
              <a:rPr sz="2600" spc="80" dirty="0">
                <a:solidFill>
                  <a:srgbClr val="1A1A1A"/>
                </a:solidFill>
              </a:rPr>
              <a:t>a</a:t>
            </a:r>
            <a:r>
              <a:rPr sz="2600" spc="70" dirty="0">
                <a:solidFill>
                  <a:srgbClr val="1A1A1A"/>
                </a:solidFill>
              </a:rPr>
              <a:t>n</a:t>
            </a:r>
            <a:r>
              <a:rPr sz="2600" spc="-25" dirty="0">
                <a:solidFill>
                  <a:srgbClr val="1A1A1A"/>
                </a:solidFill>
              </a:rPr>
              <a:t>t</a:t>
            </a:r>
            <a:r>
              <a:rPr sz="2600" spc="-145" dirty="0">
                <a:solidFill>
                  <a:srgbClr val="1A1A1A"/>
                </a:solidFill>
              </a:rPr>
              <a:t> </a:t>
            </a:r>
            <a:r>
              <a:rPr sz="2600" spc="160" dirty="0">
                <a:solidFill>
                  <a:srgbClr val="1A1A1A"/>
                </a:solidFill>
              </a:rPr>
              <a:t>m</a:t>
            </a:r>
            <a:r>
              <a:rPr sz="2600" spc="15" dirty="0">
                <a:solidFill>
                  <a:srgbClr val="1A1A1A"/>
                </a:solidFill>
              </a:rPr>
              <a:t>a</a:t>
            </a:r>
            <a:r>
              <a:rPr sz="2600" spc="-40" dirty="0">
                <a:solidFill>
                  <a:srgbClr val="1A1A1A"/>
                </a:solidFill>
              </a:rPr>
              <a:t>r</a:t>
            </a:r>
            <a:r>
              <a:rPr sz="2600" spc="70" dirty="0">
                <a:solidFill>
                  <a:srgbClr val="1A1A1A"/>
                </a:solidFill>
              </a:rPr>
              <a:t>k</a:t>
            </a:r>
            <a:r>
              <a:rPr sz="2600" spc="30" dirty="0">
                <a:solidFill>
                  <a:srgbClr val="1A1A1A"/>
                </a:solidFill>
              </a:rPr>
              <a:t>et</a:t>
            </a:r>
            <a:r>
              <a:rPr sz="2600" spc="-215" dirty="0">
                <a:solidFill>
                  <a:srgbClr val="1A1A1A"/>
                </a:solidFill>
              </a:rPr>
              <a:t> </a:t>
            </a:r>
            <a:r>
              <a:rPr sz="2600" spc="15" dirty="0">
                <a:solidFill>
                  <a:srgbClr val="1A1A1A"/>
                </a:solidFill>
              </a:rPr>
              <a:t>inf</a:t>
            </a:r>
            <a:r>
              <a:rPr sz="2600" spc="5" dirty="0">
                <a:solidFill>
                  <a:srgbClr val="1A1A1A"/>
                </a:solidFill>
              </a:rPr>
              <a:t>o</a:t>
            </a:r>
            <a:r>
              <a:rPr sz="2600" spc="-135" dirty="0">
                <a:solidFill>
                  <a:srgbClr val="1A1A1A"/>
                </a:solidFill>
              </a:rPr>
              <a:t>r</a:t>
            </a:r>
            <a:r>
              <a:rPr sz="2600" spc="235" dirty="0">
                <a:solidFill>
                  <a:srgbClr val="1A1A1A"/>
                </a:solidFill>
              </a:rPr>
              <a:t>m</a:t>
            </a:r>
            <a:r>
              <a:rPr sz="2600" spc="35" dirty="0">
                <a:solidFill>
                  <a:srgbClr val="1A1A1A"/>
                </a:solidFill>
              </a:rPr>
              <a:t>a</a:t>
            </a:r>
            <a:r>
              <a:rPr sz="2600" spc="10" dirty="0">
                <a:solidFill>
                  <a:srgbClr val="1A1A1A"/>
                </a:solidFill>
              </a:rPr>
              <a:t>t</a:t>
            </a:r>
            <a:r>
              <a:rPr sz="2600" spc="5" dirty="0">
                <a:solidFill>
                  <a:srgbClr val="1A1A1A"/>
                </a:solidFill>
              </a:rPr>
              <a:t>i</a:t>
            </a:r>
            <a:r>
              <a:rPr sz="2600" spc="-5" dirty="0">
                <a:solidFill>
                  <a:srgbClr val="1A1A1A"/>
                </a:solidFill>
              </a:rPr>
              <a:t>o</a:t>
            </a:r>
            <a:r>
              <a:rPr sz="2600" spc="50" dirty="0">
                <a:solidFill>
                  <a:srgbClr val="1A1A1A"/>
                </a:solidFill>
              </a:rPr>
              <a:t>n</a:t>
            </a:r>
            <a:endParaRPr sz="2600"/>
          </a:p>
        </p:txBody>
      </p:sp>
      <p:sp>
        <p:nvSpPr>
          <p:cNvPr id="3" name="object 3"/>
          <p:cNvSpPr txBox="1"/>
          <p:nvPr/>
        </p:nvSpPr>
        <p:spPr>
          <a:xfrm>
            <a:off x="986155" y="1885886"/>
            <a:ext cx="7648575" cy="2653665"/>
          </a:xfrm>
          <a:prstGeom prst="rect">
            <a:avLst/>
          </a:prstGeom>
        </p:spPr>
        <p:txBody>
          <a:bodyPr vert="horz" wrap="square" lIns="0" tIns="15875" rIns="0" bIns="0" rtlCol="0">
            <a:spAutoFit/>
          </a:bodyPr>
          <a:lstStyle/>
          <a:p>
            <a:pPr marL="12700">
              <a:lnSpc>
                <a:spcPct val="100000"/>
              </a:lnSpc>
              <a:spcBef>
                <a:spcPts val="125"/>
              </a:spcBef>
            </a:pPr>
            <a:r>
              <a:rPr sz="1250" spc="-25" dirty="0">
                <a:latin typeface="Tahoma"/>
                <a:cs typeface="Tahoma"/>
              </a:rPr>
              <a:t>S</a:t>
            </a:r>
            <a:r>
              <a:rPr sz="1250" spc="45" dirty="0">
                <a:latin typeface="Tahoma"/>
                <a:cs typeface="Tahoma"/>
              </a:rPr>
              <a:t>y</a:t>
            </a:r>
            <a:r>
              <a:rPr sz="1250" spc="40" dirty="0">
                <a:latin typeface="Tahoma"/>
                <a:cs typeface="Tahoma"/>
              </a:rPr>
              <a:t>s</a:t>
            </a:r>
            <a:r>
              <a:rPr sz="1250" spc="25" dirty="0">
                <a:latin typeface="Tahoma"/>
                <a:cs typeface="Tahoma"/>
              </a:rPr>
              <a:t>t</a:t>
            </a:r>
            <a:r>
              <a:rPr sz="1250" spc="5" dirty="0">
                <a:latin typeface="Tahoma"/>
                <a:cs typeface="Tahoma"/>
              </a:rPr>
              <a:t>e</a:t>
            </a:r>
            <a:r>
              <a:rPr sz="1250" spc="80" dirty="0">
                <a:latin typeface="Tahoma"/>
                <a:cs typeface="Tahoma"/>
              </a:rPr>
              <a:t>m</a:t>
            </a:r>
            <a:r>
              <a:rPr sz="1250" spc="-60" dirty="0">
                <a:latin typeface="Tahoma"/>
                <a:cs typeface="Tahoma"/>
              </a:rPr>
              <a:t>a</a:t>
            </a:r>
            <a:r>
              <a:rPr sz="1250" spc="25" dirty="0">
                <a:latin typeface="Tahoma"/>
                <a:cs typeface="Tahoma"/>
              </a:rPr>
              <a:t>t</a:t>
            </a:r>
            <a:r>
              <a:rPr sz="1250" spc="85" dirty="0">
                <a:latin typeface="Tahoma"/>
                <a:cs typeface="Tahoma"/>
              </a:rPr>
              <a:t>i</a:t>
            </a:r>
            <a:r>
              <a:rPr sz="1250" spc="30" dirty="0">
                <a:latin typeface="Tahoma"/>
                <a:cs typeface="Tahoma"/>
              </a:rPr>
              <a:t>c</a:t>
            </a:r>
            <a:r>
              <a:rPr sz="1250" spc="-100" dirty="0">
                <a:latin typeface="Tahoma"/>
                <a:cs typeface="Tahoma"/>
              </a:rPr>
              <a:t> </a:t>
            </a:r>
            <a:r>
              <a:rPr sz="1250" spc="10" dirty="0">
                <a:latin typeface="Tahoma"/>
                <a:cs typeface="Tahoma"/>
              </a:rPr>
              <a:t>f</a:t>
            </a:r>
            <a:r>
              <a:rPr sz="1250" spc="55" dirty="0">
                <a:latin typeface="Tahoma"/>
                <a:cs typeface="Tahoma"/>
              </a:rPr>
              <a:t>a</a:t>
            </a:r>
            <a:r>
              <a:rPr sz="1250" spc="20" dirty="0">
                <a:latin typeface="Tahoma"/>
                <a:cs typeface="Tahoma"/>
              </a:rPr>
              <a:t>c</a:t>
            </a:r>
            <a:r>
              <a:rPr sz="1250" spc="100" dirty="0">
                <a:latin typeface="Tahoma"/>
                <a:cs typeface="Tahoma"/>
              </a:rPr>
              <a:t>t</a:t>
            </a:r>
            <a:r>
              <a:rPr sz="1250" spc="-5" dirty="0">
                <a:latin typeface="Tahoma"/>
                <a:cs typeface="Tahoma"/>
              </a:rPr>
              <a:t>o</a:t>
            </a:r>
            <a:r>
              <a:rPr sz="1250" spc="65" dirty="0">
                <a:latin typeface="Tahoma"/>
                <a:cs typeface="Tahoma"/>
              </a:rPr>
              <a:t>r</a:t>
            </a:r>
            <a:r>
              <a:rPr sz="1250" spc="-5" dirty="0">
                <a:latin typeface="Tahoma"/>
                <a:cs typeface="Tahoma"/>
              </a:rPr>
              <a:t>s</a:t>
            </a:r>
            <a:r>
              <a:rPr sz="1250" spc="-45" dirty="0">
                <a:latin typeface="Tahoma"/>
                <a:cs typeface="Tahoma"/>
              </a:rPr>
              <a:t> </a:t>
            </a:r>
            <a:r>
              <a:rPr sz="1250" spc="25" dirty="0">
                <a:latin typeface="Tahoma"/>
                <a:cs typeface="Tahoma"/>
              </a:rPr>
              <a:t>t</a:t>
            </a:r>
            <a:r>
              <a:rPr sz="1250" spc="50" dirty="0">
                <a:latin typeface="Tahoma"/>
                <a:cs typeface="Tahoma"/>
              </a:rPr>
              <a:t>h</a:t>
            </a:r>
            <a:r>
              <a:rPr sz="1250" spc="-60" dirty="0">
                <a:latin typeface="Tahoma"/>
                <a:cs typeface="Tahoma"/>
              </a:rPr>
              <a:t>a</a:t>
            </a:r>
            <a:r>
              <a:rPr sz="1250" spc="35" dirty="0">
                <a:latin typeface="Tahoma"/>
                <a:cs typeface="Tahoma"/>
              </a:rPr>
              <a:t>t</a:t>
            </a:r>
            <a:r>
              <a:rPr sz="1250" spc="-25" dirty="0">
                <a:latin typeface="Tahoma"/>
                <a:cs typeface="Tahoma"/>
              </a:rPr>
              <a:t> </a:t>
            </a:r>
            <a:r>
              <a:rPr sz="1250" spc="10" dirty="0">
                <a:latin typeface="Tahoma"/>
                <a:cs typeface="Tahoma"/>
              </a:rPr>
              <a:t>i</a:t>
            </a:r>
            <a:r>
              <a:rPr sz="1250" spc="50" dirty="0">
                <a:latin typeface="Tahoma"/>
                <a:cs typeface="Tahoma"/>
              </a:rPr>
              <a:t>n</a:t>
            </a:r>
            <a:r>
              <a:rPr sz="1250" spc="20" dirty="0">
                <a:latin typeface="Tahoma"/>
                <a:cs typeface="Tahoma"/>
              </a:rPr>
              <a:t>fl</a:t>
            </a:r>
            <a:r>
              <a:rPr sz="1250" spc="75" dirty="0">
                <a:latin typeface="Tahoma"/>
                <a:cs typeface="Tahoma"/>
              </a:rPr>
              <a:t>u</a:t>
            </a:r>
            <a:r>
              <a:rPr sz="1250" spc="15" dirty="0">
                <a:latin typeface="Tahoma"/>
                <a:cs typeface="Tahoma"/>
              </a:rPr>
              <a:t>e</a:t>
            </a:r>
            <a:r>
              <a:rPr sz="1250" spc="-25" dirty="0">
                <a:latin typeface="Tahoma"/>
                <a:cs typeface="Tahoma"/>
              </a:rPr>
              <a:t>n</a:t>
            </a:r>
            <a:r>
              <a:rPr sz="1250" spc="90" dirty="0">
                <a:latin typeface="Tahoma"/>
                <a:cs typeface="Tahoma"/>
              </a:rPr>
              <a:t>c</a:t>
            </a:r>
            <a:r>
              <a:rPr sz="1250" spc="15" dirty="0">
                <a:latin typeface="Tahoma"/>
                <a:cs typeface="Tahoma"/>
              </a:rPr>
              <a:t>e</a:t>
            </a:r>
            <a:r>
              <a:rPr sz="1250" spc="-95" dirty="0">
                <a:latin typeface="Tahoma"/>
                <a:cs typeface="Tahoma"/>
              </a:rPr>
              <a:t> </a:t>
            </a:r>
            <a:r>
              <a:rPr sz="1250" spc="100" dirty="0">
                <a:latin typeface="Tahoma"/>
                <a:cs typeface="Tahoma"/>
              </a:rPr>
              <a:t>t</a:t>
            </a:r>
            <a:r>
              <a:rPr sz="1250" spc="-25" dirty="0">
                <a:latin typeface="Tahoma"/>
                <a:cs typeface="Tahoma"/>
              </a:rPr>
              <a:t>h</a:t>
            </a:r>
            <a:r>
              <a:rPr sz="1250" spc="15" dirty="0">
                <a:latin typeface="Tahoma"/>
                <a:cs typeface="Tahoma"/>
              </a:rPr>
              <a:t>e</a:t>
            </a:r>
            <a:r>
              <a:rPr sz="1250" spc="-20" dirty="0">
                <a:latin typeface="Tahoma"/>
                <a:cs typeface="Tahoma"/>
              </a:rPr>
              <a:t> </a:t>
            </a:r>
            <a:r>
              <a:rPr sz="1250" spc="-35" dirty="0">
                <a:latin typeface="Tahoma"/>
                <a:cs typeface="Tahoma"/>
              </a:rPr>
              <a:t>s</a:t>
            </a:r>
            <a:r>
              <a:rPr sz="1250" spc="100" dirty="0">
                <a:latin typeface="Tahoma"/>
                <a:cs typeface="Tahoma"/>
              </a:rPr>
              <a:t>t</a:t>
            </a:r>
            <a:r>
              <a:rPr sz="1250" spc="-5" dirty="0">
                <a:latin typeface="Tahoma"/>
                <a:cs typeface="Tahoma"/>
              </a:rPr>
              <a:t>o</a:t>
            </a:r>
            <a:r>
              <a:rPr sz="1250" spc="90" dirty="0">
                <a:latin typeface="Tahoma"/>
                <a:cs typeface="Tahoma"/>
              </a:rPr>
              <a:t>c</a:t>
            </a:r>
            <a:r>
              <a:rPr sz="1250" spc="25" dirty="0">
                <a:latin typeface="Tahoma"/>
                <a:cs typeface="Tahoma"/>
              </a:rPr>
              <a:t>k</a:t>
            </a:r>
            <a:r>
              <a:rPr sz="1250" spc="-70" dirty="0">
                <a:latin typeface="Tahoma"/>
                <a:cs typeface="Tahoma"/>
              </a:rPr>
              <a:t> </a:t>
            </a:r>
            <a:r>
              <a:rPr sz="1250" spc="55" dirty="0">
                <a:latin typeface="Tahoma"/>
                <a:cs typeface="Tahoma"/>
              </a:rPr>
              <a:t>p</a:t>
            </a:r>
            <a:r>
              <a:rPr sz="1250" spc="-10" dirty="0">
                <a:latin typeface="Tahoma"/>
                <a:cs typeface="Tahoma"/>
              </a:rPr>
              <a:t>r</a:t>
            </a:r>
            <a:r>
              <a:rPr sz="1250" spc="10" dirty="0">
                <a:latin typeface="Tahoma"/>
                <a:cs typeface="Tahoma"/>
              </a:rPr>
              <a:t>i</a:t>
            </a:r>
            <a:r>
              <a:rPr sz="1250" spc="90" dirty="0">
                <a:latin typeface="Tahoma"/>
                <a:cs typeface="Tahoma"/>
              </a:rPr>
              <a:t>c</a:t>
            </a:r>
            <a:r>
              <a:rPr sz="1250" spc="15" dirty="0">
                <a:latin typeface="Tahoma"/>
                <a:cs typeface="Tahoma"/>
              </a:rPr>
              <a:t>e</a:t>
            </a:r>
            <a:endParaRPr sz="1250">
              <a:latin typeface="Tahoma"/>
              <a:cs typeface="Tahoma"/>
            </a:endParaRPr>
          </a:p>
          <a:p>
            <a:pPr>
              <a:lnSpc>
                <a:spcPct val="100000"/>
              </a:lnSpc>
              <a:spcBef>
                <a:spcPts val="55"/>
              </a:spcBef>
            </a:pPr>
            <a:endParaRPr sz="1200">
              <a:latin typeface="Tahoma"/>
              <a:cs typeface="Tahoma"/>
            </a:endParaRPr>
          </a:p>
          <a:p>
            <a:pPr marL="469900" indent="-311785">
              <a:lnSpc>
                <a:spcPct val="100000"/>
              </a:lnSpc>
              <a:spcBef>
                <a:spcPts val="5"/>
              </a:spcBef>
              <a:buChar char="●"/>
              <a:tabLst>
                <a:tab pos="469900" algn="l"/>
                <a:tab pos="470534" algn="l"/>
              </a:tabLst>
            </a:pPr>
            <a:r>
              <a:rPr sz="1250" spc="85" dirty="0">
                <a:latin typeface="Tahoma"/>
                <a:cs typeface="Tahoma"/>
              </a:rPr>
              <a:t>FED</a:t>
            </a:r>
            <a:r>
              <a:rPr sz="1250" spc="-10" dirty="0">
                <a:latin typeface="Tahoma"/>
                <a:cs typeface="Tahoma"/>
              </a:rPr>
              <a:t> </a:t>
            </a:r>
            <a:r>
              <a:rPr sz="1250" spc="-15" dirty="0">
                <a:latin typeface="Tahoma"/>
                <a:cs typeface="Tahoma"/>
              </a:rPr>
              <a:t>rate:</a:t>
            </a:r>
            <a:r>
              <a:rPr sz="1250" spc="-30" dirty="0">
                <a:latin typeface="Tahoma"/>
                <a:cs typeface="Tahoma"/>
              </a:rPr>
              <a:t> </a:t>
            </a:r>
            <a:r>
              <a:rPr sz="1250" spc="10" dirty="0">
                <a:latin typeface="Tahoma"/>
                <a:cs typeface="Tahoma"/>
              </a:rPr>
              <a:t>average</a:t>
            </a:r>
            <a:r>
              <a:rPr sz="1250" spc="-90" dirty="0">
                <a:latin typeface="Tahoma"/>
                <a:cs typeface="Tahoma"/>
              </a:rPr>
              <a:t> </a:t>
            </a:r>
            <a:r>
              <a:rPr sz="1250" spc="-50" dirty="0">
                <a:latin typeface="Tahoma"/>
                <a:cs typeface="Tahoma"/>
              </a:rPr>
              <a:t>(4.75%),</a:t>
            </a:r>
            <a:r>
              <a:rPr sz="1250" spc="-80" dirty="0">
                <a:latin typeface="Tahoma"/>
                <a:cs typeface="Tahoma"/>
              </a:rPr>
              <a:t> </a:t>
            </a:r>
            <a:r>
              <a:rPr sz="1250" spc="45" dirty="0">
                <a:latin typeface="Tahoma"/>
                <a:cs typeface="Tahoma"/>
              </a:rPr>
              <a:t>won’t</a:t>
            </a:r>
            <a:r>
              <a:rPr sz="1250" spc="-15" dirty="0">
                <a:latin typeface="Tahoma"/>
                <a:cs typeface="Tahoma"/>
              </a:rPr>
              <a:t> </a:t>
            </a:r>
            <a:r>
              <a:rPr sz="1250" spc="20" dirty="0">
                <a:latin typeface="Tahoma"/>
                <a:cs typeface="Tahoma"/>
              </a:rPr>
              <a:t>impact</a:t>
            </a:r>
            <a:r>
              <a:rPr sz="1250" spc="-95" dirty="0">
                <a:latin typeface="Tahoma"/>
                <a:cs typeface="Tahoma"/>
              </a:rPr>
              <a:t> </a:t>
            </a:r>
            <a:r>
              <a:rPr sz="1250" spc="35" dirty="0">
                <a:latin typeface="Tahoma"/>
                <a:cs typeface="Tahoma"/>
              </a:rPr>
              <a:t>stock</a:t>
            </a:r>
            <a:r>
              <a:rPr sz="1250" spc="15" dirty="0">
                <a:latin typeface="Tahoma"/>
                <a:cs typeface="Tahoma"/>
              </a:rPr>
              <a:t> </a:t>
            </a:r>
            <a:r>
              <a:rPr sz="1250" spc="45" dirty="0">
                <a:latin typeface="Tahoma"/>
                <a:cs typeface="Tahoma"/>
              </a:rPr>
              <a:t>too</a:t>
            </a:r>
            <a:r>
              <a:rPr sz="1250" spc="-65" dirty="0">
                <a:latin typeface="Tahoma"/>
                <a:cs typeface="Tahoma"/>
              </a:rPr>
              <a:t> </a:t>
            </a:r>
            <a:r>
              <a:rPr sz="1250" spc="5" dirty="0">
                <a:latin typeface="Tahoma"/>
                <a:cs typeface="Tahoma"/>
              </a:rPr>
              <a:t>much,</a:t>
            </a:r>
            <a:r>
              <a:rPr sz="1250" spc="-75" dirty="0">
                <a:latin typeface="Tahoma"/>
                <a:cs typeface="Tahoma"/>
              </a:rPr>
              <a:t> </a:t>
            </a:r>
            <a:r>
              <a:rPr sz="1250" spc="50" dirty="0">
                <a:latin typeface="Tahoma"/>
                <a:cs typeface="Tahoma"/>
              </a:rPr>
              <a:t>not</a:t>
            </a:r>
            <a:r>
              <a:rPr sz="1250" spc="-20" dirty="0">
                <a:latin typeface="Tahoma"/>
                <a:cs typeface="Tahoma"/>
              </a:rPr>
              <a:t> </a:t>
            </a:r>
            <a:r>
              <a:rPr sz="1250" spc="50" dirty="0">
                <a:latin typeface="Tahoma"/>
                <a:cs typeface="Tahoma"/>
              </a:rPr>
              <a:t>low</a:t>
            </a:r>
            <a:r>
              <a:rPr sz="1250" spc="-40" dirty="0">
                <a:latin typeface="Tahoma"/>
                <a:cs typeface="Tahoma"/>
              </a:rPr>
              <a:t> </a:t>
            </a:r>
            <a:r>
              <a:rPr sz="1250" spc="15" dirty="0">
                <a:latin typeface="Tahoma"/>
                <a:cs typeface="Tahoma"/>
              </a:rPr>
              <a:t>enough</a:t>
            </a:r>
            <a:r>
              <a:rPr sz="1250" spc="-50" dirty="0">
                <a:latin typeface="Tahoma"/>
                <a:cs typeface="Tahoma"/>
              </a:rPr>
              <a:t> </a:t>
            </a:r>
            <a:r>
              <a:rPr sz="1250" spc="35" dirty="0">
                <a:latin typeface="Tahoma"/>
                <a:cs typeface="Tahoma"/>
              </a:rPr>
              <a:t>to</a:t>
            </a:r>
            <a:r>
              <a:rPr sz="1250" spc="15" dirty="0">
                <a:latin typeface="Tahoma"/>
                <a:cs typeface="Tahoma"/>
              </a:rPr>
              <a:t> </a:t>
            </a:r>
            <a:r>
              <a:rPr sz="1250" spc="-5" dirty="0">
                <a:latin typeface="Tahoma"/>
                <a:cs typeface="Tahoma"/>
              </a:rPr>
              <a:t>be</a:t>
            </a:r>
            <a:r>
              <a:rPr sz="1250" spc="-10" dirty="0">
                <a:latin typeface="Tahoma"/>
                <a:cs typeface="Tahoma"/>
              </a:rPr>
              <a:t> </a:t>
            </a:r>
            <a:r>
              <a:rPr sz="1250" spc="25" dirty="0">
                <a:latin typeface="Tahoma"/>
                <a:cs typeface="Tahoma"/>
              </a:rPr>
              <a:t>considered</a:t>
            </a:r>
            <a:endParaRPr sz="1250">
              <a:latin typeface="Tahoma"/>
              <a:cs typeface="Tahoma"/>
            </a:endParaRPr>
          </a:p>
          <a:p>
            <a:pPr marL="469900">
              <a:lnSpc>
                <a:spcPct val="100000"/>
              </a:lnSpc>
              <a:spcBef>
                <a:spcPts val="300"/>
              </a:spcBef>
            </a:pPr>
            <a:r>
              <a:rPr sz="1250" spc="25" dirty="0">
                <a:latin typeface="Tahoma"/>
                <a:cs typeface="Tahoma"/>
              </a:rPr>
              <a:t>beneficial</a:t>
            </a:r>
            <a:endParaRPr sz="1250">
              <a:latin typeface="Tahoma"/>
              <a:cs typeface="Tahoma"/>
            </a:endParaRPr>
          </a:p>
          <a:p>
            <a:pPr marL="469900" indent="-311785">
              <a:lnSpc>
                <a:spcPct val="100000"/>
              </a:lnSpc>
              <a:spcBef>
                <a:spcPts val="305"/>
              </a:spcBef>
              <a:buChar char="●"/>
              <a:tabLst>
                <a:tab pos="469900" algn="l"/>
                <a:tab pos="470534" algn="l"/>
              </a:tabLst>
            </a:pPr>
            <a:r>
              <a:rPr sz="1250" spc="35" dirty="0">
                <a:latin typeface="Tahoma"/>
                <a:cs typeface="Tahoma"/>
              </a:rPr>
              <a:t>Economic</a:t>
            </a:r>
            <a:r>
              <a:rPr sz="1250" spc="-25" dirty="0">
                <a:latin typeface="Tahoma"/>
                <a:cs typeface="Tahoma"/>
              </a:rPr>
              <a:t> </a:t>
            </a:r>
            <a:r>
              <a:rPr sz="1250" spc="15" dirty="0">
                <a:latin typeface="Tahoma"/>
                <a:cs typeface="Tahoma"/>
              </a:rPr>
              <a:t>growth:</a:t>
            </a:r>
            <a:r>
              <a:rPr sz="1250" spc="-35" dirty="0">
                <a:latin typeface="Tahoma"/>
                <a:cs typeface="Tahoma"/>
              </a:rPr>
              <a:t> </a:t>
            </a:r>
            <a:r>
              <a:rPr sz="1250" spc="30" dirty="0">
                <a:latin typeface="Tahoma"/>
                <a:cs typeface="Tahoma"/>
              </a:rPr>
              <a:t>environment</a:t>
            </a:r>
            <a:r>
              <a:rPr sz="1250" spc="-100" dirty="0">
                <a:latin typeface="Tahoma"/>
                <a:cs typeface="Tahoma"/>
              </a:rPr>
              <a:t> </a:t>
            </a:r>
            <a:r>
              <a:rPr sz="1250" spc="20" dirty="0">
                <a:latin typeface="Tahoma"/>
                <a:cs typeface="Tahoma"/>
              </a:rPr>
              <a:t>creates</a:t>
            </a:r>
            <a:r>
              <a:rPr sz="1250" spc="-35" dirty="0">
                <a:latin typeface="Tahoma"/>
                <a:cs typeface="Tahoma"/>
              </a:rPr>
              <a:t> </a:t>
            </a:r>
            <a:r>
              <a:rPr sz="1250" spc="40" dirty="0">
                <a:latin typeface="Tahoma"/>
                <a:cs typeface="Tahoma"/>
              </a:rPr>
              <a:t>both</a:t>
            </a:r>
            <a:r>
              <a:rPr sz="1250" spc="-50" dirty="0">
                <a:latin typeface="Tahoma"/>
                <a:cs typeface="Tahoma"/>
              </a:rPr>
              <a:t> </a:t>
            </a:r>
            <a:r>
              <a:rPr sz="1250" spc="15" dirty="0">
                <a:latin typeface="Tahoma"/>
                <a:cs typeface="Tahoma"/>
              </a:rPr>
              <a:t>risks</a:t>
            </a:r>
            <a:r>
              <a:rPr sz="1250" spc="-40" dirty="0">
                <a:latin typeface="Tahoma"/>
                <a:cs typeface="Tahoma"/>
              </a:rPr>
              <a:t> </a:t>
            </a:r>
            <a:r>
              <a:rPr sz="1250" spc="5" dirty="0">
                <a:latin typeface="Tahoma"/>
                <a:cs typeface="Tahoma"/>
              </a:rPr>
              <a:t>and</a:t>
            </a:r>
            <a:r>
              <a:rPr sz="1250" spc="-55" dirty="0">
                <a:latin typeface="Tahoma"/>
                <a:cs typeface="Tahoma"/>
              </a:rPr>
              <a:t> </a:t>
            </a:r>
            <a:r>
              <a:rPr sz="1250" spc="30" dirty="0">
                <a:latin typeface="Tahoma"/>
                <a:cs typeface="Tahoma"/>
              </a:rPr>
              <a:t>opportunities</a:t>
            </a:r>
            <a:r>
              <a:rPr sz="1250" spc="-40" dirty="0">
                <a:latin typeface="Tahoma"/>
                <a:cs typeface="Tahoma"/>
              </a:rPr>
              <a:t> </a:t>
            </a:r>
            <a:r>
              <a:rPr sz="1250" spc="45" dirty="0">
                <a:latin typeface="Tahoma"/>
                <a:cs typeface="Tahoma"/>
              </a:rPr>
              <a:t>for</a:t>
            </a:r>
            <a:r>
              <a:rPr sz="1250" spc="-110" dirty="0">
                <a:latin typeface="Tahoma"/>
                <a:cs typeface="Tahoma"/>
              </a:rPr>
              <a:t> </a:t>
            </a:r>
            <a:r>
              <a:rPr sz="1250" spc="60" dirty="0">
                <a:latin typeface="Tahoma"/>
                <a:cs typeface="Tahoma"/>
              </a:rPr>
              <a:t>Coca-Cola</a:t>
            </a:r>
            <a:r>
              <a:rPr sz="1250" spc="-45" dirty="0">
                <a:latin typeface="Tahoma"/>
                <a:cs typeface="Tahoma"/>
              </a:rPr>
              <a:t> </a:t>
            </a:r>
            <a:r>
              <a:rPr sz="1250" spc="35" dirty="0">
                <a:latin typeface="Tahoma"/>
                <a:cs typeface="Tahoma"/>
              </a:rPr>
              <a:t>stock</a:t>
            </a:r>
            <a:endParaRPr sz="1250">
              <a:latin typeface="Tahoma"/>
              <a:cs typeface="Tahoma"/>
            </a:endParaRPr>
          </a:p>
          <a:p>
            <a:pPr marL="469900" indent="-311785">
              <a:lnSpc>
                <a:spcPct val="100000"/>
              </a:lnSpc>
              <a:spcBef>
                <a:spcPts val="305"/>
              </a:spcBef>
              <a:buChar char="●"/>
              <a:tabLst>
                <a:tab pos="469900" algn="l"/>
                <a:tab pos="470534" algn="l"/>
              </a:tabLst>
            </a:pPr>
            <a:r>
              <a:rPr sz="1250" spc="35" dirty="0">
                <a:latin typeface="Tahoma"/>
                <a:cs typeface="Tahoma"/>
              </a:rPr>
              <a:t>Political</a:t>
            </a:r>
            <a:r>
              <a:rPr sz="1250" spc="-15" dirty="0">
                <a:latin typeface="Tahoma"/>
                <a:cs typeface="Tahoma"/>
              </a:rPr>
              <a:t> issues:</a:t>
            </a:r>
            <a:r>
              <a:rPr sz="1250" spc="-35" dirty="0">
                <a:latin typeface="Tahoma"/>
                <a:cs typeface="Tahoma"/>
              </a:rPr>
              <a:t> </a:t>
            </a:r>
            <a:r>
              <a:rPr sz="1250" spc="15" dirty="0">
                <a:latin typeface="Tahoma"/>
                <a:cs typeface="Tahoma"/>
              </a:rPr>
              <a:t>can</a:t>
            </a:r>
            <a:r>
              <a:rPr sz="1250" spc="-50" dirty="0">
                <a:latin typeface="Tahoma"/>
                <a:cs typeface="Tahoma"/>
              </a:rPr>
              <a:t> </a:t>
            </a:r>
            <a:r>
              <a:rPr sz="1250" spc="35" dirty="0">
                <a:latin typeface="Tahoma"/>
                <a:cs typeface="Tahoma"/>
              </a:rPr>
              <a:t>be</a:t>
            </a:r>
            <a:r>
              <a:rPr sz="1250" spc="-85" dirty="0">
                <a:latin typeface="Tahoma"/>
                <a:cs typeface="Tahoma"/>
              </a:rPr>
              <a:t> </a:t>
            </a:r>
            <a:r>
              <a:rPr sz="1250" spc="25" dirty="0">
                <a:latin typeface="Tahoma"/>
                <a:cs typeface="Tahoma"/>
              </a:rPr>
              <a:t>risky</a:t>
            </a:r>
            <a:r>
              <a:rPr sz="1250" dirty="0">
                <a:latin typeface="Tahoma"/>
                <a:cs typeface="Tahoma"/>
              </a:rPr>
              <a:t> </a:t>
            </a:r>
            <a:r>
              <a:rPr sz="1250" spc="15" dirty="0">
                <a:latin typeface="Tahoma"/>
                <a:cs typeface="Tahoma"/>
              </a:rPr>
              <a:t>because</a:t>
            </a:r>
            <a:r>
              <a:rPr sz="1250" spc="-90" dirty="0">
                <a:latin typeface="Tahoma"/>
                <a:cs typeface="Tahoma"/>
              </a:rPr>
              <a:t> </a:t>
            </a:r>
            <a:r>
              <a:rPr sz="1250" spc="45" dirty="0">
                <a:latin typeface="Tahoma"/>
                <a:cs typeface="Tahoma"/>
              </a:rPr>
              <a:t>Coca-Cola's</a:t>
            </a:r>
            <a:r>
              <a:rPr sz="1250" spc="-40" dirty="0">
                <a:latin typeface="Tahoma"/>
                <a:cs typeface="Tahoma"/>
              </a:rPr>
              <a:t> </a:t>
            </a:r>
            <a:r>
              <a:rPr sz="1250" spc="10" dirty="0">
                <a:latin typeface="Tahoma"/>
                <a:cs typeface="Tahoma"/>
              </a:rPr>
              <a:t>demand</a:t>
            </a:r>
            <a:r>
              <a:rPr sz="1250" spc="-50" dirty="0">
                <a:latin typeface="Tahoma"/>
                <a:cs typeface="Tahoma"/>
              </a:rPr>
              <a:t> </a:t>
            </a:r>
            <a:r>
              <a:rPr sz="1250" spc="40" dirty="0">
                <a:latin typeface="Tahoma"/>
                <a:cs typeface="Tahoma"/>
              </a:rPr>
              <a:t>is</a:t>
            </a:r>
            <a:r>
              <a:rPr sz="1250" spc="-40" dirty="0">
                <a:latin typeface="Tahoma"/>
                <a:cs typeface="Tahoma"/>
              </a:rPr>
              <a:t> </a:t>
            </a:r>
            <a:r>
              <a:rPr sz="1250" spc="40" dirty="0">
                <a:latin typeface="Tahoma"/>
                <a:cs typeface="Tahoma"/>
              </a:rPr>
              <a:t>worldwide</a:t>
            </a:r>
            <a:r>
              <a:rPr sz="1250" spc="-90" dirty="0">
                <a:latin typeface="Tahoma"/>
                <a:cs typeface="Tahoma"/>
              </a:rPr>
              <a:t> </a:t>
            </a:r>
            <a:r>
              <a:rPr sz="1250" spc="-170" dirty="0">
                <a:latin typeface="Tahoma"/>
                <a:cs typeface="Tahoma"/>
              </a:rPr>
              <a:t>+</a:t>
            </a:r>
            <a:r>
              <a:rPr sz="1250" spc="-5" dirty="0">
                <a:latin typeface="Tahoma"/>
                <a:cs typeface="Tahoma"/>
              </a:rPr>
              <a:t> </a:t>
            </a:r>
            <a:r>
              <a:rPr sz="1250" spc="25" dirty="0">
                <a:latin typeface="Tahoma"/>
                <a:cs typeface="Tahoma"/>
              </a:rPr>
              <a:t>supply</a:t>
            </a:r>
            <a:r>
              <a:rPr sz="1250" spc="-70" dirty="0">
                <a:latin typeface="Tahoma"/>
                <a:cs typeface="Tahoma"/>
              </a:rPr>
              <a:t> </a:t>
            </a:r>
            <a:r>
              <a:rPr sz="1250" spc="20" dirty="0">
                <a:latin typeface="Tahoma"/>
                <a:cs typeface="Tahoma"/>
              </a:rPr>
              <a:t>chain</a:t>
            </a:r>
            <a:r>
              <a:rPr sz="1250" spc="-50" dirty="0">
                <a:latin typeface="Tahoma"/>
                <a:cs typeface="Tahoma"/>
              </a:rPr>
              <a:t> </a:t>
            </a:r>
            <a:r>
              <a:rPr sz="1250" dirty="0">
                <a:latin typeface="Tahoma"/>
                <a:cs typeface="Tahoma"/>
              </a:rPr>
              <a:t>is</a:t>
            </a:r>
            <a:r>
              <a:rPr sz="1250" spc="-40" dirty="0">
                <a:latin typeface="Tahoma"/>
                <a:cs typeface="Tahoma"/>
              </a:rPr>
              <a:t> </a:t>
            </a:r>
            <a:r>
              <a:rPr sz="1250" spc="5" dirty="0">
                <a:latin typeface="Tahoma"/>
                <a:cs typeface="Tahoma"/>
              </a:rPr>
              <a:t>global,</a:t>
            </a:r>
            <a:r>
              <a:rPr sz="1250" spc="-80" dirty="0">
                <a:latin typeface="Tahoma"/>
                <a:cs typeface="Tahoma"/>
              </a:rPr>
              <a:t> </a:t>
            </a:r>
            <a:r>
              <a:rPr sz="1250" spc="40" dirty="0">
                <a:latin typeface="Tahoma"/>
                <a:cs typeface="Tahoma"/>
              </a:rPr>
              <a:t>so</a:t>
            </a:r>
            <a:endParaRPr sz="1250">
              <a:latin typeface="Tahoma"/>
              <a:cs typeface="Tahoma"/>
            </a:endParaRPr>
          </a:p>
          <a:p>
            <a:pPr marL="469900">
              <a:lnSpc>
                <a:spcPct val="100000"/>
              </a:lnSpc>
              <a:spcBef>
                <a:spcPts val="305"/>
              </a:spcBef>
            </a:pPr>
            <a:r>
              <a:rPr sz="1250" spc="25" dirty="0">
                <a:latin typeface="Tahoma"/>
                <a:cs typeface="Tahoma"/>
              </a:rPr>
              <a:t>need</a:t>
            </a:r>
            <a:r>
              <a:rPr sz="1250" spc="-50" dirty="0">
                <a:latin typeface="Tahoma"/>
                <a:cs typeface="Tahoma"/>
              </a:rPr>
              <a:t> </a:t>
            </a:r>
            <a:r>
              <a:rPr sz="1250" spc="35" dirty="0">
                <a:latin typeface="Tahoma"/>
                <a:cs typeface="Tahoma"/>
              </a:rPr>
              <a:t>to</a:t>
            </a:r>
            <a:r>
              <a:rPr sz="1250" spc="10" dirty="0">
                <a:latin typeface="Tahoma"/>
                <a:cs typeface="Tahoma"/>
              </a:rPr>
              <a:t> </a:t>
            </a:r>
            <a:r>
              <a:rPr sz="1250" spc="-5" dirty="0">
                <a:latin typeface="Tahoma"/>
                <a:cs typeface="Tahoma"/>
              </a:rPr>
              <a:t>be</a:t>
            </a:r>
            <a:r>
              <a:rPr sz="1250" spc="-10" dirty="0">
                <a:latin typeface="Tahoma"/>
                <a:cs typeface="Tahoma"/>
              </a:rPr>
              <a:t> </a:t>
            </a:r>
            <a:r>
              <a:rPr sz="1250" spc="20" dirty="0">
                <a:latin typeface="Tahoma"/>
                <a:cs typeface="Tahoma"/>
              </a:rPr>
              <a:t>careful</a:t>
            </a:r>
            <a:r>
              <a:rPr sz="1250" spc="-15" dirty="0">
                <a:latin typeface="Tahoma"/>
                <a:cs typeface="Tahoma"/>
              </a:rPr>
              <a:t> </a:t>
            </a:r>
            <a:r>
              <a:rPr sz="1250" spc="30" dirty="0">
                <a:latin typeface="Tahoma"/>
                <a:cs typeface="Tahoma"/>
              </a:rPr>
              <a:t>about</a:t>
            </a:r>
            <a:r>
              <a:rPr sz="1250" spc="-95" dirty="0">
                <a:latin typeface="Tahoma"/>
                <a:cs typeface="Tahoma"/>
              </a:rPr>
              <a:t> </a:t>
            </a:r>
            <a:r>
              <a:rPr sz="1250" spc="30" dirty="0">
                <a:latin typeface="Tahoma"/>
                <a:cs typeface="Tahoma"/>
              </a:rPr>
              <a:t>political</a:t>
            </a:r>
            <a:r>
              <a:rPr sz="1250" spc="-90" dirty="0">
                <a:latin typeface="Tahoma"/>
                <a:cs typeface="Tahoma"/>
              </a:rPr>
              <a:t> </a:t>
            </a:r>
            <a:r>
              <a:rPr sz="1250" spc="25" dirty="0">
                <a:latin typeface="Tahoma"/>
                <a:cs typeface="Tahoma"/>
              </a:rPr>
              <a:t>instability</a:t>
            </a:r>
            <a:r>
              <a:rPr sz="1250" spc="-75" dirty="0">
                <a:latin typeface="Tahoma"/>
                <a:cs typeface="Tahoma"/>
              </a:rPr>
              <a:t> </a:t>
            </a:r>
            <a:r>
              <a:rPr sz="1250" spc="40" dirty="0">
                <a:latin typeface="Tahoma"/>
                <a:cs typeface="Tahoma"/>
              </a:rPr>
              <a:t>which</a:t>
            </a:r>
            <a:r>
              <a:rPr sz="1250" spc="-50" dirty="0">
                <a:latin typeface="Tahoma"/>
                <a:cs typeface="Tahoma"/>
              </a:rPr>
              <a:t> </a:t>
            </a:r>
            <a:r>
              <a:rPr sz="1250" spc="15" dirty="0">
                <a:latin typeface="Tahoma"/>
                <a:cs typeface="Tahoma"/>
              </a:rPr>
              <a:t>may</a:t>
            </a:r>
            <a:r>
              <a:rPr sz="1250" spc="5" dirty="0">
                <a:latin typeface="Tahoma"/>
                <a:cs typeface="Tahoma"/>
              </a:rPr>
              <a:t> </a:t>
            </a:r>
            <a:r>
              <a:rPr sz="1250" spc="20" dirty="0">
                <a:latin typeface="Tahoma"/>
                <a:cs typeface="Tahoma"/>
              </a:rPr>
              <a:t>disrupt</a:t>
            </a:r>
            <a:r>
              <a:rPr sz="1250" spc="-95" dirty="0">
                <a:latin typeface="Tahoma"/>
                <a:cs typeface="Tahoma"/>
              </a:rPr>
              <a:t> </a:t>
            </a:r>
            <a:r>
              <a:rPr sz="1250" spc="30" dirty="0">
                <a:latin typeface="Tahoma"/>
                <a:cs typeface="Tahoma"/>
              </a:rPr>
              <a:t>demand/supply</a:t>
            </a:r>
            <a:endParaRPr sz="1250">
              <a:latin typeface="Tahoma"/>
              <a:cs typeface="Tahoma"/>
            </a:endParaRPr>
          </a:p>
          <a:p>
            <a:pPr marL="469900" indent="-311785">
              <a:lnSpc>
                <a:spcPct val="100000"/>
              </a:lnSpc>
              <a:spcBef>
                <a:spcPts val="225"/>
              </a:spcBef>
              <a:buChar char="●"/>
              <a:tabLst>
                <a:tab pos="469900" algn="l"/>
                <a:tab pos="470534" algn="l"/>
              </a:tabLst>
            </a:pPr>
            <a:r>
              <a:rPr sz="1250" spc="35" dirty="0">
                <a:latin typeface="Tahoma"/>
                <a:cs typeface="Tahoma"/>
              </a:rPr>
              <a:t>Consumer</a:t>
            </a:r>
            <a:r>
              <a:rPr sz="1250" spc="-30" dirty="0">
                <a:latin typeface="Tahoma"/>
                <a:cs typeface="Tahoma"/>
              </a:rPr>
              <a:t> </a:t>
            </a:r>
            <a:r>
              <a:rPr sz="1250" spc="10" dirty="0">
                <a:latin typeface="Tahoma"/>
                <a:cs typeface="Tahoma"/>
              </a:rPr>
              <a:t>behaviour:</a:t>
            </a:r>
            <a:r>
              <a:rPr sz="1250" spc="-35" dirty="0">
                <a:latin typeface="Tahoma"/>
                <a:cs typeface="Tahoma"/>
              </a:rPr>
              <a:t> </a:t>
            </a:r>
            <a:r>
              <a:rPr sz="1250" spc="10" dirty="0">
                <a:latin typeface="Tahoma"/>
                <a:cs typeface="Tahoma"/>
              </a:rPr>
              <a:t>strong</a:t>
            </a:r>
            <a:r>
              <a:rPr sz="1250" dirty="0">
                <a:latin typeface="Tahoma"/>
                <a:cs typeface="Tahoma"/>
              </a:rPr>
              <a:t> brand,</a:t>
            </a:r>
            <a:r>
              <a:rPr sz="1250" spc="-80" dirty="0">
                <a:latin typeface="Tahoma"/>
                <a:cs typeface="Tahoma"/>
              </a:rPr>
              <a:t> </a:t>
            </a:r>
            <a:r>
              <a:rPr sz="1250" spc="15" dirty="0">
                <a:latin typeface="Tahoma"/>
                <a:cs typeface="Tahoma"/>
              </a:rPr>
              <a:t>stable</a:t>
            </a:r>
            <a:r>
              <a:rPr sz="1250" spc="-10" dirty="0">
                <a:latin typeface="Tahoma"/>
                <a:cs typeface="Tahoma"/>
              </a:rPr>
              <a:t> </a:t>
            </a:r>
            <a:r>
              <a:rPr sz="1250" dirty="0">
                <a:latin typeface="Tahoma"/>
                <a:cs typeface="Tahoma"/>
              </a:rPr>
              <a:t>demand,</a:t>
            </a:r>
            <a:r>
              <a:rPr sz="1250" spc="-5" dirty="0">
                <a:latin typeface="Tahoma"/>
                <a:cs typeface="Tahoma"/>
              </a:rPr>
              <a:t> </a:t>
            </a:r>
            <a:r>
              <a:rPr sz="1250" spc="15" dirty="0">
                <a:latin typeface="Tahoma"/>
                <a:cs typeface="Tahoma"/>
              </a:rPr>
              <a:t>staple</a:t>
            </a:r>
            <a:r>
              <a:rPr sz="1250" spc="-85" dirty="0">
                <a:latin typeface="Tahoma"/>
                <a:cs typeface="Tahoma"/>
              </a:rPr>
              <a:t> </a:t>
            </a:r>
            <a:r>
              <a:rPr sz="1250" spc="40" dirty="0">
                <a:latin typeface="Tahoma"/>
                <a:cs typeface="Tahoma"/>
              </a:rPr>
              <a:t>product</a:t>
            </a:r>
            <a:r>
              <a:rPr sz="1250" spc="-20" dirty="0">
                <a:latin typeface="Tahoma"/>
                <a:cs typeface="Tahoma"/>
              </a:rPr>
              <a:t> </a:t>
            </a:r>
            <a:r>
              <a:rPr sz="1250" spc="20" dirty="0">
                <a:latin typeface="Tahoma"/>
                <a:cs typeface="Tahoma"/>
              </a:rPr>
              <a:t>for</a:t>
            </a:r>
            <a:r>
              <a:rPr sz="1250" spc="-25" dirty="0">
                <a:latin typeface="Tahoma"/>
                <a:cs typeface="Tahoma"/>
              </a:rPr>
              <a:t> </a:t>
            </a:r>
            <a:r>
              <a:rPr sz="1250" spc="15" dirty="0">
                <a:latin typeface="Tahoma"/>
                <a:cs typeface="Tahoma"/>
              </a:rPr>
              <a:t>households,</a:t>
            </a:r>
            <a:r>
              <a:rPr sz="1250" spc="-80" dirty="0">
                <a:latin typeface="Tahoma"/>
                <a:cs typeface="Tahoma"/>
              </a:rPr>
              <a:t> </a:t>
            </a:r>
            <a:r>
              <a:rPr sz="1250" spc="25" dirty="0">
                <a:latin typeface="Tahoma"/>
                <a:cs typeface="Tahoma"/>
              </a:rPr>
              <a:t>reliable</a:t>
            </a:r>
            <a:endParaRPr sz="1250">
              <a:latin typeface="Tahoma"/>
              <a:cs typeface="Tahoma"/>
            </a:endParaRPr>
          </a:p>
          <a:p>
            <a:pPr marL="469900" marR="5080" indent="-311785">
              <a:lnSpc>
                <a:spcPct val="120100"/>
              </a:lnSpc>
              <a:buChar char="●"/>
              <a:tabLst>
                <a:tab pos="469900" algn="l"/>
                <a:tab pos="470534" algn="l"/>
              </a:tabLst>
            </a:pPr>
            <a:r>
              <a:rPr sz="1250" spc="25" dirty="0">
                <a:latin typeface="Tahoma"/>
                <a:cs typeface="Tahoma"/>
              </a:rPr>
              <a:t>Unemployment:</a:t>
            </a:r>
            <a:r>
              <a:rPr sz="1250" spc="-30" dirty="0">
                <a:latin typeface="Tahoma"/>
                <a:cs typeface="Tahoma"/>
              </a:rPr>
              <a:t> </a:t>
            </a:r>
            <a:r>
              <a:rPr sz="1250" spc="30" dirty="0">
                <a:latin typeface="Tahoma"/>
                <a:cs typeface="Tahoma"/>
              </a:rPr>
              <a:t>High</a:t>
            </a:r>
            <a:r>
              <a:rPr sz="1250" spc="-45" dirty="0">
                <a:latin typeface="Tahoma"/>
                <a:cs typeface="Tahoma"/>
              </a:rPr>
              <a:t> </a:t>
            </a:r>
            <a:r>
              <a:rPr sz="1250" spc="30" dirty="0">
                <a:latin typeface="Tahoma"/>
                <a:cs typeface="Tahoma"/>
              </a:rPr>
              <a:t>unemployment</a:t>
            </a:r>
            <a:r>
              <a:rPr sz="1250" spc="-10" dirty="0">
                <a:latin typeface="Tahoma"/>
                <a:cs typeface="Tahoma"/>
              </a:rPr>
              <a:t> </a:t>
            </a:r>
            <a:r>
              <a:rPr sz="1250" spc="15" dirty="0">
                <a:latin typeface="Tahoma"/>
                <a:cs typeface="Tahoma"/>
              </a:rPr>
              <a:t>can</a:t>
            </a:r>
            <a:r>
              <a:rPr sz="1250" spc="-45" dirty="0">
                <a:latin typeface="Tahoma"/>
                <a:cs typeface="Tahoma"/>
              </a:rPr>
              <a:t> </a:t>
            </a:r>
            <a:r>
              <a:rPr sz="1250" spc="15" dirty="0">
                <a:latin typeface="Tahoma"/>
                <a:cs typeface="Tahoma"/>
              </a:rPr>
              <a:t>lead</a:t>
            </a:r>
            <a:r>
              <a:rPr sz="1250" spc="-50" dirty="0">
                <a:latin typeface="Tahoma"/>
                <a:cs typeface="Tahoma"/>
              </a:rPr>
              <a:t> </a:t>
            </a:r>
            <a:r>
              <a:rPr sz="1250" spc="35" dirty="0">
                <a:latin typeface="Tahoma"/>
                <a:cs typeface="Tahoma"/>
              </a:rPr>
              <a:t>to</a:t>
            </a:r>
            <a:r>
              <a:rPr sz="1250" spc="-55" dirty="0">
                <a:latin typeface="Tahoma"/>
                <a:cs typeface="Tahoma"/>
              </a:rPr>
              <a:t> </a:t>
            </a:r>
            <a:r>
              <a:rPr sz="1250" spc="20" dirty="0">
                <a:latin typeface="Tahoma"/>
                <a:cs typeface="Tahoma"/>
              </a:rPr>
              <a:t>decreased</a:t>
            </a:r>
            <a:r>
              <a:rPr sz="1250" spc="30" dirty="0">
                <a:latin typeface="Tahoma"/>
                <a:cs typeface="Tahoma"/>
              </a:rPr>
              <a:t> </a:t>
            </a:r>
            <a:r>
              <a:rPr sz="1250" spc="20" dirty="0">
                <a:latin typeface="Tahoma"/>
                <a:cs typeface="Tahoma"/>
              </a:rPr>
              <a:t>consumer</a:t>
            </a:r>
            <a:r>
              <a:rPr sz="1250" spc="-25" dirty="0">
                <a:latin typeface="Tahoma"/>
                <a:cs typeface="Tahoma"/>
              </a:rPr>
              <a:t> </a:t>
            </a:r>
            <a:r>
              <a:rPr sz="1250" spc="10" dirty="0">
                <a:latin typeface="Tahoma"/>
                <a:cs typeface="Tahoma"/>
              </a:rPr>
              <a:t>spending</a:t>
            </a:r>
            <a:r>
              <a:rPr sz="1250" spc="5" dirty="0">
                <a:latin typeface="Tahoma"/>
                <a:cs typeface="Tahoma"/>
              </a:rPr>
              <a:t> </a:t>
            </a:r>
            <a:r>
              <a:rPr sz="1250" dirty="0">
                <a:latin typeface="Tahoma"/>
                <a:cs typeface="Tahoma"/>
              </a:rPr>
              <a:t>as</a:t>
            </a:r>
            <a:r>
              <a:rPr sz="1250" spc="-35" dirty="0">
                <a:latin typeface="Tahoma"/>
                <a:cs typeface="Tahoma"/>
              </a:rPr>
              <a:t> </a:t>
            </a:r>
            <a:r>
              <a:rPr sz="1250" spc="25" dirty="0">
                <a:latin typeface="Tahoma"/>
                <a:cs typeface="Tahoma"/>
              </a:rPr>
              <a:t>people</a:t>
            </a:r>
            <a:r>
              <a:rPr sz="1250" spc="-5" dirty="0">
                <a:latin typeface="Tahoma"/>
                <a:cs typeface="Tahoma"/>
              </a:rPr>
              <a:t> </a:t>
            </a:r>
            <a:r>
              <a:rPr sz="1250" spc="20" dirty="0">
                <a:latin typeface="Tahoma"/>
                <a:cs typeface="Tahoma"/>
              </a:rPr>
              <a:t>prioritize </a:t>
            </a:r>
            <a:r>
              <a:rPr sz="1250" spc="-380" dirty="0">
                <a:latin typeface="Tahoma"/>
                <a:cs typeface="Tahoma"/>
              </a:rPr>
              <a:t> </a:t>
            </a:r>
            <a:r>
              <a:rPr sz="1250" spc="15" dirty="0">
                <a:latin typeface="Tahoma"/>
                <a:cs typeface="Tahoma"/>
              </a:rPr>
              <a:t>essential</a:t>
            </a:r>
            <a:r>
              <a:rPr sz="1250" spc="-25" dirty="0">
                <a:latin typeface="Tahoma"/>
                <a:cs typeface="Tahoma"/>
              </a:rPr>
              <a:t> </a:t>
            </a:r>
            <a:r>
              <a:rPr sz="1250" spc="15" dirty="0">
                <a:latin typeface="Tahoma"/>
                <a:cs typeface="Tahoma"/>
              </a:rPr>
              <a:t>goods</a:t>
            </a:r>
            <a:endParaRPr sz="1250">
              <a:latin typeface="Tahoma"/>
              <a:cs typeface="Tahoma"/>
            </a:endParaRPr>
          </a:p>
          <a:p>
            <a:pPr marL="469900" marR="478155" indent="-311785">
              <a:lnSpc>
                <a:spcPct val="120200"/>
              </a:lnSpc>
              <a:spcBef>
                <a:spcPts val="5"/>
              </a:spcBef>
              <a:buChar char="●"/>
              <a:tabLst>
                <a:tab pos="469900" algn="l"/>
                <a:tab pos="470534" algn="l"/>
              </a:tabLst>
            </a:pPr>
            <a:r>
              <a:rPr sz="1250" dirty="0">
                <a:latin typeface="Tahoma"/>
                <a:cs typeface="Tahoma"/>
              </a:rPr>
              <a:t>Inflation:</a:t>
            </a:r>
            <a:r>
              <a:rPr sz="1250" spc="-35" dirty="0">
                <a:latin typeface="Tahoma"/>
                <a:cs typeface="Tahoma"/>
              </a:rPr>
              <a:t> </a:t>
            </a:r>
            <a:r>
              <a:rPr sz="1250" spc="-25" dirty="0">
                <a:latin typeface="Tahoma"/>
                <a:cs typeface="Tahoma"/>
              </a:rPr>
              <a:t>If</a:t>
            </a:r>
            <a:r>
              <a:rPr sz="1250" spc="-85" dirty="0">
                <a:latin typeface="Tahoma"/>
                <a:cs typeface="Tahoma"/>
              </a:rPr>
              <a:t> </a:t>
            </a:r>
            <a:r>
              <a:rPr sz="1250" spc="25" dirty="0">
                <a:latin typeface="Tahoma"/>
                <a:cs typeface="Tahoma"/>
              </a:rPr>
              <a:t>inflation</a:t>
            </a:r>
            <a:r>
              <a:rPr sz="1250" spc="-50" dirty="0">
                <a:latin typeface="Tahoma"/>
                <a:cs typeface="Tahoma"/>
              </a:rPr>
              <a:t> </a:t>
            </a:r>
            <a:r>
              <a:rPr sz="1250" dirty="0">
                <a:latin typeface="Tahoma"/>
                <a:cs typeface="Tahoma"/>
              </a:rPr>
              <a:t>rises,</a:t>
            </a:r>
            <a:r>
              <a:rPr sz="1250" spc="-5" dirty="0">
                <a:latin typeface="Tahoma"/>
                <a:cs typeface="Tahoma"/>
              </a:rPr>
              <a:t> </a:t>
            </a:r>
            <a:r>
              <a:rPr sz="1250" spc="45" dirty="0">
                <a:latin typeface="Tahoma"/>
                <a:cs typeface="Tahoma"/>
              </a:rPr>
              <a:t>Coca-Cola</a:t>
            </a:r>
            <a:r>
              <a:rPr sz="1250" spc="-50" dirty="0">
                <a:latin typeface="Tahoma"/>
                <a:cs typeface="Tahoma"/>
              </a:rPr>
              <a:t> </a:t>
            </a:r>
            <a:r>
              <a:rPr sz="1250" spc="15" dirty="0">
                <a:latin typeface="Tahoma"/>
                <a:cs typeface="Tahoma"/>
              </a:rPr>
              <a:t>may</a:t>
            </a:r>
            <a:r>
              <a:rPr sz="1250" spc="-75" dirty="0">
                <a:latin typeface="Tahoma"/>
                <a:cs typeface="Tahoma"/>
              </a:rPr>
              <a:t> </a:t>
            </a:r>
            <a:r>
              <a:rPr sz="1250" spc="25" dirty="0">
                <a:latin typeface="Tahoma"/>
                <a:cs typeface="Tahoma"/>
              </a:rPr>
              <a:t>need</a:t>
            </a:r>
            <a:r>
              <a:rPr sz="1250" spc="-55" dirty="0">
                <a:latin typeface="Tahoma"/>
                <a:cs typeface="Tahoma"/>
              </a:rPr>
              <a:t> </a:t>
            </a:r>
            <a:r>
              <a:rPr sz="1250" spc="75" dirty="0">
                <a:latin typeface="Tahoma"/>
                <a:cs typeface="Tahoma"/>
              </a:rPr>
              <a:t>to</a:t>
            </a:r>
            <a:r>
              <a:rPr sz="1250" spc="-60" dirty="0">
                <a:latin typeface="Tahoma"/>
                <a:cs typeface="Tahoma"/>
              </a:rPr>
              <a:t> </a:t>
            </a:r>
            <a:r>
              <a:rPr sz="1250" spc="20" dirty="0">
                <a:latin typeface="Tahoma"/>
                <a:cs typeface="Tahoma"/>
              </a:rPr>
              <a:t>increase</a:t>
            </a:r>
            <a:r>
              <a:rPr sz="1250" spc="-90" dirty="0">
                <a:latin typeface="Tahoma"/>
                <a:cs typeface="Tahoma"/>
              </a:rPr>
              <a:t> </a:t>
            </a:r>
            <a:r>
              <a:rPr sz="1250" spc="15" dirty="0">
                <a:latin typeface="Tahoma"/>
                <a:cs typeface="Tahoma"/>
              </a:rPr>
              <a:t>prices,</a:t>
            </a:r>
            <a:r>
              <a:rPr sz="1250" spc="-80" dirty="0">
                <a:latin typeface="Tahoma"/>
                <a:cs typeface="Tahoma"/>
              </a:rPr>
              <a:t> </a:t>
            </a:r>
            <a:r>
              <a:rPr sz="1250" spc="30" dirty="0">
                <a:latin typeface="Tahoma"/>
                <a:cs typeface="Tahoma"/>
              </a:rPr>
              <a:t>potentially</a:t>
            </a:r>
            <a:r>
              <a:rPr sz="1250" spc="-75" dirty="0">
                <a:latin typeface="Tahoma"/>
                <a:cs typeface="Tahoma"/>
              </a:rPr>
              <a:t> </a:t>
            </a:r>
            <a:r>
              <a:rPr sz="1250" spc="25" dirty="0">
                <a:latin typeface="Tahoma"/>
                <a:cs typeface="Tahoma"/>
              </a:rPr>
              <a:t>impacting</a:t>
            </a:r>
            <a:r>
              <a:rPr sz="1250" spc="-80" dirty="0">
                <a:latin typeface="Tahoma"/>
                <a:cs typeface="Tahoma"/>
              </a:rPr>
              <a:t> </a:t>
            </a:r>
            <a:r>
              <a:rPr sz="1250" spc="15" dirty="0">
                <a:latin typeface="Tahoma"/>
                <a:cs typeface="Tahoma"/>
              </a:rPr>
              <a:t>sales </a:t>
            </a:r>
            <a:r>
              <a:rPr sz="1250" spc="-375" dirty="0">
                <a:latin typeface="Tahoma"/>
                <a:cs typeface="Tahoma"/>
              </a:rPr>
              <a:t> </a:t>
            </a:r>
            <a:r>
              <a:rPr sz="1250" spc="15" dirty="0">
                <a:latin typeface="Tahoma"/>
                <a:cs typeface="Tahoma"/>
              </a:rPr>
              <a:t>volumes.</a:t>
            </a:r>
            <a:r>
              <a:rPr sz="1250" spc="-95" dirty="0">
                <a:latin typeface="Tahoma"/>
                <a:cs typeface="Tahoma"/>
              </a:rPr>
              <a:t> </a:t>
            </a:r>
            <a:r>
              <a:rPr sz="1250" spc="45" dirty="0">
                <a:latin typeface="Tahoma"/>
                <a:cs typeface="Tahoma"/>
              </a:rPr>
              <a:t>However,</a:t>
            </a:r>
            <a:r>
              <a:rPr sz="1250" spc="-85" dirty="0">
                <a:latin typeface="Tahoma"/>
                <a:cs typeface="Tahoma"/>
              </a:rPr>
              <a:t> </a:t>
            </a:r>
            <a:r>
              <a:rPr sz="1250" spc="25" dirty="0">
                <a:latin typeface="Tahoma"/>
                <a:cs typeface="Tahoma"/>
              </a:rPr>
              <a:t>strong</a:t>
            </a:r>
            <a:r>
              <a:rPr sz="1250" spc="-85" dirty="0">
                <a:latin typeface="Tahoma"/>
                <a:cs typeface="Tahoma"/>
              </a:rPr>
              <a:t> </a:t>
            </a:r>
            <a:r>
              <a:rPr sz="1250" spc="25" dirty="0">
                <a:latin typeface="Tahoma"/>
                <a:cs typeface="Tahoma"/>
              </a:rPr>
              <a:t>brand</a:t>
            </a:r>
            <a:r>
              <a:rPr sz="1250" spc="-60" dirty="0">
                <a:latin typeface="Tahoma"/>
                <a:cs typeface="Tahoma"/>
              </a:rPr>
              <a:t> </a:t>
            </a:r>
            <a:r>
              <a:rPr sz="1250" spc="30" dirty="0">
                <a:latin typeface="Tahoma"/>
                <a:cs typeface="Tahoma"/>
              </a:rPr>
              <a:t>loyalty</a:t>
            </a:r>
            <a:r>
              <a:rPr sz="1250" spc="-80" dirty="0">
                <a:latin typeface="Tahoma"/>
                <a:cs typeface="Tahoma"/>
              </a:rPr>
              <a:t> </a:t>
            </a:r>
            <a:r>
              <a:rPr sz="1250" spc="15" dirty="0">
                <a:latin typeface="Tahoma"/>
                <a:cs typeface="Tahoma"/>
              </a:rPr>
              <a:t>may</a:t>
            </a:r>
            <a:r>
              <a:rPr sz="1250" spc="-5" dirty="0">
                <a:latin typeface="Tahoma"/>
                <a:cs typeface="Tahoma"/>
              </a:rPr>
              <a:t> </a:t>
            </a:r>
            <a:r>
              <a:rPr sz="1250" spc="25" dirty="0">
                <a:latin typeface="Tahoma"/>
                <a:cs typeface="Tahoma"/>
              </a:rPr>
              <a:t>help</a:t>
            </a:r>
            <a:r>
              <a:rPr sz="1250" spc="-60" dirty="0">
                <a:latin typeface="Tahoma"/>
                <a:cs typeface="Tahoma"/>
              </a:rPr>
              <a:t> </a:t>
            </a:r>
            <a:r>
              <a:rPr sz="1250" spc="20" dirty="0">
                <a:latin typeface="Tahoma"/>
                <a:cs typeface="Tahoma"/>
              </a:rPr>
              <a:t>mitigate</a:t>
            </a:r>
            <a:r>
              <a:rPr sz="1250" spc="-95" dirty="0">
                <a:latin typeface="Tahoma"/>
                <a:cs typeface="Tahoma"/>
              </a:rPr>
              <a:t> </a:t>
            </a:r>
            <a:r>
              <a:rPr sz="1250" spc="20" dirty="0">
                <a:latin typeface="Tahoma"/>
                <a:cs typeface="Tahoma"/>
              </a:rPr>
              <a:t>this</a:t>
            </a:r>
            <a:r>
              <a:rPr sz="1250" spc="-45" dirty="0">
                <a:latin typeface="Tahoma"/>
                <a:cs typeface="Tahoma"/>
              </a:rPr>
              <a:t> </a:t>
            </a:r>
            <a:r>
              <a:rPr sz="1250" spc="25" dirty="0">
                <a:latin typeface="Tahoma"/>
                <a:cs typeface="Tahoma"/>
              </a:rPr>
              <a:t>effect.</a:t>
            </a:r>
            <a:endParaRPr sz="1250">
              <a:latin typeface="Tahoma"/>
              <a:cs typeface="Tahoma"/>
            </a:endParaRPr>
          </a:p>
        </p:txBody>
      </p:sp>
      <p:pic>
        <p:nvPicPr>
          <p:cNvPr id="4" name="object 4"/>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437" y="1380743"/>
            <a:ext cx="2953385" cy="426720"/>
          </a:xfrm>
          <a:prstGeom prst="rect">
            <a:avLst/>
          </a:prstGeom>
        </p:spPr>
        <p:txBody>
          <a:bodyPr vert="horz" wrap="square" lIns="0" tIns="16510" rIns="0" bIns="0" rtlCol="0">
            <a:spAutoFit/>
          </a:bodyPr>
          <a:lstStyle/>
          <a:p>
            <a:pPr marL="12700">
              <a:lnSpc>
                <a:spcPct val="100000"/>
              </a:lnSpc>
              <a:spcBef>
                <a:spcPts val="130"/>
              </a:spcBef>
            </a:pPr>
            <a:r>
              <a:rPr sz="2600" spc="95" dirty="0">
                <a:solidFill>
                  <a:srgbClr val="1A1A1A"/>
                </a:solidFill>
              </a:rPr>
              <a:t>Business</a:t>
            </a:r>
            <a:r>
              <a:rPr sz="2600" spc="-200" dirty="0">
                <a:solidFill>
                  <a:srgbClr val="1A1A1A"/>
                </a:solidFill>
              </a:rPr>
              <a:t> </a:t>
            </a:r>
            <a:r>
              <a:rPr sz="2600" spc="25" dirty="0">
                <a:solidFill>
                  <a:srgbClr val="1A1A1A"/>
                </a:solidFill>
              </a:rPr>
              <a:t>overview</a:t>
            </a:r>
            <a:endParaRPr sz="2600"/>
          </a:p>
        </p:txBody>
      </p:sp>
      <p:sp>
        <p:nvSpPr>
          <p:cNvPr id="3" name="object 3"/>
          <p:cNvSpPr txBox="1">
            <a:spLocks noGrp="1"/>
          </p:cNvSpPr>
          <p:nvPr>
            <p:ph type="body" idx="1"/>
          </p:nvPr>
        </p:nvSpPr>
        <p:spPr>
          <a:prstGeom prst="rect">
            <a:avLst/>
          </a:prstGeom>
        </p:spPr>
        <p:txBody>
          <a:bodyPr vert="horz" wrap="square" lIns="0" tIns="15875" rIns="0" bIns="0" rtlCol="0">
            <a:spAutoFit/>
          </a:bodyPr>
          <a:lstStyle/>
          <a:p>
            <a:pPr marL="368300">
              <a:lnSpc>
                <a:spcPct val="100000"/>
              </a:lnSpc>
              <a:spcBef>
                <a:spcPts val="125"/>
              </a:spcBef>
            </a:pPr>
            <a:r>
              <a:rPr spc="60" dirty="0"/>
              <a:t>C</a:t>
            </a:r>
            <a:r>
              <a:rPr spc="-30" dirty="0"/>
              <a:t>o</a:t>
            </a:r>
            <a:r>
              <a:rPr spc="-145" dirty="0"/>
              <a:t>m</a:t>
            </a:r>
            <a:r>
              <a:rPr spc="-45" dirty="0"/>
              <a:t>p</a:t>
            </a:r>
            <a:r>
              <a:rPr spc="-80" dirty="0"/>
              <a:t>a</a:t>
            </a:r>
            <a:r>
              <a:rPr spc="-55" dirty="0"/>
              <a:t>n</a:t>
            </a:r>
            <a:r>
              <a:rPr spc="-50" dirty="0"/>
              <a:t>y</a:t>
            </a:r>
            <a:r>
              <a:rPr spc="-65" dirty="0"/>
              <a:t> </a:t>
            </a:r>
            <a:r>
              <a:rPr spc="-45" dirty="0"/>
              <a:t>b</a:t>
            </a:r>
            <a:r>
              <a:rPr spc="-80" dirty="0"/>
              <a:t>a</a:t>
            </a:r>
            <a:r>
              <a:rPr spc="-65" dirty="0"/>
              <a:t>c</a:t>
            </a:r>
            <a:r>
              <a:rPr spc="-85" dirty="0"/>
              <a:t>k</a:t>
            </a:r>
            <a:r>
              <a:rPr spc="-110" dirty="0"/>
              <a:t>g</a:t>
            </a:r>
            <a:r>
              <a:rPr spc="-30" dirty="0"/>
              <a:t>ro</a:t>
            </a:r>
            <a:r>
              <a:rPr spc="-55" dirty="0"/>
              <a:t>un</a:t>
            </a:r>
            <a:r>
              <a:rPr spc="-120" dirty="0"/>
              <a:t>d</a:t>
            </a:r>
            <a:r>
              <a:rPr spc="-95" dirty="0"/>
              <a:t>,</a:t>
            </a:r>
            <a:r>
              <a:rPr spc="5" dirty="0"/>
              <a:t> </a:t>
            </a:r>
            <a:r>
              <a:rPr spc="-120" dirty="0"/>
              <a:t>q</a:t>
            </a:r>
            <a:r>
              <a:rPr spc="-55" dirty="0"/>
              <a:t>u</a:t>
            </a:r>
            <a:r>
              <a:rPr spc="-80" dirty="0"/>
              <a:t>al</a:t>
            </a:r>
            <a:r>
              <a:rPr spc="-10" dirty="0"/>
              <a:t>i</a:t>
            </a:r>
            <a:r>
              <a:rPr spc="-75" dirty="0"/>
              <a:t>t</a:t>
            </a:r>
            <a:r>
              <a:rPr spc="-80" dirty="0"/>
              <a:t>a</a:t>
            </a:r>
            <a:r>
              <a:rPr dirty="0"/>
              <a:t>t</a:t>
            </a:r>
            <a:r>
              <a:rPr spc="-80" dirty="0"/>
              <a:t>i</a:t>
            </a:r>
            <a:r>
              <a:rPr spc="-55" dirty="0"/>
              <a:t>ve</a:t>
            </a:r>
            <a:r>
              <a:rPr dirty="0"/>
              <a:t> </a:t>
            </a:r>
            <a:r>
              <a:rPr spc="-150" dirty="0"/>
              <a:t>a</a:t>
            </a:r>
            <a:r>
              <a:rPr spc="-55" dirty="0"/>
              <a:t>n</a:t>
            </a:r>
            <a:r>
              <a:rPr spc="-80" dirty="0"/>
              <a:t>al</a:t>
            </a:r>
            <a:r>
              <a:rPr spc="20" dirty="0"/>
              <a:t>y</a:t>
            </a:r>
            <a:r>
              <a:rPr spc="-125" dirty="0"/>
              <a:t>s</a:t>
            </a:r>
            <a:r>
              <a:rPr spc="-10" dirty="0"/>
              <a:t>i</a:t>
            </a:r>
            <a:r>
              <a:rPr spc="-85" dirty="0"/>
              <a:t>s</a:t>
            </a:r>
          </a:p>
          <a:p>
            <a:pPr marL="825500" marR="5080" indent="-305435">
              <a:lnSpc>
                <a:spcPct val="120100"/>
              </a:lnSpc>
              <a:spcBef>
                <a:spcPts val="1205"/>
              </a:spcBef>
              <a:buChar char="●"/>
              <a:tabLst>
                <a:tab pos="825500" algn="l"/>
                <a:tab pos="826135" algn="l"/>
              </a:tabLst>
            </a:pPr>
            <a:r>
              <a:rPr b="0" spc="90" dirty="0">
                <a:latin typeface="Tahoma"/>
                <a:cs typeface="Tahoma"/>
              </a:rPr>
              <a:t>How</a:t>
            </a:r>
            <a:r>
              <a:rPr b="0" spc="-40" dirty="0">
                <a:latin typeface="Tahoma"/>
                <a:cs typeface="Tahoma"/>
              </a:rPr>
              <a:t> </a:t>
            </a:r>
            <a:r>
              <a:rPr b="0" spc="50" dirty="0">
                <a:latin typeface="Tahoma"/>
                <a:cs typeface="Tahoma"/>
              </a:rPr>
              <a:t>do</a:t>
            </a:r>
            <a:r>
              <a:rPr b="0" spc="-60" dirty="0">
                <a:latin typeface="Tahoma"/>
                <a:cs typeface="Tahoma"/>
              </a:rPr>
              <a:t> </a:t>
            </a:r>
            <a:r>
              <a:rPr b="0" spc="30" dirty="0">
                <a:latin typeface="Tahoma"/>
                <a:cs typeface="Tahoma"/>
              </a:rPr>
              <a:t>they</a:t>
            </a:r>
            <a:r>
              <a:rPr b="0" spc="10" dirty="0">
                <a:latin typeface="Tahoma"/>
                <a:cs typeface="Tahoma"/>
              </a:rPr>
              <a:t> </a:t>
            </a:r>
            <a:r>
              <a:rPr b="0" spc="20" dirty="0">
                <a:latin typeface="Tahoma"/>
                <a:cs typeface="Tahoma"/>
              </a:rPr>
              <a:t>make</a:t>
            </a:r>
            <a:r>
              <a:rPr b="0" spc="-90" dirty="0">
                <a:latin typeface="Tahoma"/>
                <a:cs typeface="Tahoma"/>
              </a:rPr>
              <a:t> </a:t>
            </a:r>
            <a:r>
              <a:rPr b="0" spc="35" dirty="0">
                <a:latin typeface="Tahoma"/>
                <a:cs typeface="Tahoma"/>
              </a:rPr>
              <a:t>money</a:t>
            </a:r>
            <a:r>
              <a:rPr b="0" spc="10" dirty="0">
                <a:latin typeface="Tahoma"/>
                <a:cs typeface="Tahoma"/>
              </a:rPr>
              <a:t> </a:t>
            </a:r>
            <a:r>
              <a:rPr b="0" dirty="0">
                <a:latin typeface="Tahoma"/>
                <a:cs typeface="Tahoma"/>
              </a:rPr>
              <a:t>(sources</a:t>
            </a:r>
            <a:r>
              <a:rPr b="0" spc="-35" dirty="0">
                <a:latin typeface="Tahoma"/>
                <a:cs typeface="Tahoma"/>
              </a:rPr>
              <a:t> </a:t>
            </a:r>
            <a:r>
              <a:rPr b="0" spc="60" dirty="0">
                <a:latin typeface="Tahoma"/>
                <a:cs typeface="Tahoma"/>
              </a:rPr>
              <a:t>of</a:t>
            </a:r>
            <a:r>
              <a:rPr b="0" spc="-15" dirty="0">
                <a:latin typeface="Tahoma"/>
                <a:cs typeface="Tahoma"/>
              </a:rPr>
              <a:t> </a:t>
            </a:r>
            <a:r>
              <a:rPr b="0" spc="-10" dirty="0">
                <a:latin typeface="Tahoma"/>
                <a:cs typeface="Tahoma"/>
              </a:rPr>
              <a:t>revenue):</a:t>
            </a:r>
            <a:r>
              <a:rPr b="0" spc="-30" dirty="0">
                <a:latin typeface="Tahoma"/>
                <a:cs typeface="Tahoma"/>
              </a:rPr>
              <a:t> </a:t>
            </a:r>
            <a:r>
              <a:rPr b="0" spc="50" dirty="0">
                <a:latin typeface="Tahoma"/>
                <a:cs typeface="Tahoma"/>
              </a:rPr>
              <a:t>soft</a:t>
            </a:r>
            <a:r>
              <a:rPr b="0" spc="-90" dirty="0">
                <a:latin typeface="Tahoma"/>
                <a:cs typeface="Tahoma"/>
              </a:rPr>
              <a:t> </a:t>
            </a:r>
            <a:r>
              <a:rPr b="0" spc="25" dirty="0">
                <a:latin typeface="Tahoma"/>
                <a:cs typeface="Tahoma"/>
              </a:rPr>
              <a:t>drinks</a:t>
            </a:r>
            <a:r>
              <a:rPr b="0" spc="-45" dirty="0">
                <a:latin typeface="Tahoma"/>
                <a:cs typeface="Tahoma"/>
              </a:rPr>
              <a:t> </a:t>
            </a:r>
            <a:r>
              <a:rPr b="0" spc="-170" dirty="0">
                <a:latin typeface="Tahoma"/>
                <a:cs typeface="Tahoma"/>
              </a:rPr>
              <a:t>+</a:t>
            </a:r>
            <a:r>
              <a:rPr b="0" spc="-75" dirty="0">
                <a:latin typeface="Tahoma"/>
                <a:cs typeface="Tahoma"/>
              </a:rPr>
              <a:t> </a:t>
            </a:r>
            <a:r>
              <a:rPr b="0" spc="20" dirty="0">
                <a:latin typeface="Tahoma"/>
                <a:cs typeface="Tahoma"/>
              </a:rPr>
              <a:t>has</a:t>
            </a:r>
            <a:r>
              <a:rPr b="0" spc="-45" dirty="0">
                <a:latin typeface="Tahoma"/>
                <a:cs typeface="Tahoma"/>
              </a:rPr>
              <a:t> </a:t>
            </a:r>
            <a:r>
              <a:rPr b="0" spc="15" dirty="0">
                <a:latin typeface="Tahoma"/>
                <a:cs typeface="Tahoma"/>
              </a:rPr>
              <a:t>expanded</a:t>
            </a:r>
            <a:r>
              <a:rPr b="0" spc="25" dirty="0">
                <a:latin typeface="Tahoma"/>
                <a:cs typeface="Tahoma"/>
              </a:rPr>
              <a:t> </a:t>
            </a:r>
            <a:r>
              <a:rPr b="0" spc="10" dirty="0">
                <a:latin typeface="Tahoma"/>
                <a:cs typeface="Tahoma"/>
              </a:rPr>
              <a:t>its</a:t>
            </a:r>
            <a:r>
              <a:rPr b="0" spc="-40" dirty="0">
                <a:latin typeface="Tahoma"/>
                <a:cs typeface="Tahoma"/>
              </a:rPr>
              <a:t> </a:t>
            </a:r>
            <a:r>
              <a:rPr b="0" spc="40" dirty="0">
                <a:latin typeface="Tahoma"/>
                <a:cs typeface="Tahoma"/>
              </a:rPr>
              <a:t>portfolio</a:t>
            </a:r>
            <a:r>
              <a:rPr b="0" spc="-60" dirty="0">
                <a:latin typeface="Tahoma"/>
                <a:cs typeface="Tahoma"/>
              </a:rPr>
              <a:t> </a:t>
            </a:r>
            <a:r>
              <a:rPr b="0" spc="75" dirty="0">
                <a:latin typeface="Tahoma"/>
                <a:cs typeface="Tahoma"/>
              </a:rPr>
              <a:t>to</a:t>
            </a:r>
            <a:r>
              <a:rPr b="0" spc="-65" dirty="0">
                <a:latin typeface="Tahoma"/>
                <a:cs typeface="Tahoma"/>
              </a:rPr>
              <a:t> </a:t>
            </a:r>
            <a:r>
              <a:rPr b="0" spc="30" dirty="0">
                <a:latin typeface="Tahoma"/>
                <a:cs typeface="Tahoma"/>
              </a:rPr>
              <a:t>include </a:t>
            </a:r>
            <a:r>
              <a:rPr b="0" spc="-375" dirty="0">
                <a:latin typeface="Tahoma"/>
                <a:cs typeface="Tahoma"/>
              </a:rPr>
              <a:t> </a:t>
            </a:r>
            <a:r>
              <a:rPr b="0" spc="25" dirty="0">
                <a:latin typeface="Tahoma"/>
                <a:cs typeface="Tahoma"/>
              </a:rPr>
              <a:t>healthier</a:t>
            </a:r>
            <a:r>
              <a:rPr b="0" spc="-30" dirty="0">
                <a:latin typeface="Tahoma"/>
                <a:cs typeface="Tahoma"/>
              </a:rPr>
              <a:t> </a:t>
            </a:r>
            <a:r>
              <a:rPr b="0" spc="20" dirty="0">
                <a:latin typeface="Tahoma"/>
                <a:cs typeface="Tahoma"/>
              </a:rPr>
              <a:t>options,</a:t>
            </a:r>
            <a:r>
              <a:rPr b="0" spc="-80" dirty="0">
                <a:latin typeface="Tahoma"/>
                <a:cs typeface="Tahoma"/>
              </a:rPr>
              <a:t> </a:t>
            </a:r>
            <a:r>
              <a:rPr b="0" spc="10" dirty="0">
                <a:latin typeface="Tahoma"/>
                <a:cs typeface="Tahoma"/>
              </a:rPr>
              <a:t>global</a:t>
            </a:r>
            <a:r>
              <a:rPr b="0" spc="-15" dirty="0">
                <a:latin typeface="Tahoma"/>
                <a:cs typeface="Tahoma"/>
              </a:rPr>
              <a:t> </a:t>
            </a:r>
            <a:r>
              <a:rPr b="0" spc="30" dirty="0">
                <a:latin typeface="Tahoma"/>
                <a:cs typeface="Tahoma"/>
              </a:rPr>
              <a:t>distribution</a:t>
            </a:r>
          </a:p>
          <a:p>
            <a:pPr marL="825500" indent="-305435">
              <a:lnSpc>
                <a:spcPct val="100000"/>
              </a:lnSpc>
              <a:spcBef>
                <a:spcPts val="305"/>
              </a:spcBef>
              <a:buChar char="●"/>
              <a:tabLst>
                <a:tab pos="825500" algn="l"/>
                <a:tab pos="826135" algn="l"/>
              </a:tabLst>
            </a:pPr>
            <a:r>
              <a:rPr b="0" spc="105" dirty="0">
                <a:latin typeface="Tahoma"/>
                <a:cs typeface="Tahoma"/>
              </a:rPr>
              <a:t>Who</a:t>
            </a:r>
            <a:r>
              <a:rPr b="0" spc="-60" dirty="0">
                <a:latin typeface="Tahoma"/>
                <a:cs typeface="Tahoma"/>
              </a:rPr>
              <a:t> </a:t>
            </a:r>
            <a:r>
              <a:rPr b="0" spc="10" dirty="0">
                <a:latin typeface="Tahoma"/>
                <a:cs typeface="Tahoma"/>
              </a:rPr>
              <a:t>are</a:t>
            </a:r>
            <a:r>
              <a:rPr b="0" spc="-5" dirty="0">
                <a:latin typeface="Tahoma"/>
                <a:cs typeface="Tahoma"/>
              </a:rPr>
              <a:t> </a:t>
            </a:r>
            <a:r>
              <a:rPr b="0" spc="25" dirty="0">
                <a:latin typeface="Tahoma"/>
                <a:cs typeface="Tahoma"/>
              </a:rPr>
              <a:t>their</a:t>
            </a:r>
            <a:r>
              <a:rPr b="0" spc="-20" dirty="0">
                <a:latin typeface="Tahoma"/>
                <a:cs typeface="Tahoma"/>
              </a:rPr>
              <a:t> </a:t>
            </a:r>
            <a:r>
              <a:rPr b="0" spc="15" dirty="0">
                <a:latin typeface="Tahoma"/>
                <a:cs typeface="Tahoma"/>
              </a:rPr>
              <a:t>customers:</a:t>
            </a:r>
            <a:r>
              <a:rPr b="0" spc="-100" dirty="0">
                <a:latin typeface="Tahoma"/>
                <a:cs typeface="Tahoma"/>
              </a:rPr>
              <a:t> </a:t>
            </a:r>
            <a:r>
              <a:rPr b="0" spc="20" dirty="0">
                <a:latin typeface="Tahoma"/>
                <a:cs typeface="Tahoma"/>
              </a:rPr>
              <a:t>individuals</a:t>
            </a:r>
            <a:r>
              <a:rPr b="0" spc="-30" dirty="0">
                <a:latin typeface="Tahoma"/>
                <a:cs typeface="Tahoma"/>
              </a:rPr>
              <a:t> </a:t>
            </a:r>
            <a:r>
              <a:rPr b="0" spc="30" dirty="0">
                <a:latin typeface="Tahoma"/>
                <a:cs typeface="Tahoma"/>
              </a:rPr>
              <a:t>and</a:t>
            </a:r>
            <a:r>
              <a:rPr b="0" spc="-45" dirty="0">
                <a:latin typeface="Tahoma"/>
                <a:cs typeface="Tahoma"/>
              </a:rPr>
              <a:t> </a:t>
            </a:r>
            <a:r>
              <a:rPr b="0" spc="25" dirty="0">
                <a:latin typeface="Tahoma"/>
                <a:cs typeface="Tahoma"/>
              </a:rPr>
              <a:t>families</a:t>
            </a:r>
            <a:r>
              <a:rPr b="0" spc="-40" dirty="0">
                <a:latin typeface="Tahoma"/>
                <a:cs typeface="Tahoma"/>
              </a:rPr>
              <a:t> </a:t>
            </a:r>
            <a:r>
              <a:rPr b="0" spc="10" dirty="0">
                <a:latin typeface="Tahoma"/>
                <a:cs typeface="Tahoma"/>
              </a:rPr>
              <a:t>across</a:t>
            </a:r>
            <a:r>
              <a:rPr b="0" spc="-30" dirty="0">
                <a:latin typeface="Tahoma"/>
                <a:cs typeface="Tahoma"/>
              </a:rPr>
              <a:t> </a:t>
            </a:r>
            <a:r>
              <a:rPr b="0" spc="25" dirty="0">
                <a:latin typeface="Tahoma"/>
                <a:cs typeface="Tahoma"/>
              </a:rPr>
              <a:t>various</a:t>
            </a:r>
            <a:r>
              <a:rPr b="0" spc="-35" dirty="0">
                <a:latin typeface="Tahoma"/>
                <a:cs typeface="Tahoma"/>
              </a:rPr>
              <a:t> </a:t>
            </a:r>
            <a:r>
              <a:rPr b="0" spc="10" dirty="0">
                <a:latin typeface="Tahoma"/>
                <a:cs typeface="Tahoma"/>
              </a:rPr>
              <a:t>demographics,</a:t>
            </a:r>
            <a:r>
              <a:rPr b="0" spc="5" dirty="0">
                <a:latin typeface="Tahoma"/>
                <a:cs typeface="Tahoma"/>
              </a:rPr>
              <a:t> </a:t>
            </a:r>
            <a:r>
              <a:rPr b="0" spc="15" dirty="0">
                <a:latin typeface="Tahoma"/>
                <a:cs typeface="Tahoma"/>
              </a:rPr>
              <a:t>sold</a:t>
            </a:r>
            <a:r>
              <a:rPr b="0" spc="-50" dirty="0">
                <a:latin typeface="Tahoma"/>
                <a:cs typeface="Tahoma"/>
              </a:rPr>
              <a:t> </a:t>
            </a:r>
            <a:r>
              <a:rPr b="0" spc="25" dirty="0">
                <a:latin typeface="Tahoma"/>
                <a:cs typeface="Tahoma"/>
              </a:rPr>
              <a:t>through</a:t>
            </a:r>
          </a:p>
          <a:p>
            <a:pPr marL="825500">
              <a:lnSpc>
                <a:spcPct val="100000"/>
              </a:lnSpc>
              <a:spcBef>
                <a:spcPts val="305"/>
              </a:spcBef>
            </a:pPr>
            <a:r>
              <a:rPr b="0" spc="25" dirty="0">
                <a:latin typeface="Tahoma"/>
                <a:cs typeface="Tahoma"/>
              </a:rPr>
              <a:t>various</a:t>
            </a:r>
            <a:r>
              <a:rPr b="0" spc="-30" dirty="0">
                <a:latin typeface="Tahoma"/>
                <a:cs typeface="Tahoma"/>
              </a:rPr>
              <a:t> </a:t>
            </a:r>
            <a:r>
              <a:rPr b="0" spc="15" dirty="0">
                <a:latin typeface="Tahoma"/>
                <a:cs typeface="Tahoma"/>
              </a:rPr>
              <a:t>retail</a:t>
            </a:r>
            <a:r>
              <a:rPr b="0" dirty="0">
                <a:latin typeface="Tahoma"/>
                <a:cs typeface="Tahoma"/>
              </a:rPr>
              <a:t> </a:t>
            </a:r>
            <a:r>
              <a:rPr b="0" spc="15" dirty="0">
                <a:latin typeface="Tahoma"/>
                <a:cs typeface="Tahoma"/>
              </a:rPr>
              <a:t>channels</a:t>
            </a:r>
            <a:r>
              <a:rPr b="0" spc="-25" dirty="0">
                <a:latin typeface="Tahoma"/>
                <a:cs typeface="Tahoma"/>
              </a:rPr>
              <a:t> </a:t>
            </a:r>
            <a:r>
              <a:rPr b="0" dirty="0">
                <a:latin typeface="Tahoma"/>
                <a:cs typeface="Tahoma"/>
              </a:rPr>
              <a:t>(supermarkets,</a:t>
            </a:r>
            <a:r>
              <a:rPr b="0" spc="15" dirty="0">
                <a:latin typeface="Tahoma"/>
                <a:cs typeface="Tahoma"/>
              </a:rPr>
              <a:t> </a:t>
            </a:r>
            <a:r>
              <a:rPr b="0" spc="10" dirty="0">
                <a:latin typeface="Tahoma"/>
                <a:cs typeface="Tahoma"/>
              </a:rPr>
              <a:t>households,</a:t>
            </a:r>
            <a:r>
              <a:rPr b="0" spc="15" dirty="0">
                <a:latin typeface="Tahoma"/>
                <a:cs typeface="Tahoma"/>
              </a:rPr>
              <a:t> </a:t>
            </a:r>
            <a:r>
              <a:rPr b="0" spc="10" dirty="0">
                <a:latin typeface="Tahoma"/>
                <a:cs typeface="Tahoma"/>
              </a:rPr>
              <a:t>restaurants,</a:t>
            </a:r>
            <a:r>
              <a:rPr b="0" spc="-65" dirty="0">
                <a:latin typeface="Tahoma"/>
                <a:cs typeface="Tahoma"/>
              </a:rPr>
              <a:t> </a:t>
            </a:r>
            <a:r>
              <a:rPr b="0" spc="35" dirty="0">
                <a:latin typeface="Tahoma"/>
                <a:cs typeface="Tahoma"/>
              </a:rPr>
              <a:t>convenience</a:t>
            </a:r>
            <a:r>
              <a:rPr b="0" dirty="0">
                <a:latin typeface="Tahoma"/>
                <a:cs typeface="Tahoma"/>
              </a:rPr>
              <a:t> </a:t>
            </a:r>
            <a:r>
              <a:rPr b="0" spc="-20" dirty="0">
                <a:latin typeface="Tahoma"/>
                <a:cs typeface="Tahoma"/>
              </a:rPr>
              <a:t>stores,…)</a:t>
            </a:r>
          </a:p>
          <a:p>
            <a:pPr marL="825500" marR="370840" indent="-305435">
              <a:lnSpc>
                <a:spcPct val="115100"/>
              </a:lnSpc>
              <a:spcBef>
                <a:spcPts val="75"/>
              </a:spcBef>
              <a:buChar char="●"/>
              <a:tabLst>
                <a:tab pos="825500" algn="l"/>
                <a:tab pos="826135" algn="l"/>
              </a:tabLst>
            </a:pPr>
            <a:r>
              <a:rPr b="0" spc="25" dirty="0">
                <a:latin typeface="Tahoma"/>
                <a:cs typeface="Tahoma"/>
              </a:rPr>
              <a:t>Business</a:t>
            </a:r>
            <a:r>
              <a:rPr b="0" spc="-40" dirty="0">
                <a:latin typeface="Tahoma"/>
                <a:cs typeface="Tahoma"/>
              </a:rPr>
              <a:t> </a:t>
            </a:r>
            <a:r>
              <a:rPr b="0" spc="5" dirty="0">
                <a:latin typeface="Tahoma"/>
                <a:cs typeface="Tahoma"/>
              </a:rPr>
              <a:t>model:</a:t>
            </a:r>
            <a:r>
              <a:rPr b="0" spc="-30" dirty="0">
                <a:latin typeface="Tahoma"/>
                <a:cs typeface="Tahoma"/>
              </a:rPr>
              <a:t> </a:t>
            </a:r>
            <a:r>
              <a:rPr b="0" spc="25" dirty="0">
                <a:latin typeface="Tahoma"/>
                <a:cs typeface="Tahoma"/>
              </a:rPr>
              <a:t>operates</a:t>
            </a:r>
            <a:r>
              <a:rPr b="0" spc="-35" dirty="0">
                <a:latin typeface="Tahoma"/>
                <a:cs typeface="Tahoma"/>
              </a:rPr>
              <a:t> </a:t>
            </a:r>
            <a:r>
              <a:rPr b="0" spc="25" dirty="0">
                <a:latin typeface="Tahoma"/>
                <a:cs typeface="Tahoma"/>
              </a:rPr>
              <a:t>through</a:t>
            </a:r>
            <a:r>
              <a:rPr b="0" spc="-50" dirty="0">
                <a:latin typeface="Tahoma"/>
                <a:cs typeface="Tahoma"/>
              </a:rPr>
              <a:t> </a:t>
            </a:r>
            <a:r>
              <a:rPr b="0" spc="-25" dirty="0">
                <a:latin typeface="Tahoma"/>
                <a:cs typeface="Tahoma"/>
              </a:rPr>
              <a:t>a</a:t>
            </a:r>
            <a:r>
              <a:rPr b="0" spc="-45" dirty="0">
                <a:latin typeface="Tahoma"/>
                <a:cs typeface="Tahoma"/>
              </a:rPr>
              <a:t> </a:t>
            </a:r>
            <a:r>
              <a:rPr b="0" spc="20" dirty="0">
                <a:latin typeface="Tahoma"/>
                <a:cs typeface="Tahoma"/>
              </a:rPr>
              <a:t>franchise</a:t>
            </a:r>
            <a:r>
              <a:rPr b="0" spc="-10" dirty="0">
                <a:latin typeface="Tahoma"/>
                <a:cs typeface="Tahoma"/>
              </a:rPr>
              <a:t> </a:t>
            </a:r>
            <a:r>
              <a:rPr b="0" spc="10" dirty="0">
                <a:latin typeface="Tahoma"/>
                <a:cs typeface="Tahoma"/>
              </a:rPr>
              <a:t>system,</a:t>
            </a:r>
            <a:r>
              <a:rPr b="0" spc="-75" dirty="0">
                <a:latin typeface="Tahoma"/>
                <a:cs typeface="Tahoma"/>
              </a:rPr>
              <a:t> </a:t>
            </a:r>
            <a:r>
              <a:rPr b="0" spc="40" dirty="0">
                <a:latin typeface="Tahoma"/>
                <a:cs typeface="Tahoma"/>
              </a:rPr>
              <a:t>where</a:t>
            </a:r>
            <a:r>
              <a:rPr b="0" spc="-5" dirty="0">
                <a:latin typeface="Tahoma"/>
                <a:cs typeface="Tahoma"/>
              </a:rPr>
              <a:t> </a:t>
            </a:r>
            <a:r>
              <a:rPr b="0" spc="25" dirty="0">
                <a:latin typeface="Tahoma"/>
                <a:cs typeface="Tahoma"/>
              </a:rPr>
              <a:t>it</a:t>
            </a:r>
            <a:r>
              <a:rPr b="0" spc="-90" dirty="0">
                <a:latin typeface="Tahoma"/>
                <a:cs typeface="Tahoma"/>
              </a:rPr>
              <a:t> </a:t>
            </a:r>
            <a:r>
              <a:rPr b="0" spc="15" dirty="0">
                <a:latin typeface="Tahoma"/>
                <a:cs typeface="Tahoma"/>
              </a:rPr>
              <a:t>sells</a:t>
            </a:r>
            <a:r>
              <a:rPr b="0" spc="-35" dirty="0">
                <a:latin typeface="Tahoma"/>
                <a:cs typeface="Tahoma"/>
              </a:rPr>
              <a:t> </a:t>
            </a:r>
            <a:r>
              <a:rPr b="0" spc="35" dirty="0">
                <a:latin typeface="Tahoma"/>
                <a:cs typeface="Tahoma"/>
              </a:rPr>
              <a:t>concentrate</a:t>
            </a:r>
            <a:r>
              <a:rPr b="0" spc="-85" dirty="0">
                <a:latin typeface="Tahoma"/>
                <a:cs typeface="Tahoma"/>
              </a:rPr>
              <a:t> </a:t>
            </a:r>
            <a:r>
              <a:rPr b="0" spc="30" dirty="0">
                <a:latin typeface="Tahoma"/>
                <a:cs typeface="Tahoma"/>
              </a:rPr>
              <a:t>and</a:t>
            </a:r>
            <a:r>
              <a:rPr b="0" spc="-50" dirty="0">
                <a:latin typeface="Tahoma"/>
                <a:cs typeface="Tahoma"/>
              </a:rPr>
              <a:t> </a:t>
            </a:r>
            <a:r>
              <a:rPr b="0" spc="15" dirty="0">
                <a:latin typeface="Tahoma"/>
                <a:cs typeface="Tahoma"/>
              </a:rPr>
              <a:t>syrup</a:t>
            </a:r>
            <a:r>
              <a:rPr b="0" spc="25" dirty="0">
                <a:latin typeface="Tahoma"/>
                <a:cs typeface="Tahoma"/>
              </a:rPr>
              <a:t> </a:t>
            </a:r>
            <a:r>
              <a:rPr b="0" spc="35" dirty="0">
                <a:latin typeface="Tahoma"/>
                <a:cs typeface="Tahoma"/>
              </a:rPr>
              <a:t>to </a:t>
            </a:r>
            <a:r>
              <a:rPr b="0" spc="-375" dirty="0">
                <a:latin typeface="Tahoma"/>
                <a:cs typeface="Tahoma"/>
              </a:rPr>
              <a:t> </a:t>
            </a:r>
            <a:r>
              <a:rPr b="0" spc="30" dirty="0">
                <a:latin typeface="Tahoma"/>
                <a:cs typeface="Tahoma"/>
              </a:rPr>
              <a:t>bottling</a:t>
            </a:r>
            <a:r>
              <a:rPr b="0" spc="-80" dirty="0">
                <a:latin typeface="Tahoma"/>
                <a:cs typeface="Tahoma"/>
              </a:rPr>
              <a:t> </a:t>
            </a:r>
            <a:r>
              <a:rPr b="0" spc="10" dirty="0">
                <a:latin typeface="Tahoma"/>
                <a:cs typeface="Tahoma"/>
              </a:rPr>
              <a:t>partners,</a:t>
            </a:r>
            <a:r>
              <a:rPr b="0" spc="-75" dirty="0">
                <a:latin typeface="Tahoma"/>
                <a:cs typeface="Tahoma"/>
              </a:rPr>
              <a:t> </a:t>
            </a:r>
            <a:r>
              <a:rPr b="0" spc="70" dirty="0">
                <a:latin typeface="Tahoma"/>
                <a:cs typeface="Tahoma"/>
              </a:rPr>
              <a:t>who</a:t>
            </a:r>
            <a:r>
              <a:rPr b="0" spc="-65" dirty="0">
                <a:latin typeface="Tahoma"/>
                <a:cs typeface="Tahoma"/>
              </a:rPr>
              <a:t> </a:t>
            </a:r>
            <a:r>
              <a:rPr b="0" spc="25" dirty="0">
                <a:latin typeface="Tahoma"/>
                <a:cs typeface="Tahoma"/>
              </a:rPr>
              <a:t>then</a:t>
            </a:r>
            <a:r>
              <a:rPr b="0" spc="-45" dirty="0">
                <a:latin typeface="Tahoma"/>
                <a:cs typeface="Tahoma"/>
              </a:rPr>
              <a:t> </a:t>
            </a:r>
            <a:r>
              <a:rPr b="0" spc="20" dirty="0">
                <a:latin typeface="Tahoma"/>
                <a:cs typeface="Tahoma"/>
              </a:rPr>
              <a:t>produce,</a:t>
            </a:r>
            <a:r>
              <a:rPr b="0" spc="-75" dirty="0">
                <a:latin typeface="Tahoma"/>
                <a:cs typeface="Tahoma"/>
              </a:rPr>
              <a:t> </a:t>
            </a:r>
            <a:r>
              <a:rPr b="0" spc="10" dirty="0">
                <a:latin typeface="Tahoma"/>
                <a:cs typeface="Tahoma"/>
              </a:rPr>
              <a:t>package,</a:t>
            </a:r>
            <a:r>
              <a:rPr b="0" spc="-70" dirty="0">
                <a:latin typeface="Tahoma"/>
                <a:cs typeface="Tahoma"/>
              </a:rPr>
              <a:t> </a:t>
            </a:r>
            <a:r>
              <a:rPr b="0" spc="30" dirty="0">
                <a:latin typeface="Tahoma"/>
                <a:cs typeface="Tahoma"/>
              </a:rPr>
              <a:t>and</a:t>
            </a:r>
            <a:r>
              <a:rPr b="0" spc="-55" dirty="0">
                <a:latin typeface="Tahoma"/>
                <a:cs typeface="Tahoma"/>
              </a:rPr>
              <a:t> </a:t>
            </a:r>
            <a:r>
              <a:rPr b="0" spc="20" dirty="0">
                <a:latin typeface="Tahoma"/>
                <a:cs typeface="Tahoma"/>
              </a:rPr>
              <a:t>distribute</a:t>
            </a:r>
            <a:r>
              <a:rPr b="0" spc="-10" dirty="0">
                <a:latin typeface="Tahoma"/>
                <a:cs typeface="Tahoma"/>
              </a:rPr>
              <a:t> </a:t>
            </a:r>
            <a:r>
              <a:rPr b="0" spc="30" dirty="0">
                <a:latin typeface="Tahoma"/>
                <a:cs typeface="Tahoma"/>
              </a:rPr>
              <a:t>the</a:t>
            </a:r>
            <a:r>
              <a:rPr b="0" spc="-90" dirty="0">
                <a:latin typeface="Tahoma"/>
                <a:cs typeface="Tahoma"/>
              </a:rPr>
              <a:t> </a:t>
            </a:r>
            <a:r>
              <a:rPr b="0" spc="30" dirty="0">
                <a:latin typeface="Tahoma"/>
                <a:cs typeface="Tahoma"/>
              </a:rPr>
              <a:t>finished</a:t>
            </a:r>
            <a:r>
              <a:rPr b="0" spc="-45" dirty="0">
                <a:latin typeface="Tahoma"/>
                <a:cs typeface="Tahoma"/>
              </a:rPr>
              <a:t> </a:t>
            </a:r>
            <a:r>
              <a:rPr b="0" spc="20" dirty="0">
                <a:latin typeface="Tahoma"/>
                <a:cs typeface="Tahoma"/>
              </a:rPr>
              <a:t>products.</a:t>
            </a:r>
          </a:p>
          <a:p>
            <a:pPr marL="825500" indent="-305435">
              <a:lnSpc>
                <a:spcPct val="100000"/>
              </a:lnSpc>
              <a:spcBef>
                <a:spcPts val="305"/>
              </a:spcBef>
              <a:buChar char="●"/>
              <a:tabLst>
                <a:tab pos="825500" algn="l"/>
                <a:tab pos="826135" algn="l"/>
              </a:tabLst>
            </a:pPr>
            <a:r>
              <a:rPr b="0" spc="30" dirty="0">
                <a:latin typeface="Tahoma"/>
                <a:cs typeface="Tahoma"/>
              </a:rPr>
              <a:t>positive/negative</a:t>
            </a:r>
            <a:r>
              <a:rPr b="0" spc="-50" dirty="0">
                <a:latin typeface="Tahoma"/>
                <a:cs typeface="Tahoma"/>
              </a:rPr>
              <a:t> </a:t>
            </a:r>
            <a:r>
              <a:rPr b="0" spc="5" dirty="0">
                <a:latin typeface="Tahoma"/>
                <a:cs typeface="Tahoma"/>
              </a:rPr>
              <a:t>news:</a:t>
            </a:r>
          </a:p>
          <a:p>
            <a:pPr marL="825500" marR="329565" indent="-305435">
              <a:lnSpc>
                <a:spcPct val="120200"/>
              </a:lnSpc>
              <a:buChar char="●"/>
              <a:tabLst>
                <a:tab pos="825500" algn="l"/>
                <a:tab pos="826135" algn="l"/>
              </a:tabLst>
            </a:pPr>
            <a:r>
              <a:rPr b="0" spc="55" dirty="0">
                <a:latin typeface="Tahoma"/>
                <a:cs typeface="Tahoma"/>
              </a:rPr>
              <a:t>Other </a:t>
            </a:r>
            <a:r>
              <a:rPr b="0" spc="25" dirty="0">
                <a:latin typeface="Tahoma"/>
                <a:cs typeface="Tahoma"/>
              </a:rPr>
              <a:t>factors </a:t>
            </a:r>
            <a:r>
              <a:rPr b="0" spc="35" dirty="0">
                <a:latin typeface="Tahoma"/>
                <a:cs typeface="Tahoma"/>
              </a:rPr>
              <a:t>to </a:t>
            </a:r>
            <a:r>
              <a:rPr b="0" spc="5" dirty="0">
                <a:latin typeface="Tahoma"/>
                <a:cs typeface="Tahoma"/>
              </a:rPr>
              <a:t>consider: </a:t>
            </a:r>
            <a:r>
              <a:rPr b="0" dirty="0">
                <a:latin typeface="Tahoma"/>
                <a:cs typeface="Tahoma"/>
              </a:rPr>
              <a:t>m&amp;a, </a:t>
            </a:r>
            <a:r>
              <a:rPr b="0" spc="10" dirty="0">
                <a:latin typeface="Tahoma"/>
                <a:cs typeface="Tahoma"/>
              </a:rPr>
              <a:t>dividends, </a:t>
            </a:r>
            <a:r>
              <a:rPr b="0" spc="5" dirty="0">
                <a:latin typeface="Tahoma"/>
                <a:cs typeface="Tahoma"/>
              </a:rPr>
              <a:t>regulation: </a:t>
            </a:r>
            <a:r>
              <a:rPr b="0" spc="30" dirty="0">
                <a:latin typeface="Tahoma"/>
                <a:cs typeface="Tahoma"/>
              </a:rPr>
              <a:t>actively </a:t>
            </a:r>
            <a:r>
              <a:rPr b="0" spc="5" dirty="0">
                <a:latin typeface="Tahoma"/>
                <a:cs typeface="Tahoma"/>
              </a:rPr>
              <a:t>seeks </a:t>
            </a:r>
            <a:r>
              <a:rPr b="0" spc="155" dirty="0">
                <a:latin typeface="Tahoma"/>
                <a:cs typeface="Tahoma"/>
              </a:rPr>
              <a:t>M&amp;A </a:t>
            </a:r>
            <a:r>
              <a:rPr b="0" spc="25" dirty="0">
                <a:latin typeface="Tahoma"/>
                <a:cs typeface="Tahoma"/>
              </a:rPr>
              <a:t>opportunities </a:t>
            </a:r>
            <a:r>
              <a:rPr b="0" spc="75" dirty="0">
                <a:latin typeface="Tahoma"/>
                <a:cs typeface="Tahoma"/>
              </a:rPr>
              <a:t>to </a:t>
            </a:r>
            <a:r>
              <a:rPr b="0" spc="80" dirty="0">
                <a:latin typeface="Tahoma"/>
                <a:cs typeface="Tahoma"/>
              </a:rPr>
              <a:t> </a:t>
            </a:r>
            <a:r>
              <a:rPr b="0" spc="30" dirty="0">
                <a:latin typeface="Tahoma"/>
                <a:cs typeface="Tahoma"/>
              </a:rPr>
              <a:t>diversify</a:t>
            </a:r>
            <a:r>
              <a:rPr b="0" spc="5" dirty="0">
                <a:latin typeface="Tahoma"/>
                <a:cs typeface="Tahoma"/>
              </a:rPr>
              <a:t> </a:t>
            </a:r>
            <a:r>
              <a:rPr b="0" spc="10" dirty="0">
                <a:latin typeface="Tahoma"/>
                <a:cs typeface="Tahoma"/>
              </a:rPr>
              <a:t>its</a:t>
            </a:r>
            <a:r>
              <a:rPr b="0" spc="-40" dirty="0">
                <a:latin typeface="Tahoma"/>
                <a:cs typeface="Tahoma"/>
              </a:rPr>
              <a:t> </a:t>
            </a:r>
            <a:r>
              <a:rPr b="0" spc="40" dirty="0">
                <a:latin typeface="Tahoma"/>
                <a:cs typeface="Tahoma"/>
              </a:rPr>
              <a:t>portfolio</a:t>
            </a:r>
            <a:r>
              <a:rPr b="0" spc="-60" dirty="0">
                <a:latin typeface="Tahoma"/>
                <a:cs typeface="Tahoma"/>
              </a:rPr>
              <a:t> </a:t>
            </a:r>
            <a:r>
              <a:rPr b="0" spc="30" dirty="0">
                <a:latin typeface="Tahoma"/>
                <a:cs typeface="Tahoma"/>
              </a:rPr>
              <a:t>and</a:t>
            </a:r>
            <a:r>
              <a:rPr b="0" spc="-50" dirty="0">
                <a:latin typeface="Tahoma"/>
                <a:cs typeface="Tahoma"/>
              </a:rPr>
              <a:t> </a:t>
            </a:r>
            <a:r>
              <a:rPr b="0" spc="20" dirty="0">
                <a:latin typeface="Tahoma"/>
                <a:cs typeface="Tahoma"/>
              </a:rPr>
              <a:t>enhance</a:t>
            </a:r>
            <a:r>
              <a:rPr b="0" spc="-10" dirty="0">
                <a:latin typeface="Tahoma"/>
                <a:cs typeface="Tahoma"/>
              </a:rPr>
              <a:t> </a:t>
            </a:r>
            <a:r>
              <a:rPr b="0" spc="20" dirty="0">
                <a:latin typeface="Tahoma"/>
                <a:cs typeface="Tahoma"/>
              </a:rPr>
              <a:t>market</a:t>
            </a:r>
            <a:r>
              <a:rPr b="0" spc="-15" dirty="0">
                <a:latin typeface="Tahoma"/>
                <a:cs typeface="Tahoma"/>
              </a:rPr>
              <a:t> </a:t>
            </a:r>
            <a:r>
              <a:rPr b="0" spc="15" dirty="0">
                <a:latin typeface="Tahoma"/>
                <a:cs typeface="Tahoma"/>
              </a:rPr>
              <a:t>presence,</a:t>
            </a:r>
            <a:r>
              <a:rPr b="0" spc="-70" dirty="0">
                <a:latin typeface="Tahoma"/>
                <a:cs typeface="Tahoma"/>
              </a:rPr>
              <a:t> </a:t>
            </a:r>
            <a:r>
              <a:rPr b="0" spc="45" dirty="0">
                <a:latin typeface="Tahoma"/>
                <a:cs typeface="Tahoma"/>
              </a:rPr>
              <a:t>known</a:t>
            </a:r>
            <a:r>
              <a:rPr b="0" spc="-45" dirty="0">
                <a:latin typeface="Tahoma"/>
                <a:cs typeface="Tahoma"/>
              </a:rPr>
              <a:t> </a:t>
            </a:r>
            <a:r>
              <a:rPr b="0" spc="45" dirty="0">
                <a:latin typeface="Tahoma"/>
                <a:cs typeface="Tahoma"/>
              </a:rPr>
              <a:t>for</a:t>
            </a:r>
            <a:r>
              <a:rPr b="0" spc="-25" dirty="0">
                <a:latin typeface="Tahoma"/>
                <a:cs typeface="Tahoma"/>
              </a:rPr>
              <a:t> </a:t>
            </a:r>
            <a:r>
              <a:rPr b="0" spc="10" dirty="0">
                <a:latin typeface="Tahoma"/>
                <a:cs typeface="Tahoma"/>
              </a:rPr>
              <a:t>its</a:t>
            </a:r>
            <a:r>
              <a:rPr b="0" spc="-35" dirty="0">
                <a:latin typeface="Tahoma"/>
                <a:cs typeface="Tahoma"/>
              </a:rPr>
              <a:t> </a:t>
            </a:r>
            <a:r>
              <a:rPr b="0" spc="25" dirty="0">
                <a:latin typeface="Tahoma"/>
                <a:cs typeface="Tahoma"/>
              </a:rPr>
              <a:t>reliable</a:t>
            </a:r>
            <a:r>
              <a:rPr b="0" spc="-85" dirty="0">
                <a:latin typeface="Tahoma"/>
                <a:cs typeface="Tahoma"/>
              </a:rPr>
              <a:t> </a:t>
            </a:r>
            <a:r>
              <a:rPr b="0" spc="35" dirty="0">
                <a:latin typeface="Tahoma"/>
                <a:cs typeface="Tahoma"/>
              </a:rPr>
              <a:t>dividend</a:t>
            </a:r>
            <a:r>
              <a:rPr b="0" spc="-55" dirty="0">
                <a:latin typeface="Tahoma"/>
                <a:cs typeface="Tahoma"/>
              </a:rPr>
              <a:t> </a:t>
            </a:r>
            <a:r>
              <a:rPr b="0" spc="10" dirty="0">
                <a:latin typeface="Tahoma"/>
                <a:cs typeface="Tahoma"/>
              </a:rPr>
              <a:t>payments,</a:t>
            </a:r>
          </a:p>
          <a:p>
            <a:pPr marL="825500">
              <a:lnSpc>
                <a:spcPct val="100000"/>
              </a:lnSpc>
              <a:spcBef>
                <a:spcPts val="305"/>
              </a:spcBef>
            </a:pPr>
            <a:r>
              <a:rPr b="0" spc="20" dirty="0">
                <a:latin typeface="Tahoma"/>
                <a:cs typeface="Tahoma"/>
              </a:rPr>
              <a:t>health</a:t>
            </a:r>
            <a:r>
              <a:rPr b="0" spc="-45" dirty="0">
                <a:latin typeface="Tahoma"/>
                <a:cs typeface="Tahoma"/>
              </a:rPr>
              <a:t> </a:t>
            </a:r>
            <a:r>
              <a:rPr b="0" spc="20" dirty="0">
                <a:latin typeface="Tahoma"/>
                <a:cs typeface="Tahoma"/>
              </a:rPr>
              <a:t>regulation</a:t>
            </a:r>
            <a:r>
              <a:rPr b="0" spc="-45" dirty="0">
                <a:latin typeface="Tahoma"/>
                <a:cs typeface="Tahoma"/>
              </a:rPr>
              <a:t> </a:t>
            </a:r>
            <a:r>
              <a:rPr b="0" spc="15" dirty="0">
                <a:latin typeface="Tahoma"/>
                <a:cs typeface="Tahoma"/>
              </a:rPr>
              <a:t>may</a:t>
            </a:r>
            <a:r>
              <a:rPr b="0" spc="5" dirty="0">
                <a:latin typeface="Tahoma"/>
                <a:cs typeface="Tahoma"/>
              </a:rPr>
              <a:t> </a:t>
            </a:r>
            <a:r>
              <a:rPr b="0" spc="25" dirty="0">
                <a:latin typeface="Tahoma"/>
                <a:cs typeface="Tahoma"/>
              </a:rPr>
              <a:t>impact</a:t>
            </a:r>
            <a:r>
              <a:rPr b="0" spc="-20" dirty="0">
                <a:latin typeface="Tahoma"/>
                <a:cs typeface="Tahoma"/>
              </a:rPr>
              <a:t> </a:t>
            </a:r>
            <a:r>
              <a:rPr b="0" spc="15" dirty="0">
                <a:latin typeface="Tahoma"/>
                <a:cs typeface="Tahoma"/>
              </a:rPr>
              <a:t>marketing</a:t>
            </a:r>
            <a:r>
              <a:rPr b="0" spc="5" dirty="0">
                <a:latin typeface="Tahoma"/>
                <a:cs typeface="Tahoma"/>
              </a:rPr>
              <a:t> </a:t>
            </a:r>
            <a:r>
              <a:rPr b="0" spc="10" dirty="0">
                <a:latin typeface="Tahoma"/>
                <a:cs typeface="Tahoma"/>
              </a:rPr>
              <a:t>strategies</a:t>
            </a:r>
          </a:p>
        </p:txBody>
      </p:sp>
      <p:pic>
        <p:nvPicPr>
          <p:cNvPr id="4" name="object 4"/>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1200" y="598169"/>
            <a:ext cx="1032510" cy="426720"/>
          </a:xfrm>
          <a:prstGeom prst="rect">
            <a:avLst/>
          </a:prstGeom>
        </p:spPr>
        <p:txBody>
          <a:bodyPr vert="horz" wrap="square" lIns="0" tIns="16510" rIns="0" bIns="0" rtlCol="0">
            <a:spAutoFit/>
          </a:bodyPr>
          <a:lstStyle/>
          <a:p>
            <a:pPr marL="12700">
              <a:lnSpc>
                <a:spcPct val="100000"/>
              </a:lnSpc>
              <a:spcBef>
                <a:spcPts val="130"/>
              </a:spcBef>
            </a:pPr>
            <a:r>
              <a:rPr sz="2600" spc="240" dirty="0"/>
              <a:t>S</a:t>
            </a:r>
            <a:r>
              <a:rPr sz="2600" spc="475" dirty="0"/>
              <a:t>W</a:t>
            </a:r>
            <a:r>
              <a:rPr sz="2600" spc="120" dirty="0"/>
              <a:t>O</a:t>
            </a:r>
            <a:r>
              <a:rPr sz="2600" spc="35" dirty="0"/>
              <a:t>T</a:t>
            </a:r>
            <a:endParaRPr sz="2600"/>
          </a:p>
        </p:txBody>
      </p:sp>
      <p:sp>
        <p:nvSpPr>
          <p:cNvPr id="3" name="object 3"/>
          <p:cNvSpPr txBox="1"/>
          <p:nvPr/>
        </p:nvSpPr>
        <p:spPr>
          <a:xfrm>
            <a:off x="4887995" y="598169"/>
            <a:ext cx="2085975" cy="426720"/>
          </a:xfrm>
          <a:prstGeom prst="rect">
            <a:avLst/>
          </a:prstGeom>
        </p:spPr>
        <p:txBody>
          <a:bodyPr vert="horz" wrap="square" lIns="0" tIns="16510" rIns="0" bIns="0" rtlCol="0">
            <a:spAutoFit/>
          </a:bodyPr>
          <a:lstStyle/>
          <a:p>
            <a:pPr marL="12700">
              <a:lnSpc>
                <a:spcPct val="100000"/>
              </a:lnSpc>
              <a:spcBef>
                <a:spcPts val="130"/>
              </a:spcBef>
            </a:pPr>
            <a:r>
              <a:rPr sz="2600" b="1" spc="114" dirty="0">
                <a:latin typeface="Trebuchet MS"/>
                <a:cs typeface="Trebuchet MS"/>
              </a:rPr>
              <a:t>P</a:t>
            </a:r>
            <a:r>
              <a:rPr sz="2600" b="1" spc="100" dirty="0">
                <a:latin typeface="Trebuchet MS"/>
                <a:cs typeface="Trebuchet MS"/>
              </a:rPr>
              <a:t>o</a:t>
            </a:r>
            <a:r>
              <a:rPr sz="2600" b="1" spc="-140" dirty="0">
                <a:latin typeface="Trebuchet MS"/>
                <a:cs typeface="Trebuchet MS"/>
              </a:rPr>
              <a:t>r</a:t>
            </a:r>
            <a:r>
              <a:rPr sz="2600" b="1" spc="-60" dirty="0">
                <a:latin typeface="Trebuchet MS"/>
                <a:cs typeface="Trebuchet MS"/>
              </a:rPr>
              <a:t>t</a:t>
            </a:r>
            <a:r>
              <a:rPr sz="2600" b="1" spc="-10" dirty="0">
                <a:latin typeface="Trebuchet MS"/>
                <a:cs typeface="Trebuchet MS"/>
              </a:rPr>
              <a:t>er</a:t>
            </a:r>
            <a:r>
              <a:rPr sz="2600" b="1" spc="-155" dirty="0">
                <a:latin typeface="Trebuchet MS"/>
                <a:cs typeface="Trebuchet MS"/>
              </a:rPr>
              <a:t> </a:t>
            </a:r>
            <a:r>
              <a:rPr sz="2600" b="1" spc="50" dirty="0">
                <a:latin typeface="Trebuchet MS"/>
                <a:cs typeface="Trebuchet MS"/>
              </a:rPr>
              <a:t>f</a:t>
            </a:r>
            <a:r>
              <a:rPr sz="2600" b="1" spc="60" dirty="0">
                <a:latin typeface="Trebuchet MS"/>
                <a:cs typeface="Trebuchet MS"/>
              </a:rPr>
              <a:t>o</a:t>
            </a:r>
            <a:r>
              <a:rPr sz="2600" b="1" spc="-140" dirty="0">
                <a:latin typeface="Trebuchet MS"/>
                <a:cs typeface="Trebuchet MS"/>
              </a:rPr>
              <a:t>r</a:t>
            </a:r>
            <a:r>
              <a:rPr sz="2600" b="1" spc="90" dirty="0">
                <a:latin typeface="Trebuchet MS"/>
                <a:cs typeface="Trebuchet MS"/>
              </a:rPr>
              <a:t>c</a:t>
            </a:r>
            <a:r>
              <a:rPr sz="2600" b="1" spc="130" dirty="0">
                <a:latin typeface="Trebuchet MS"/>
                <a:cs typeface="Trebuchet MS"/>
              </a:rPr>
              <a:t>es</a:t>
            </a:r>
            <a:endParaRPr sz="2600">
              <a:latin typeface="Trebuchet MS"/>
              <a:cs typeface="Trebuchet MS"/>
            </a:endParaRPr>
          </a:p>
        </p:txBody>
      </p:sp>
      <p:sp>
        <p:nvSpPr>
          <p:cNvPr id="4" name="object 4"/>
          <p:cNvSpPr txBox="1"/>
          <p:nvPr/>
        </p:nvSpPr>
        <p:spPr>
          <a:xfrm>
            <a:off x="557847" y="1430972"/>
            <a:ext cx="3835400" cy="3355975"/>
          </a:xfrm>
          <a:prstGeom prst="rect">
            <a:avLst/>
          </a:prstGeom>
        </p:spPr>
        <p:txBody>
          <a:bodyPr vert="horz" wrap="square" lIns="0" tIns="12700" rIns="0" bIns="0" rtlCol="0">
            <a:spAutoFit/>
          </a:bodyPr>
          <a:lstStyle/>
          <a:p>
            <a:pPr marL="298450" indent="-286385">
              <a:lnSpc>
                <a:spcPct val="100000"/>
              </a:lnSpc>
              <a:spcBef>
                <a:spcPts val="100"/>
              </a:spcBef>
              <a:buClr>
                <a:srgbClr val="585858"/>
              </a:buClr>
              <a:buSzPct val="104166"/>
              <a:buFont typeface="Tahoma"/>
              <a:buChar char="●"/>
              <a:tabLst>
                <a:tab pos="298450" algn="l"/>
                <a:tab pos="299085" algn="l"/>
              </a:tabLst>
            </a:pPr>
            <a:r>
              <a:rPr sz="1200" b="1" spc="-90" dirty="0">
                <a:solidFill>
                  <a:srgbClr val="1A1A1A"/>
                </a:solidFill>
                <a:latin typeface="Tahoma"/>
                <a:cs typeface="Tahoma"/>
              </a:rPr>
              <a:t>Strengths</a:t>
            </a:r>
            <a:r>
              <a:rPr sz="1200" spc="-90" dirty="0">
                <a:solidFill>
                  <a:srgbClr val="1A1A1A"/>
                </a:solidFill>
                <a:latin typeface="Tahoma"/>
                <a:cs typeface="Tahoma"/>
              </a:rPr>
              <a:t>:</a:t>
            </a:r>
            <a:endParaRPr sz="1200">
              <a:latin typeface="Tahoma"/>
              <a:cs typeface="Tahoma"/>
            </a:endParaRPr>
          </a:p>
          <a:p>
            <a:pPr marL="927735" lvl="1" indent="-299085">
              <a:lnSpc>
                <a:spcPct val="100000"/>
              </a:lnSpc>
              <a:spcBef>
                <a:spcPts val="165"/>
              </a:spcBef>
              <a:buClr>
                <a:srgbClr val="585858"/>
              </a:buClr>
              <a:buSzPct val="115789"/>
              <a:buChar char="○"/>
              <a:tabLst>
                <a:tab pos="927735" algn="l"/>
                <a:tab pos="928369" algn="l"/>
              </a:tabLst>
            </a:pPr>
            <a:r>
              <a:rPr sz="950" spc="20" dirty="0">
                <a:solidFill>
                  <a:srgbClr val="1A1A1A"/>
                </a:solidFill>
                <a:latin typeface="Tahoma"/>
                <a:cs typeface="Tahoma"/>
              </a:rPr>
              <a:t>Strong</a:t>
            </a:r>
            <a:r>
              <a:rPr sz="950" spc="-60" dirty="0">
                <a:solidFill>
                  <a:srgbClr val="1A1A1A"/>
                </a:solidFill>
                <a:latin typeface="Tahoma"/>
                <a:cs typeface="Tahoma"/>
              </a:rPr>
              <a:t> </a:t>
            </a:r>
            <a:r>
              <a:rPr sz="950" spc="20" dirty="0">
                <a:solidFill>
                  <a:srgbClr val="1A1A1A"/>
                </a:solidFill>
                <a:latin typeface="Tahoma"/>
                <a:cs typeface="Tahoma"/>
              </a:rPr>
              <a:t>global</a:t>
            </a:r>
            <a:r>
              <a:rPr sz="950" spc="-10" dirty="0">
                <a:solidFill>
                  <a:srgbClr val="1A1A1A"/>
                </a:solidFill>
                <a:latin typeface="Tahoma"/>
                <a:cs typeface="Tahoma"/>
              </a:rPr>
              <a:t> </a:t>
            </a:r>
            <a:r>
              <a:rPr sz="950" spc="15" dirty="0">
                <a:solidFill>
                  <a:srgbClr val="1A1A1A"/>
                </a:solidFill>
                <a:latin typeface="Tahoma"/>
                <a:cs typeface="Tahoma"/>
              </a:rPr>
              <a:t>brand</a:t>
            </a:r>
            <a:r>
              <a:rPr sz="950" spc="-25" dirty="0">
                <a:solidFill>
                  <a:srgbClr val="1A1A1A"/>
                </a:solidFill>
                <a:latin typeface="Tahoma"/>
                <a:cs typeface="Tahoma"/>
              </a:rPr>
              <a:t> </a:t>
            </a:r>
            <a:r>
              <a:rPr sz="950" spc="15" dirty="0">
                <a:solidFill>
                  <a:srgbClr val="1A1A1A"/>
                </a:solidFill>
                <a:latin typeface="Tahoma"/>
                <a:cs typeface="Tahoma"/>
              </a:rPr>
              <a:t>recognition.</a:t>
            </a:r>
            <a:endParaRPr sz="950">
              <a:latin typeface="Tahoma"/>
              <a:cs typeface="Tahoma"/>
            </a:endParaRPr>
          </a:p>
          <a:p>
            <a:pPr marL="927735" lvl="1" indent="-299085">
              <a:lnSpc>
                <a:spcPct val="100000"/>
              </a:lnSpc>
              <a:spcBef>
                <a:spcPts val="135"/>
              </a:spcBef>
              <a:buClr>
                <a:srgbClr val="585858"/>
              </a:buClr>
              <a:buSzPct val="115789"/>
              <a:buChar char="○"/>
              <a:tabLst>
                <a:tab pos="927735" algn="l"/>
                <a:tab pos="928369" algn="l"/>
              </a:tabLst>
            </a:pPr>
            <a:r>
              <a:rPr sz="950" spc="30" dirty="0">
                <a:solidFill>
                  <a:srgbClr val="1A1A1A"/>
                </a:solidFill>
                <a:latin typeface="Tahoma"/>
                <a:cs typeface="Tahoma"/>
              </a:rPr>
              <a:t>Extensive</a:t>
            </a:r>
            <a:r>
              <a:rPr sz="950" spc="-70" dirty="0">
                <a:solidFill>
                  <a:srgbClr val="1A1A1A"/>
                </a:solidFill>
                <a:latin typeface="Tahoma"/>
                <a:cs typeface="Tahoma"/>
              </a:rPr>
              <a:t> </a:t>
            </a:r>
            <a:r>
              <a:rPr sz="950" spc="25" dirty="0">
                <a:solidFill>
                  <a:srgbClr val="1A1A1A"/>
                </a:solidFill>
                <a:latin typeface="Tahoma"/>
                <a:cs typeface="Tahoma"/>
              </a:rPr>
              <a:t>distribution</a:t>
            </a:r>
            <a:r>
              <a:rPr sz="950" spc="-20" dirty="0">
                <a:solidFill>
                  <a:srgbClr val="1A1A1A"/>
                </a:solidFill>
                <a:latin typeface="Tahoma"/>
                <a:cs typeface="Tahoma"/>
              </a:rPr>
              <a:t> </a:t>
            </a:r>
            <a:r>
              <a:rPr sz="950" spc="25" dirty="0">
                <a:solidFill>
                  <a:srgbClr val="1A1A1A"/>
                </a:solidFill>
                <a:latin typeface="Tahoma"/>
                <a:cs typeface="Tahoma"/>
              </a:rPr>
              <a:t>network.</a:t>
            </a:r>
            <a:endParaRPr sz="950">
              <a:latin typeface="Tahoma"/>
              <a:cs typeface="Tahoma"/>
            </a:endParaRPr>
          </a:p>
          <a:p>
            <a:pPr marL="756285" indent="-286385">
              <a:lnSpc>
                <a:spcPct val="100000"/>
              </a:lnSpc>
              <a:spcBef>
                <a:spcPts val="65"/>
              </a:spcBef>
              <a:buClr>
                <a:srgbClr val="585858"/>
              </a:buClr>
              <a:buSzPct val="131578"/>
              <a:buChar char="○"/>
              <a:tabLst>
                <a:tab pos="756285" algn="l"/>
                <a:tab pos="756920" algn="l"/>
              </a:tabLst>
            </a:pPr>
            <a:r>
              <a:rPr sz="950" spc="35" dirty="0">
                <a:solidFill>
                  <a:srgbClr val="1A1A1A"/>
                </a:solidFill>
                <a:latin typeface="Tahoma"/>
                <a:cs typeface="Tahoma"/>
              </a:rPr>
              <a:t>Diverse</a:t>
            </a:r>
            <a:r>
              <a:rPr sz="950" spc="-60" dirty="0">
                <a:solidFill>
                  <a:srgbClr val="1A1A1A"/>
                </a:solidFill>
                <a:latin typeface="Tahoma"/>
                <a:cs typeface="Tahoma"/>
              </a:rPr>
              <a:t> </a:t>
            </a:r>
            <a:r>
              <a:rPr sz="950" spc="30" dirty="0">
                <a:solidFill>
                  <a:srgbClr val="1A1A1A"/>
                </a:solidFill>
                <a:latin typeface="Tahoma"/>
                <a:cs typeface="Tahoma"/>
              </a:rPr>
              <a:t>product</a:t>
            </a:r>
            <a:r>
              <a:rPr sz="950" spc="35" dirty="0">
                <a:solidFill>
                  <a:srgbClr val="1A1A1A"/>
                </a:solidFill>
                <a:latin typeface="Tahoma"/>
                <a:cs typeface="Tahoma"/>
              </a:rPr>
              <a:t> </a:t>
            </a:r>
            <a:r>
              <a:rPr sz="950" spc="15" dirty="0">
                <a:solidFill>
                  <a:srgbClr val="1A1A1A"/>
                </a:solidFill>
                <a:latin typeface="Tahoma"/>
                <a:cs typeface="Tahoma"/>
              </a:rPr>
              <a:t>portfolio,</a:t>
            </a:r>
            <a:r>
              <a:rPr sz="950" spc="10" dirty="0">
                <a:solidFill>
                  <a:srgbClr val="1A1A1A"/>
                </a:solidFill>
                <a:latin typeface="Tahoma"/>
                <a:cs typeface="Tahoma"/>
              </a:rPr>
              <a:t> including</a:t>
            </a:r>
            <a:r>
              <a:rPr sz="950" spc="25" dirty="0">
                <a:solidFill>
                  <a:srgbClr val="1A1A1A"/>
                </a:solidFill>
                <a:latin typeface="Tahoma"/>
                <a:cs typeface="Tahoma"/>
              </a:rPr>
              <a:t> health-conscious</a:t>
            </a:r>
            <a:endParaRPr sz="950">
              <a:latin typeface="Tahoma"/>
              <a:cs typeface="Tahoma"/>
            </a:endParaRPr>
          </a:p>
          <a:p>
            <a:pPr marL="756285">
              <a:lnSpc>
                <a:spcPct val="100000"/>
              </a:lnSpc>
              <a:spcBef>
                <a:spcPts val="135"/>
              </a:spcBef>
            </a:pPr>
            <a:r>
              <a:rPr sz="950" spc="20" dirty="0">
                <a:solidFill>
                  <a:srgbClr val="1A1A1A"/>
                </a:solidFill>
                <a:latin typeface="Tahoma"/>
                <a:cs typeface="Tahoma"/>
              </a:rPr>
              <a:t>options.</a:t>
            </a:r>
            <a:endParaRPr sz="950">
              <a:latin typeface="Tahoma"/>
              <a:cs typeface="Tahoma"/>
            </a:endParaRPr>
          </a:p>
          <a:p>
            <a:pPr marL="298450" indent="-286385">
              <a:lnSpc>
                <a:spcPct val="100000"/>
              </a:lnSpc>
              <a:spcBef>
                <a:spcPts val="40"/>
              </a:spcBef>
              <a:buClr>
                <a:srgbClr val="585858"/>
              </a:buClr>
              <a:buSzPct val="104166"/>
              <a:buFont typeface="Tahoma"/>
              <a:buChar char="●"/>
              <a:tabLst>
                <a:tab pos="298450" algn="l"/>
                <a:tab pos="299085" algn="l"/>
              </a:tabLst>
            </a:pPr>
            <a:r>
              <a:rPr sz="1200" b="1" spc="-85" dirty="0">
                <a:solidFill>
                  <a:srgbClr val="1A1A1A"/>
                </a:solidFill>
                <a:latin typeface="Tahoma"/>
                <a:cs typeface="Tahoma"/>
              </a:rPr>
              <a:t>Weaknesses</a:t>
            </a:r>
            <a:r>
              <a:rPr sz="1200" spc="-85" dirty="0">
                <a:solidFill>
                  <a:srgbClr val="1A1A1A"/>
                </a:solidFill>
                <a:latin typeface="Tahoma"/>
                <a:cs typeface="Tahoma"/>
              </a:rPr>
              <a:t>:</a:t>
            </a:r>
            <a:endParaRPr sz="1200">
              <a:latin typeface="Tahoma"/>
              <a:cs typeface="Tahoma"/>
            </a:endParaRPr>
          </a:p>
          <a:p>
            <a:pPr marL="927735" marR="82550" lvl="1" indent="-299085">
              <a:lnSpc>
                <a:spcPct val="112000"/>
              </a:lnSpc>
              <a:spcBef>
                <a:spcPts val="25"/>
              </a:spcBef>
              <a:buClr>
                <a:srgbClr val="585858"/>
              </a:buClr>
              <a:buSzPct val="131578"/>
              <a:buChar char="○"/>
              <a:tabLst>
                <a:tab pos="927735" algn="l"/>
                <a:tab pos="928369" algn="l"/>
              </a:tabLst>
            </a:pPr>
            <a:r>
              <a:rPr sz="950" spc="40" dirty="0">
                <a:solidFill>
                  <a:srgbClr val="1A1A1A"/>
                </a:solidFill>
                <a:latin typeface="Tahoma"/>
                <a:cs typeface="Tahoma"/>
              </a:rPr>
              <a:t>Dependence</a:t>
            </a:r>
            <a:r>
              <a:rPr sz="950" spc="-65" dirty="0">
                <a:solidFill>
                  <a:srgbClr val="1A1A1A"/>
                </a:solidFill>
                <a:latin typeface="Tahoma"/>
                <a:cs typeface="Tahoma"/>
              </a:rPr>
              <a:t> </a:t>
            </a:r>
            <a:r>
              <a:rPr sz="950" spc="10" dirty="0">
                <a:solidFill>
                  <a:srgbClr val="1A1A1A"/>
                </a:solidFill>
                <a:latin typeface="Tahoma"/>
                <a:cs typeface="Tahoma"/>
              </a:rPr>
              <a:t>on</a:t>
            </a:r>
            <a:r>
              <a:rPr sz="950" spc="-20" dirty="0">
                <a:solidFill>
                  <a:srgbClr val="1A1A1A"/>
                </a:solidFill>
                <a:latin typeface="Tahoma"/>
                <a:cs typeface="Tahoma"/>
              </a:rPr>
              <a:t> </a:t>
            </a:r>
            <a:r>
              <a:rPr sz="950" spc="25" dirty="0">
                <a:solidFill>
                  <a:srgbClr val="1A1A1A"/>
                </a:solidFill>
                <a:latin typeface="Tahoma"/>
                <a:cs typeface="Tahoma"/>
              </a:rPr>
              <a:t>carbonated</a:t>
            </a:r>
            <a:r>
              <a:rPr sz="950" spc="-20" dirty="0">
                <a:solidFill>
                  <a:srgbClr val="1A1A1A"/>
                </a:solidFill>
                <a:latin typeface="Tahoma"/>
                <a:cs typeface="Tahoma"/>
              </a:rPr>
              <a:t> </a:t>
            </a:r>
            <a:r>
              <a:rPr sz="950" spc="10" dirty="0">
                <a:solidFill>
                  <a:srgbClr val="1A1A1A"/>
                </a:solidFill>
                <a:latin typeface="Tahoma"/>
                <a:cs typeface="Tahoma"/>
              </a:rPr>
              <a:t>beverages,</a:t>
            </a:r>
            <a:r>
              <a:rPr sz="950" spc="-75" dirty="0">
                <a:solidFill>
                  <a:srgbClr val="1A1A1A"/>
                </a:solidFill>
                <a:latin typeface="Tahoma"/>
                <a:cs typeface="Tahoma"/>
              </a:rPr>
              <a:t> </a:t>
            </a:r>
            <a:r>
              <a:rPr sz="950" spc="30" dirty="0">
                <a:solidFill>
                  <a:srgbClr val="1A1A1A"/>
                </a:solidFill>
                <a:latin typeface="Tahoma"/>
                <a:cs typeface="Tahoma"/>
              </a:rPr>
              <a:t>which</a:t>
            </a:r>
            <a:r>
              <a:rPr sz="950" spc="-20" dirty="0">
                <a:solidFill>
                  <a:srgbClr val="1A1A1A"/>
                </a:solidFill>
                <a:latin typeface="Tahoma"/>
                <a:cs typeface="Tahoma"/>
              </a:rPr>
              <a:t> </a:t>
            </a:r>
            <a:r>
              <a:rPr sz="950" spc="30" dirty="0">
                <a:solidFill>
                  <a:srgbClr val="1A1A1A"/>
                </a:solidFill>
                <a:latin typeface="Tahoma"/>
                <a:cs typeface="Tahoma"/>
              </a:rPr>
              <a:t>face </a:t>
            </a:r>
            <a:r>
              <a:rPr sz="950" spc="-280" dirty="0">
                <a:solidFill>
                  <a:srgbClr val="1A1A1A"/>
                </a:solidFill>
                <a:latin typeface="Tahoma"/>
                <a:cs typeface="Tahoma"/>
              </a:rPr>
              <a:t> </a:t>
            </a:r>
            <a:r>
              <a:rPr sz="950" spc="20" dirty="0">
                <a:solidFill>
                  <a:srgbClr val="1A1A1A"/>
                </a:solidFill>
                <a:latin typeface="Tahoma"/>
                <a:cs typeface="Tahoma"/>
              </a:rPr>
              <a:t>declining</a:t>
            </a:r>
            <a:r>
              <a:rPr sz="950" spc="15" dirty="0">
                <a:solidFill>
                  <a:srgbClr val="1A1A1A"/>
                </a:solidFill>
                <a:latin typeface="Tahoma"/>
                <a:cs typeface="Tahoma"/>
              </a:rPr>
              <a:t> </a:t>
            </a:r>
            <a:r>
              <a:rPr sz="950" spc="25" dirty="0">
                <a:solidFill>
                  <a:srgbClr val="1A1A1A"/>
                </a:solidFill>
                <a:latin typeface="Tahoma"/>
                <a:cs typeface="Tahoma"/>
              </a:rPr>
              <a:t>consumption</a:t>
            </a:r>
            <a:r>
              <a:rPr sz="950" spc="-20" dirty="0">
                <a:solidFill>
                  <a:srgbClr val="1A1A1A"/>
                </a:solidFill>
                <a:latin typeface="Tahoma"/>
                <a:cs typeface="Tahoma"/>
              </a:rPr>
              <a:t> </a:t>
            </a:r>
            <a:r>
              <a:rPr sz="950" spc="20" dirty="0">
                <a:solidFill>
                  <a:srgbClr val="1A1A1A"/>
                </a:solidFill>
                <a:latin typeface="Tahoma"/>
                <a:cs typeface="Tahoma"/>
              </a:rPr>
              <a:t>trends.</a:t>
            </a:r>
            <a:endParaRPr sz="950">
              <a:latin typeface="Tahoma"/>
              <a:cs typeface="Tahoma"/>
            </a:endParaRPr>
          </a:p>
          <a:p>
            <a:pPr marL="927735" lvl="1" indent="-299085">
              <a:lnSpc>
                <a:spcPct val="100000"/>
              </a:lnSpc>
              <a:spcBef>
                <a:spcPts val="135"/>
              </a:spcBef>
              <a:buClr>
                <a:srgbClr val="585858"/>
              </a:buClr>
              <a:buSzPct val="115789"/>
              <a:buChar char="○"/>
              <a:tabLst>
                <a:tab pos="927735" algn="l"/>
                <a:tab pos="928369" algn="l"/>
              </a:tabLst>
            </a:pPr>
            <a:r>
              <a:rPr sz="950" spc="100" dirty="0">
                <a:solidFill>
                  <a:srgbClr val="1A1A1A"/>
                </a:solidFill>
                <a:latin typeface="Tahoma"/>
                <a:cs typeface="Tahoma"/>
              </a:rPr>
              <a:t>V</a:t>
            </a:r>
            <a:r>
              <a:rPr sz="950" spc="70" dirty="0">
                <a:solidFill>
                  <a:srgbClr val="1A1A1A"/>
                </a:solidFill>
                <a:latin typeface="Tahoma"/>
                <a:cs typeface="Tahoma"/>
              </a:rPr>
              <a:t>u</a:t>
            </a:r>
            <a:r>
              <a:rPr sz="950" dirty="0">
                <a:solidFill>
                  <a:srgbClr val="1A1A1A"/>
                </a:solidFill>
                <a:latin typeface="Tahoma"/>
                <a:cs typeface="Tahoma"/>
              </a:rPr>
              <a:t>l</a:t>
            </a:r>
            <a:r>
              <a:rPr sz="950" spc="-5" dirty="0">
                <a:solidFill>
                  <a:srgbClr val="1A1A1A"/>
                </a:solidFill>
                <a:latin typeface="Tahoma"/>
                <a:cs typeface="Tahoma"/>
              </a:rPr>
              <a:t>n</a:t>
            </a:r>
            <a:r>
              <a:rPr sz="950" spc="25" dirty="0">
                <a:solidFill>
                  <a:srgbClr val="1A1A1A"/>
                </a:solidFill>
                <a:latin typeface="Tahoma"/>
                <a:cs typeface="Tahoma"/>
              </a:rPr>
              <a:t>era</a:t>
            </a:r>
            <a:r>
              <a:rPr sz="950" dirty="0">
                <a:solidFill>
                  <a:srgbClr val="1A1A1A"/>
                </a:solidFill>
                <a:latin typeface="Tahoma"/>
                <a:cs typeface="Tahoma"/>
              </a:rPr>
              <a:t>b</a:t>
            </a:r>
            <a:r>
              <a:rPr sz="950" spc="5" dirty="0">
                <a:solidFill>
                  <a:srgbClr val="1A1A1A"/>
                </a:solidFill>
                <a:latin typeface="Tahoma"/>
                <a:cs typeface="Tahoma"/>
              </a:rPr>
              <a:t>i</a:t>
            </a:r>
            <a:r>
              <a:rPr sz="950" spc="75" dirty="0">
                <a:solidFill>
                  <a:srgbClr val="1A1A1A"/>
                </a:solidFill>
                <a:latin typeface="Tahoma"/>
                <a:cs typeface="Tahoma"/>
              </a:rPr>
              <a:t>l</a:t>
            </a:r>
            <a:r>
              <a:rPr sz="950" spc="5" dirty="0">
                <a:solidFill>
                  <a:srgbClr val="1A1A1A"/>
                </a:solidFill>
                <a:latin typeface="Tahoma"/>
                <a:cs typeface="Tahoma"/>
              </a:rPr>
              <a:t>i</a:t>
            </a:r>
            <a:r>
              <a:rPr sz="950" spc="50" dirty="0">
                <a:solidFill>
                  <a:srgbClr val="1A1A1A"/>
                </a:solidFill>
                <a:latin typeface="Tahoma"/>
                <a:cs typeface="Tahoma"/>
              </a:rPr>
              <a:t>t</a:t>
            </a:r>
            <a:r>
              <a:rPr sz="950" spc="30" dirty="0">
                <a:solidFill>
                  <a:srgbClr val="1A1A1A"/>
                </a:solidFill>
                <a:latin typeface="Tahoma"/>
                <a:cs typeface="Tahoma"/>
              </a:rPr>
              <a:t>y</a:t>
            </a:r>
            <a:r>
              <a:rPr sz="950" spc="-50" dirty="0">
                <a:solidFill>
                  <a:srgbClr val="1A1A1A"/>
                </a:solidFill>
                <a:latin typeface="Tahoma"/>
                <a:cs typeface="Tahoma"/>
              </a:rPr>
              <a:t> </a:t>
            </a:r>
            <a:r>
              <a:rPr sz="950" spc="50" dirty="0">
                <a:solidFill>
                  <a:srgbClr val="1A1A1A"/>
                </a:solidFill>
                <a:latin typeface="Tahoma"/>
                <a:cs typeface="Tahoma"/>
              </a:rPr>
              <a:t>t</a:t>
            </a:r>
            <a:r>
              <a:rPr sz="950" spc="35" dirty="0">
                <a:solidFill>
                  <a:srgbClr val="1A1A1A"/>
                </a:solidFill>
                <a:latin typeface="Tahoma"/>
                <a:cs typeface="Tahoma"/>
              </a:rPr>
              <a:t>o</a:t>
            </a:r>
            <a:r>
              <a:rPr sz="950" spc="-100" dirty="0">
                <a:solidFill>
                  <a:srgbClr val="1A1A1A"/>
                </a:solidFill>
                <a:latin typeface="Tahoma"/>
                <a:cs typeface="Tahoma"/>
              </a:rPr>
              <a:t> </a:t>
            </a:r>
            <a:r>
              <a:rPr sz="950" spc="70" dirty="0">
                <a:solidFill>
                  <a:srgbClr val="1A1A1A"/>
                </a:solidFill>
                <a:latin typeface="Tahoma"/>
                <a:cs typeface="Tahoma"/>
              </a:rPr>
              <a:t>f</a:t>
            </a:r>
            <a:r>
              <a:rPr sz="950" dirty="0">
                <a:solidFill>
                  <a:srgbClr val="1A1A1A"/>
                </a:solidFill>
                <a:latin typeface="Tahoma"/>
                <a:cs typeface="Tahoma"/>
              </a:rPr>
              <a:t>l</a:t>
            </a:r>
            <a:r>
              <a:rPr sz="950" spc="70" dirty="0">
                <a:solidFill>
                  <a:srgbClr val="1A1A1A"/>
                </a:solidFill>
                <a:latin typeface="Tahoma"/>
                <a:cs typeface="Tahoma"/>
              </a:rPr>
              <a:t>u</a:t>
            </a:r>
            <a:r>
              <a:rPr sz="950" spc="10" dirty="0">
                <a:solidFill>
                  <a:srgbClr val="1A1A1A"/>
                </a:solidFill>
                <a:latin typeface="Tahoma"/>
                <a:cs typeface="Tahoma"/>
              </a:rPr>
              <a:t>c</a:t>
            </a:r>
            <a:r>
              <a:rPr sz="950" spc="50" dirty="0">
                <a:solidFill>
                  <a:srgbClr val="1A1A1A"/>
                </a:solidFill>
                <a:latin typeface="Tahoma"/>
                <a:cs typeface="Tahoma"/>
              </a:rPr>
              <a:t>t</a:t>
            </a:r>
            <a:r>
              <a:rPr sz="950" spc="-5" dirty="0">
                <a:solidFill>
                  <a:srgbClr val="1A1A1A"/>
                </a:solidFill>
                <a:latin typeface="Tahoma"/>
                <a:cs typeface="Tahoma"/>
              </a:rPr>
              <a:t>u</a:t>
            </a:r>
            <a:r>
              <a:rPr sz="950" spc="25" dirty="0">
                <a:solidFill>
                  <a:srgbClr val="1A1A1A"/>
                </a:solidFill>
                <a:latin typeface="Tahoma"/>
                <a:cs typeface="Tahoma"/>
              </a:rPr>
              <a:t>a</a:t>
            </a:r>
            <a:r>
              <a:rPr sz="950" spc="50" dirty="0">
                <a:solidFill>
                  <a:srgbClr val="1A1A1A"/>
                </a:solidFill>
                <a:latin typeface="Tahoma"/>
                <a:cs typeface="Tahoma"/>
              </a:rPr>
              <a:t>t</a:t>
            </a:r>
            <a:r>
              <a:rPr sz="950" spc="5" dirty="0">
                <a:solidFill>
                  <a:srgbClr val="1A1A1A"/>
                </a:solidFill>
                <a:latin typeface="Tahoma"/>
                <a:cs typeface="Tahoma"/>
              </a:rPr>
              <a:t>i</a:t>
            </a:r>
            <a:r>
              <a:rPr sz="950" spc="80" dirty="0">
                <a:solidFill>
                  <a:srgbClr val="1A1A1A"/>
                </a:solidFill>
                <a:latin typeface="Tahoma"/>
                <a:cs typeface="Tahoma"/>
              </a:rPr>
              <a:t>o</a:t>
            </a:r>
            <a:r>
              <a:rPr sz="950" spc="-5" dirty="0">
                <a:solidFill>
                  <a:srgbClr val="1A1A1A"/>
                </a:solidFill>
                <a:latin typeface="Tahoma"/>
                <a:cs typeface="Tahoma"/>
              </a:rPr>
              <a:t>ns</a:t>
            </a:r>
            <a:r>
              <a:rPr sz="950" spc="-45" dirty="0">
                <a:solidFill>
                  <a:srgbClr val="1A1A1A"/>
                </a:solidFill>
                <a:latin typeface="Tahoma"/>
                <a:cs typeface="Tahoma"/>
              </a:rPr>
              <a:t> </a:t>
            </a:r>
            <a:r>
              <a:rPr sz="950" spc="5" dirty="0">
                <a:solidFill>
                  <a:srgbClr val="1A1A1A"/>
                </a:solidFill>
                <a:latin typeface="Tahoma"/>
                <a:cs typeface="Tahoma"/>
              </a:rPr>
              <a:t>i</a:t>
            </a:r>
            <a:r>
              <a:rPr sz="950" spc="15" dirty="0">
                <a:solidFill>
                  <a:srgbClr val="1A1A1A"/>
                </a:solidFill>
                <a:latin typeface="Tahoma"/>
                <a:cs typeface="Tahoma"/>
              </a:rPr>
              <a:t>n</a:t>
            </a:r>
            <a:r>
              <a:rPr sz="950" spc="-20" dirty="0">
                <a:solidFill>
                  <a:srgbClr val="1A1A1A"/>
                </a:solidFill>
                <a:latin typeface="Tahoma"/>
                <a:cs typeface="Tahoma"/>
              </a:rPr>
              <a:t> </a:t>
            </a:r>
            <a:r>
              <a:rPr sz="950" spc="85" dirty="0">
                <a:solidFill>
                  <a:srgbClr val="1A1A1A"/>
                </a:solidFill>
                <a:latin typeface="Tahoma"/>
                <a:cs typeface="Tahoma"/>
              </a:rPr>
              <a:t>c</a:t>
            </a:r>
            <a:r>
              <a:rPr sz="950" spc="5" dirty="0">
                <a:solidFill>
                  <a:srgbClr val="1A1A1A"/>
                </a:solidFill>
                <a:latin typeface="Tahoma"/>
                <a:cs typeface="Tahoma"/>
              </a:rPr>
              <a:t>o</a:t>
            </a:r>
            <a:r>
              <a:rPr sz="950" spc="25" dirty="0">
                <a:solidFill>
                  <a:srgbClr val="1A1A1A"/>
                </a:solidFill>
                <a:latin typeface="Tahoma"/>
                <a:cs typeface="Tahoma"/>
              </a:rPr>
              <a:t>mm</a:t>
            </a:r>
            <a:r>
              <a:rPr sz="950" spc="80" dirty="0">
                <a:solidFill>
                  <a:srgbClr val="1A1A1A"/>
                </a:solidFill>
                <a:latin typeface="Tahoma"/>
                <a:cs typeface="Tahoma"/>
              </a:rPr>
              <a:t>o</a:t>
            </a:r>
            <a:r>
              <a:rPr sz="950" dirty="0">
                <a:solidFill>
                  <a:srgbClr val="1A1A1A"/>
                </a:solidFill>
                <a:latin typeface="Tahoma"/>
                <a:cs typeface="Tahoma"/>
              </a:rPr>
              <a:t>d</a:t>
            </a:r>
            <a:r>
              <a:rPr sz="950" spc="5" dirty="0">
                <a:solidFill>
                  <a:srgbClr val="1A1A1A"/>
                </a:solidFill>
                <a:latin typeface="Tahoma"/>
                <a:cs typeface="Tahoma"/>
              </a:rPr>
              <a:t>i</a:t>
            </a:r>
            <a:r>
              <a:rPr sz="950" spc="50" dirty="0">
                <a:solidFill>
                  <a:srgbClr val="1A1A1A"/>
                </a:solidFill>
                <a:latin typeface="Tahoma"/>
                <a:cs typeface="Tahoma"/>
              </a:rPr>
              <a:t>t</a:t>
            </a:r>
            <a:r>
              <a:rPr sz="950" spc="30" dirty="0">
                <a:solidFill>
                  <a:srgbClr val="1A1A1A"/>
                </a:solidFill>
                <a:latin typeface="Tahoma"/>
                <a:cs typeface="Tahoma"/>
              </a:rPr>
              <a:t>y</a:t>
            </a:r>
            <a:r>
              <a:rPr sz="950" spc="-50" dirty="0">
                <a:solidFill>
                  <a:srgbClr val="1A1A1A"/>
                </a:solidFill>
                <a:latin typeface="Tahoma"/>
                <a:cs typeface="Tahoma"/>
              </a:rPr>
              <a:t> </a:t>
            </a:r>
            <a:r>
              <a:rPr sz="950" spc="70" dirty="0">
                <a:solidFill>
                  <a:srgbClr val="1A1A1A"/>
                </a:solidFill>
                <a:latin typeface="Tahoma"/>
                <a:cs typeface="Tahoma"/>
              </a:rPr>
              <a:t>p</a:t>
            </a:r>
            <a:r>
              <a:rPr sz="950" spc="25" dirty="0">
                <a:solidFill>
                  <a:srgbClr val="1A1A1A"/>
                </a:solidFill>
                <a:latin typeface="Tahoma"/>
                <a:cs typeface="Tahoma"/>
              </a:rPr>
              <a:t>r</a:t>
            </a:r>
            <a:r>
              <a:rPr sz="950" spc="5" dirty="0">
                <a:solidFill>
                  <a:srgbClr val="1A1A1A"/>
                </a:solidFill>
                <a:latin typeface="Tahoma"/>
                <a:cs typeface="Tahoma"/>
              </a:rPr>
              <a:t>i</a:t>
            </a:r>
            <a:r>
              <a:rPr sz="950" spc="10" dirty="0">
                <a:solidFill>
                  <a:srgbClr val="1A1A1A"/>
                </a:solidFill>
                <a:latin typeface="Tahoma"/>
                <a:cs typeface="Tahoma"/>
              </a:rPr>
              <a:t>c</a:t>
            </a:r>
            <a:r>
              <a:rPr sz="950" spc="25" dirty="0">
                <a:solidFill>
                  <a:srgbClr val="1A1A1A"/>
                </a:solidFill>
                <a:latin typeface="Tahoma"/>
                <a:cs typeface="Tahoma"/>
              </a:rPr>
              <a:t>e</a:t>
            </a:r>
            <a:r>
              <a:rPr sz="950" spc="-5" dirty="0">
                <a:solidFill>
                  <a:srgbClr val="1A1A1A"/>
                </a:solidFill>
                <a:latin typeface="Tahoma"/>
                <a:cs typeface="Tahoma"/>
              </a:rPr>
              <a:t>s</a:t>
            </a:r>
            <a:endParaRPr sz="950">
              <a:latin typeface="Tahoma"/>
              <a:cs typeface="Tahoma"/>
            </a:endParaRPr>
          </a:p>
          <a:p>
            <a:pPr marL="927735">
              <a:lnSpc>
                <a:spcPct val="100000"/>
              </a:lnSpc>
              <a:spcBef>
                <a:spcPts val="140"/>
              </a:spcBef>
            </a:pPr>
            <a:r>
              <a:rPr sz="950" spc="-70" dirty="0">
                <a:solidFill>
                  <a:srgbClr val="1A1A1A"/>
                </a:solidFill>
                <a:latin typeface="Tahoma"/>
                <a:cs typeface="Tahoma"/>
              </a:rPr>
              <a:t>(</a:t>
            </a:r>
            <a:r>
              <a:rPr sz="950" spc="20" dirty="0">
                <a:solidFill>
                  <a:srgbClr val="1A1A1A"/>
                </a:solidFill>
                <a:latin typeface="Tahoma"/>
                <a:cs typeface="Tahoma"/>
              </a:rPr>
              <a:t>e</a:t>
            </a:r>
            <a:r>
              <a:rPr sz="950" spc="-65" dirty="0">
                <a:solidFill>
                  <a:srgbClr val="1A1A1A"/>
                </a:solidFill>
                <a:latin typeface="Tahoma"/>
                <a:cs typeface="Tahoma"/>
              </a:rPr>
              <a:t>.</a:t>
            </a:r>
            <a:r>
              <a:rPr sz="950" spc="-5" dirty="0">
                <a:solidFill>
                  <a:srgbClr val="1A1A1A"/>
                </a:solidFill>
                <a:latin typeface="Tahoma"/>
                <a:cs typeface="Tahoma"/>
              </a:rPr>
              <a:t>g</a:t>
            </a:r>
            <a:r>
              <a:rPr sz="950" spc="-65" dirty="0">
                <a:solidFill>
                  <a:srgbClr val="1A1A1A"/>
                </a:solidFill>
                <a:latin typeface="Tahoma"/>
                <a:cs typeface="Tahoma"/>
              </a:rPr>
              <a:t>.</a:t>
            </a:r>
            <a:r>
              <a:rPr sz="950" spc="-70" dirty="0">
                <a:solidFill>
                  <a:srgbClr val="1A1A1A"/>
                </a:solidFill>
                <a:latin typeface="Tahoma"/>
                <a:cs typeface="Tahoma"/>
              </a:rPr>
              <a:t>, </a:t>
            </a:r>
            <a:r>
              <a:rPr sz="950" spc="20" dirty="0">
                <a:solidFill>
                  <a:srgbClr val="1A1A1A"/>
                </a:solidFill>
                <a:latin typeface="Tahoma"/>
                <a:cs typeface="Tahoma"/>
              </a:rPr>
              <a:t>s</a:t>
            </a:r>
            <a:r>
              <a:rPr sz="950" spc="65" dirty="0">
                <a:solidFill>
                  <a:srgbClr val="1A1A1A"/>
                </a:solidFill>
                <a:latin typeface="Tahoma"/>
                <a:cs typeface="Tahoma"/>
              </a:rPr>
              <a:t>u</a:t>
            </a:r>
            <a:r>
              <a:rPr sz="950" spc="-5" dirty="0">
                <a:solidFill>
                  <a:srgbClr val="1A1A1A"/>
                </a:solidFill>
                <a:latin typeface="Tahoma"/>
                <a:cs typeface="Tahoma"/>
              </a:rPr>
              <a:t>g</a:t>
            </a:r>
            <a:r>
              <a:rPr sz="950" spc="-50" dirty="0">
                <a:solidFill>
                  <a:srgbClr val="1A1A1A"/>
                </a:solidFill>
                <a:latin typeface="Tahoma"/>
                <a:cs typeface="Tahoma"/>
              </a:rPr>
              <a:t>a</a:t>
            </a:r>
            <a:r>
              <a:rPr sz="950" spc="25" dirty="0">
                <a:solidFill>
                  <a:srgbClr val="1A1A1A"/>
                </a:solidFill>
                <a:latin typeface="Tahoma"/>
                <a:cs typeface="Tahoma"/>
              </a:rPr>
              <a:t>r</a:t>
            </a:r>
            <a:r>
              <a:rPr sz="950" spc="-70" dirty="0">
                <a:solidFill>
                  <a:srgbClr val="1A1A1A"/>
                </a:solidFill>
                <a:latin typeface="Tahoma"/>
                <a:cs typeface="Tahoma"/>
              </a:rPr>
              <a:t>, </a:t>
            </a:r>
            <a:r>
              <a:rPr sz="950" spc="25" dirty="0">
                <a:solidFill>
                  <a:srgbClr val="1A1A1A"/>
                </a:solidFill>
                <a:latin typeface="Tahoma"/>
                <a:cs typeface="Tahoma"/>
              </a:rPr>
              <a:t>a</a:t>
            </a:r>
            <a:r>
              <a:rPr sz="950" spc="5" dirty="0">
                <a:solidFill>
                  <a:srgbClr val="1A1A1A"/>
                </a:solidFill>
                <a:latin typeface="Tahoma"/>
                <a:cs typeface="Tahoma"/>
              </a:rPr>
              <a:t>l</a:t>
            </a:r>
            <a:r>
              <a:rPr sz="950" spc="65" dirty="0">
                <a:solidFill>
                  <a:srgbClr val="1A1A1A"/>
                </a:solidFill>
                <a:latin typeface="Tahoma"/>
                <a:cs typeface="Tahoma"/>
              </a:rPr>
              <a:t>u</a:t>
            </a:r>
            <a:r>
              <a:rPr sz="950" spc="20" dirty="0">
                <a:solidFill>
                  <a:srgbClr val="1A1A1A"/>
                </a:solidFill>
                <a:latin typeface="Tahoma"/>
                <a:cs typeface="Tahoma"/>
              </a:rPr>
              <a:t>m</a:t>
            </a:r>
            <a:r>
              <a:rPr sz="950" spc="5" dirty="0">
                <a:solidFill>
                  <a:srgbClr val="1A1A1A"/>
                </a:solidFill>
                <a:latin typeface="Tahoma"/>
                <a:cs typeface="Tahoma"/>
              </a:rPr>
              <a:t>i</a:t>
            </a:r>
            <a:r>
              <a:rPr sz="950" spc="-10" dirty="0">
                <a:solidFill>
                  <a:srgbClr val="1A1A1A"/>
                </a:solidFill>
                <a:latin typeface="Tahoma"/>
                <a:cs typeface="Tahoma"/>
              </a:rPr>
              <a:t>n</a:t>
            </a:r>
            <a:r>
              <a:rPr sz="950" spc="65" dirty="0">
                <a:solidFill>
                  <a:srgbClr val="1A1A1A"/>
                </a:solidFill>
                <a:latin typeface="Tahoma"/>
                <a:cs typeface="Tahoma"/>
              </a:rPr>
              <a:t>u</a:t>
            </a:r>
            <a:r>
              <a:rPr sz="950" spc="20" dirty="0">
                <a:solidFill>
                  <a:srgbClr val="1A1A1A"/>
                </a:solidFill>
                <a:latin typeface="Tahoma"/>
                <a:cs typeface="Tahoma"/>
              </a:rPr>
              <a:t>m</a:t>
            </a:r>
            <a:r>
              <a:rPr sz="950" spc="-145" dirty="0">
                <a:solidFill>
                  <a:srgbClr val="1A1A1A"/>
                </a:solidFill>
                <a:latin typeface="Tahoma"/>
                <a:cs typeface="Tahoma"/>
              </a:rPr>
              <a:t>)</a:t>
            </a:r>
            <a:r>
              <a:rPr sz="950" spc="-60" dirty="0">
                <a:solidFill>
                  <a:srgbClr val="1A1A1A"/>
                </a:solidFill>
                <a:latin typeface="Tahoma"/>
                <a:cs typeface="Tahoma"/>
              </a:rPr>
              <a:t>.</a:t>
            </a:r>
            <a:endParaRPr sz="950">
              <a:latin typeface="Tahoma"/>
              <a:cs typeface="Tahoma"/>
            </a:endParaRPr>
          </a:p>
          <a:p>
            <a:pPr marL="298450" indent="-286385">
              <a:lnSpc>
                <a:spcPct val="100000"/>
              </a:lnSpc>
              <a:spcBef>
                <a:spcPts val="35"/>
              </a:spcBef>
              <a:buClr>
                <a:srgbClr val="585858"/>
              </a:buClr>
              <a:buSzPct val="104166"/>
              <a:buFont typeface="Tahoma"/>
              <a:buChar char="●"/>
              <a:tabLst>
                <a:tab pos="298450" algn="l"/>
                <a:tab pos="299085" algn="l"/>
              </a:tabLst>
            </a:pPr>
            <a:r>
              <a:rPr sz="1200" b="1" spc="-70" dirty="0">
                <a:solidFill>
                  <a:srgbClr val="1A1A1A"/>
                </a:solidFill>
                <a:latin typeface="Tahoma"/>
                <a:cs typeface="Tahoma"/>
              </a:rPr>
              <a:t>Opportunities</a:t>
            </a:r>
            <a:r>
              <a:rPr sz="1200" spc="-70" dirty="0">
                <a:solidFill>
                  <a:srgbClr val="1A1A1A"/>
                </a:solidFill>
                <a:latin typeface="Tahoma"/>
                <a:cs typeface="Tahoma"/>
              </a:rPr>
              <a:t>:</a:t>
            </a:r>
            <a:endParaRPr sz="1200">
              <a:latin typeface="Tahoma"/>
              <a:cs typeface="Tahoma"/>
            </a:endParaRPr>
          </a:p>
          <a:p>
            <a:pPr marL="927735" lvl="1" indent="-299085">
              <a:lnSpc>
                <a:spcPct val="100000"/>
              </a:lnSpc>
              <a:spcBef>
                <a:spcPts val="90"/>
              </a:spcBef>
              <a:buClr>
                <a:srgbClr val="585858"/>
              </a:buClr>
              <a:buSzPct val="115789"/>
              <a:buChar char="○"/>
              <a:tabLst>
                <a:tab pos="927735" algn="l"/>
                <a:tab pos="928369" algn="l"/>
              </a:tabLst>
            </a:pPr>
            <a:r>
              <a:rPr sz="950" spc="65" dirty="0">
                <a:solidFill>
                  <a:srgbClr val="1A1A1A"/>
                </a:solidFill>
                <a:latin typeface="Tahoma"/>
                <a:cs typeface="Tahoma"/>
              </a:rPr>
              <a:t>E</a:t>
            </a:r>
            <a:r>
              <a:rPr sz="950" spc="-20" dirty="0">
                <a:solidFill>
                  <a:srgbClr val="1A1A1A"/>
                </a:solidFill>
                <a:latin typeface="Tahoma"/>
                <a:cs typeface="Tahoma"/>
              </a:rPr>
              <a:t>x</a:t>
            </a:r>
            <a:r>
              <a:rPr sz="950" spc="70" dirty="0">
                <a:solidFill>
                  <a:srgbClr val="1A1A1A"/>
                </a:solidFill>
                <a:latin typeface="Tahoma"/>
                <a:cs typeface="Tahoma"/>
              </a:rPr>
              <a:t>p</a:t>
            </a:r>
            <a:r>
              <a:rPr sz="950" spc="25" dirty="0">
                <a:solidFill>
                  <a:srgbClr val="1A1A1A"/>
                </a:solidFill>
                <a:latin typeface="Tahoma"/>
                <a:cs typeface="Tahoma"/>
              </a:rPr>
              <a:t>a</a:t>
            </a:r>
            <a:r>
              <a:rPr sz="950" spc="-5" dirty="0">
                <a:solidFill>
                  <a:srgbClr val="1A1A1A"/>
                </a:solidFill>
                <a:latin typeface="Tahoma"/>
                <a:cs typeface="Tahoma"/>
              </a:rPr>
              <a:t>n</a:t>
            </a:r>
            <a:r>
              <a:rPr sz="950" spc="20" dirty="0">
                <a:solidFill>
                  <a:srgbClr val="1A1A1A"/>
                </a:solidFill>
                <a:latin typeface="Tahoma"/>
                <a:cs typeface="Tahoma"/>
              </a:rPr>
              <a:t>s</a:t>
            </a:r>
            <a:r>
              <a:rPr sz="950" spc="5" dirty="0">
                <a:solidFill>
                  <a:srgbClr val="1A1A1A"/>
                </a:solidFill>
                <a:latin typeface="Tahoma"/>
                <a:cs typeface="Tahoma"/>
              </a:rPr>
              <a:t>i</a:t>
            </a:r>
            <a:r>
              <a:rPr sz="950" spc="80" dirty="0">
                <a:solidFill>
                  <a:srgbClr val="1A1A1A"/>
                </a:solidFill>
                <a:latin typeface="Tahoma"/>
                <a:cs typeface="Tahoma"/>
              </a:rPr>
              <a:t>o</a:t>
            </a:r>
            <a:r>
              <a:rPr sz="950" spc="15" dirty="0">
                <a:solidFill>
                  <a:srgbClr val="1A1A1A"/>
                </a:solidFill>
                <a:latin typeface="Tahoma"/>
                <a:cs typeface="Tahoma"/>
              </a:rPr>
              <a:t>n</a:t>
            </a:r>
            <a:r>
              <a:rPr sz="950" spc="-90" dirty="0">
                <a:solidFill>
                  <a:srgbClr val="1A1A1A"/>
                </a:solidFill>
                <a:latin typeface="Tahoma"/>
                <a:cs typeface="Tahoma"/>
              </a:rPr>
              <a:t> </a:t>
            </a:r>
            <a:r>
              <a:rPr sz="950" spc="75" dirty="0">
                <a:solidFill>
                  <a:srgbClr val="1A1A1A"/>
                </a:solidFill>
                <a:latin typeface="Tahoma"/>
                <a:cs typeface="Tahoma"/>
              </a:rPr>
              <a:t>i</a:t>
            </a:r>
            <a:r>
              <a:rPr sz="950" spc="-5" dirty="0">
                <a:solidFill>
                  <a:srgbClr val="1A1A1A"/>
                </a:solidFill>
                <a:latin typeface="Tahoma"/>
                <a:cs typeface="Tahoma"/>
              </a:rPr>
              <a:t>n</a:t>
            </a:r>
            <a:r>
              <a:rPr sz="950" spc="50" dirty="0">
                <a:solidFill>
                  <a:srgbClr val="1A1A1A"/>
                </a:solidFill>
                <a:latin typeface="Tahoma"/>
                <a:cs typeface="Tahoma"/>
              </a:rPr>
              <a:t>t</a:t>
            </a:r>
            <a:r>
              <a:rPr sz="950" spc="35" dirty="0">
                <a:solidFill>
                  <a:srgbClr val="1A1A1A"/>
                </a:solidFill>
                <a:latin typeface="Tahoma"/>
                <a:cs typeface="Tahoma"/>
              </a:rPr>
              <a:t>o</a:t>
            </a:r>
            <a:r>
              <a:rPr sz="950" spc="-25" dirty="0">
                <a:solidFill>
                  <a:srgbClr val="1A1A1A"/>
                </a:solidFill>
                <a:latin typeface="Tahoma"/>
                <a:cs typeface="Tahoma"/>
              </a:rPr>
              <a:t> </a:t>
            </a:r>
            <a:r>
              <a:rPr sz="950" spc="25" dirty="0">
                <a:solidFill>
                  <a:srgbClr val="1A1A1A"/>
                </a:solidFill>
                <a:latin typeface="Tahoma"/>
                <a:cs typeface="Tahoma"/>
              </a:rPr>
              <a:t>emer</a:t>
            </a:r>
            <a:r>
              <a:rPr sz="950" spc="-5" dirty="0">
                <a:solidFill>
                  <a:srgbClr val="1A1A1A"/>
                </a:solidFill>
                <a:latin typeface="Tahoma"/>
                <a:cs typeface="Tahoma"/>
              </a:rPr>
              <a:t>g</a:t>
            </a:r>
            <a:r>
              <a:rPr sz="950" spc="5" dirty="0">
                <a:solidFill>
                  <a:srgbClr val="1A1A1A"/>
                </a:solidFill>
                <a:latin typeface="Tahoma"/>
                <a:cs typeface="Tahoma"/>
              </a:rPr>
              <a:t>i</a:t>
            </a:r>
            <a:r>
              <a:rPr sz="950" spc="-5" dirty="0">
                <a:solidFill>
                  <a:srgbClr val="1A1A1A"/>
                </a:solidFill>
                <a:latin typeface="Tahoma"/>
                <a:cs typeface="Tahoma"/>
              </a:rPr>
              <a:t>n</a:t>
            </a:r>
            <a:r>
              <a:rPr sz="950" spc="-20" dirty="0">
                <a:solidFill>
                  <a:srgbClr val="1A1A1A"/>
                </a:solidFill>
                <a:latin typeface="Tahoma"/>
                <a:cs typeface="Tahoma"/>
              </a:rPr>
              <a:t>g</a:t>
            </a:r>
            <a:r>
              <a:rPr sz="950" spc="20" dirty="0">
                <a:solidFill>
                  <a:srgbClr val="1A1A1A"/>
                </a:solidFill>
                <a:latin typeface="Tahoma"/>
                <a:cs typeface="Tahoma"/>
              </a:rPr>
              <a:t> </a:t>
            </a:r>
            <a:r>
              <a:rPr sz="950" spc="25" dirty="0">
                <a:solidFill>
                  <a:srgbClr val="1A1A1A"/>
                </a:solidFill>
                <a:latin typeface="Tahoma"/>
                <a:cs typeface="Tahoma"/>
              </a:rPr>
              <a:t>m</a:t>
            </a:r>
            <a:r>
              <a:rPr sz="950" spc="-50" dirty="0">
                <a:solidFill>
                  <a:srgbClr val="1A1A1A"/>
                </a:solidFill>
                <a:latin typeface="Tahoma"/>
                <a:cs typeface="Tahoma"/>
              </a:rPr>
              <a:t>a</a:t>
            </a:r>
            <a:r>
              <a:rPr sz="950" spc="25" dirty="0">
                <a:solidFill>
                  <a:srgbClr val="1A1A1A"/>
                </a:solidFill>
                <a:latin typeface="Tahoma"/>
                <a:cs typeface="Tahoma"/>
              </a:rPr>
              <a:t>r</a:t>
            </a:r>
            <a:r>
              <a:rPr sz="950" spc="50" dirty="0">
                <a:solidFill>
                  <a:srgbClr val="1A1A1A"/>
                </a:solidFill>
                <a:latin typeface="Tahoma"/>
                <a:cs typeface="Tahoma"/>
              </a:rPr>
              <a:t>k</a:t>
            </a:r>
            <a:r>
              <a:rPr sz="950" spc="25" dirty="0">
                <a:solidFill>
                  <a:srgbClr val="1A1A1A"/>
                </a:solidFill>
                <a:latin typeface="Tahoma"/>
                <a:cs typeface="Tahoma"/>
              </a:rPr>
              <a:t>e</a:t>
            </a:r>
            <a:r>
              <a:rPr sz="950" spc="50" dirty="0">
                <a:solidFill>
                  <a:srgbClr val="1A1A1A"/>
                </a:solidFill>
                <a:latin typeface="Tahoma"/>
                <a:cs typeface="Tahoma"/>
              </a:rPr>
              <a:t>t</a:t>
            </a:r>
            <a:r>
              <a:rPr sz="950" spc="20" dirty="0">
                <a:solidFill>
                  <a:srgbClr val="1A1A1A"/>
                </a:solidFill>
                <a:latin typeface="Tahoma"/>
                <a:cs typeface="Tahoma"/>
              </a:rPr>
              <a:t>s</a:t>
            </a:r>
            <a:r>
              <a:rPr sz="950" spc="-60" dirty="0">
                <a:solidFill>
                  <a:srgbClr val="1A1A1A"/>
                </a:solidFill>
                <a:latin typeface="Tahoma"/>
                <a:cs typeface="Tahoma"/>
              </a:rPr>
              <a:t>.</a:t>
            </a:r>
            <a:endParaRPr sz="950">
              <a:latin typeface="Tahoma"/>
              <a:cs typeface="Tahoma"/>
            </a:endParaRPr>
          </a:p>
          <a:p>
            <a:pPr marL="756285" indent="-286385">
              <a:lnSpc>
                <a:spcPct val="100000"/>
              </a:lnSpc>
              <a:spcBef>
                <a:spcPts val="135"/>
              </a:spcBef>
              <a:buClr>
                <a:srgbClr val="585858"/>
              </a:buClr>
              <a:buSzPct val="131578"/>
              <a:buChar char="○"/>
              <a:tabLst>
                <a:tab pos="756285" algn="l"/>
                <a:tab pos="756920" algn="l"/>
              </a:tabLst>
            </a:pPr>
            <a:r>
              <a:rPr sz="950" spc="35" dirty="0">
                <a:solidFill>
                  <a:srgbClr val="1A1A1A"/>
                </a:solidFill>
                <a:latin typeface="Tahoma"/>
                <a:cs typeface="Tahoma"/>
              </a:rPr>
              <a:t>Continued</a:t>
            </a:r>
            <a:r>
              <a:rPr sz="950" spc="-15" dirty="0">
                <a:solidFill>
                  <a:srgbClr val="1A1A1A"/>
                </a:solidFill>
                <a:latin typeface="Tahoma"/>
                <a:cs typeface="Tahoma"/>
              </a:rPr>
              <a:t> </a:t>
            </a:r>
            <a:r>
              <a:rPr sz="950" spc="20" dirty="0">
                <a:solidFill>
                  <a:srgbClr val="1A1A1A"/>
                </a:solidFill>
                <a:latin typeface="Tahoma"/>
                <a:cs typeface="Tahoma"/>
              </a:rPr>
              <a:t>innovation</a:t>
            </a:r>
            <a:r>
              <a:rPr sz="950" spc="-15" dirty="0">
                <a:solidFill>
                  <a:srgbClr val="1A1A1A"/>
                </a:solidFill>
                <a:latin typeface="Tahoma"/>
                <a:cs typeface="Tahoma"/>
              </a:rPr>
              <a:t> </a:t>
            </a:r>
            <a:r>
              <a:rPr sz="950" spc="10" dirty="0">
                <a:solidFill>
                  <a:srgbClr val="1A1A1A"/>
                </a:solidFill>
                <a:latin typeface="Tahoma"/>
                <a:cs typeface="Tahoma"/>
              </a:rPr>
              <a:t>in</a:t>
            </a:r>
            <a:r>
              <a:rPr sz="950" spc="-15" dirty="0">
                <a:solidFill>
                  <a:srgbClr val="1A1A1A"/>
                </a:solidFill>
                <a:latin typeface="Tahoma"/>
                <a:cs typeface="Tahoma"/>
              </a:rPr>
              <a:t> </a:t>
            </a:r>
            <a:r>
              <a:rPr sz="950" spc="20" dirty="0">
                <a:solidFill>
                  <a:srgbClr val="1A1A1A"/>
                </a:solidFill>
                <a:latin typeface="Tahoma"/>
                <a:cs typeface="Tahoma"/>
              </a:rPr>
              <a:t>healthier</a:t>
            </a:r>
            <a:r>
              <a:rPr sz="950" spc="-50" dirty="0">
                <a:solidFill>
                  <a:srgbClr val="1A1A1A"/>
                </a:solidFill>
                <a:latin typeface="Tahoma"/>
                <a:cs typeface="Tahoma"/>
              </a:rPr>
              <a:t> </a:t>
            </a:r>
            <a:r>
              <a:rPr sz="950" spc="15" dirty="0">
                <a:solidFill>
                  <a:srgbClr val="1A1A1A"/>
                </a:solidFill>
                <a:latin typeface="Tahoma"/>
                <a:cs typeface="Tahoma"/>
              </a:rPr>
              <a:t>beverage</a:t>
            </a:r>
            <a:r>
              <a:rPr sz="950" spc="-60" dirty="0">
                <a:solidFill>
                  <a:srgbClr val="1A1A1A"/>
                </a:solidFill>
                <a:latin typeface="Tahoma"/>
                <a:cs typeface="Tahoma"/>
              </a:rPr>
              <a:t> </a:t>
            </a:r>
            <a:r>
              <a:rPr sz="950" spc="15" dirty="0">
                <a:solidFill>
                  <a:srgbClr val="1A1A1A"/>
                </a:solidFill>
                <a:latin typeface="Tahoma"/>
                <a:cs typeface="Tahoma"/>
              </a:rPr>
              <a:t>choices.</a:t>
            </a:r>
            <a:endParaRPr sz="950">
              <a:latin typeface="Tahoma"/>
              <a:cs typeface="Tahoma"/>
            </a:endParaRPr>
          </a:p>
          <a:p>
            <a:pPr marL="927735" marR="92710" lvl="1" indent="-299085">
              <a:lnSpc>
                <a:spcPct val="112000"/>
              </a:lnSpc>
              <a:spcBef>
                <a:spcPts val="5"/>
              </a:spcBef>
              <a:buClr>
                <a:srgbClr val="585858"/>
              </a:buClr>
              <a:buSzPct val="131578"/>
              <a:buChar char="○"/>
              <a:tabLst>
                <a:tab pos="927735" algn="l"/>
                <a:tab pos="928369" algn="l"/>
              </a:tabLst>
            </a:pPr>
            <a:r>
              <a:rPr sz="950" spc="20" dirty="0">
                <a:solidFill>
                  <a:srgbClr val="1A1A1A"/>
                </a:solidFill>
                <a:latin typeface="Tahoma"/>
                <a:cs typeface="Tahoma"/>
              </a:rPr>
              <a:t>Strategic</a:t>
            </a:r>
            <a:r>
              <a:rPr sz="950" spc="-80" dirty="0">
                <a:solidFill>
                  <a:srgbClr val="1A1A1A"/>
                </a:solidFill>
                <a:latin typeface="Tahoma"/>
                <a:cs typeface="Tahoma"/>
              </a:rPr>
              <a:t> </a:t>
            </a:r>
            <a:r>
              <a:rPr sz="950" spc="20" dirty="0">
                <a:solidFill>
                  <a:srgbClr val="1A1A1A"/>
                </a:solidFill>
                <a:latin typeface="Tahoma"/>
                <a:cs typeface="Tahoma"/>
              </a:rPr>
              <a:t>partnerships</a:t>
            </a:r>
            <a:r>
              <a:rPr sz="950" spc="40" dirty="0">
                <a:solidFill>
                  <a:srgbClr val="1A1A1A"/>
                </a:solidFill>
                <a:latin typeface="Tahoma"/>
                <a:cs typeface="Tahoma"/>
              </a:rPr>
              <a:t> </a:t>
            </a:r>
            <a:r>
              <a:rPr sz="950" spc="10" dirty="0">
                <a:solidFill>
                  <a:srgbClr val="1A1A1A"/>
                </a:solidFill>
                <a:latin typeface="Tahoma"/>
                <a:cs typeface="Tahoma"/>
              </a:rPr>
              <a:t>and</a:t>
            </a:r>
            <a:r>
              <a:rPr sz="950" spc="-15" dirty="0">
                <a:solidFill>
                  <a:srgbClr val="1A1A1A"/>
                </a:solidFill>
                <a:latin typeface="Tahoma"/>
                <a:cs typeface="Tahoma"/>
              </a:rPr>
              <a:t> </a:t>
            </a:r>
            <a:r>
              <a:rPr sz="950" spc="20" dirty="0">
                <a:solidFill>
                  <a:srgbClr val="1A1A1A"/>
                </a:solidFill>
                <a:latin typeface="Tahoma"/>
                <a:cs typeface="Tahoma"/>
              </a:rPr>
              <a:t>acquisitions</a:t>
            </a:r>
            <a:r>
              <a:rPr sz="950" spc="-35" dirty="0">
                <a:solidFill>
                  <a:srgbClr val="1A1A1A"/>
                </a:solidFill>
                <a:latin typeface="Tahoma"/>
                <a:cs typeface="Tahoma"/>
              </a:rPr>
              <a:t> </a:t>
            </a:r>
            <a:r>
              <a:rPr sz="950" spc="40" dirty="0">
                <a:solidFill>
                  <a:srgbClr val="1A1A1A"/>
                </a:solidFill>
                <a:latin typeface="Tahoma"/>
                <a:cs typeface="Tahoma"/>
              </a:rPr>
              <a:t>to</a:t>
            </a:r>
            <a:r>
              <a:rPr sz="950" spc="-20" dirty="0">
                <a:solidFill>
                  <a:srgbClr val="1A1A1A"/>
                </a:solidFill>
                <a:latin typeface="Tahoma"/>
                <a:cs typeface="Tahoma"/>
              </a:rPr>
              <a:t> </a:t>
            </a:r>
            <a:r>
              <a:rPr sz="950" spc="15" dirty="0">
                <a:solidFill>
                  <a:srgbClr val="1A1A1A"/>
                </a:solidFill>
                <a:latin typeface="Tahoma"/>
                <a:cs typeface="Tahoma"/>
              </a:rPr>
              <a:t>enhance </a:t>
            </a:r>
            <a:r>
              <a:rPr sz="950" spc="-280" dirty="0">
                <a:solidFill>
                  <a:srgbClr val="1A1A1A"/>
                </a:solidFill>
                <a:latin typeface="Tahoma"/>
                <a:cs typeface="Tahoma"/>
              </a:rPr>
              <a:t> </a:t>
            </a:r>
            <a:r>
              <a:rPr sz="950" spc="30" dirty="0">
                <a:solidFill>
                  <a:srgbClr val="1A1A1A"/>
                </a:solidFill>
                <a:latin typeface="Tahoma"/>
                <a:cs typeface="Tahoma"/>
              </a:rPr>
              <a:t>product</a:t>
            </a:r>
            <a:r>
              <a:rPr sz="950" spc="-55" dirty="0">
                <a:solidFill>
                  <a:srgbClr val="1A1A1A"/>
                </a:solidFill>
                <a:latin typeface="Tahoma"/>
                <a:cs typeface="Tahoma"/>
              </a:rPr>
              <a:t> </a:t>
            </a:r>
            <a:r>
              <a:rPr sz="950" spc="20" dirty="0">
                <a:solidFill>
                  <a:srgbClr val="1A1A1A"/>
                </a:solidFill>
                <a:latin typeface="Tahoma"/>
                <a:cs typeface="Tahoma"/>
              </a:rPr>
              <a:t>offerings.</a:t>
            </a:r>
            <a:endParaRPr sz="950">
              <a:latin typeface="Tahoma"/>
              <a:cs typeface="Tahoma"/>
            </a:endParaRPr>
          </a:p>
          <a:p>
            <a:pPr marL="298450" indent="-286385">
              <a:lnSpc>
                <a:spcPct val="100000"/>
              </a:lnSpc>
              <a:spcBef>
                <a:spcPts val="35"/>
              </a:spcBef>
              <a:buClr>
                <a:srgbClr val="585858"/>
              </a:buClr>
              <a:buSzPct val="104166"/>
              <a:buFont typeface="Tahoma"/>
              <a:buChar char="●"/>
              <a:tabLst>
                <a:tab pos="298450" algn="l"/>
                <a:tab pos="299085" algn="l"/>
              </a:tabLst>
            </a:pPr>
            <a:r>
              <a:rPr sz="1200" b="1" spc="-80" dirty="0">
                <a:solidFill>
                  <a:srgbClr val="1A1A1A"/>
                </a:solidFill>
                <a:latin typeface="Tahoma"/>
                <a:cs typeface="Tahoma"/>
              </a:rPr>
              <a:t>Threats</a:t>
            </a:r>
            <a:r>
              <a:rPr sz="1200" spc="-80" dirty="0">
                <a:solidFill>
                  <a:srgbClr val="1A1A1A"/>
                </a:solidFill>
                <a:latin typeface="Tahoma"/>
                <a:cs typeface="Tahoma"/>
              </a:rPr>
              <a:t>:</a:t>
            </a:r>
            <a:endParaRPr sz="1200">
              <a:latin typeface="Tahoma"/>
              <a:cs typeface="Tahoma"/>
            </a:endParaRPr>
          </a:p>
          <a:p>
            <a:pPr marL="927735" lvl="1" indent="-299085">
              <a:lnSpc>
                <a:spcPct val="100000"/>
              </a:lnSpc>
              <a:spcBef>
                <a:spcPts val="165"/>
              </a:spcBef>
              <a:buClr>
                <a:srgbClr val="585858"/>
              </a:buClr>
              <a:buSzPct val="115789"/>
              <a:buChar char="○"/>
              <a:tabLst>
                <a:tab pos="927735" algn="l"/>
                <a:tab pos="928369" algn="l"/>
              </a:tabLst>
            </a:pPr>
            <a:r>
              <a:rPr sz="950" spc="10" dirty="0">
                <a:solidFill>
                  <a:srgbClr val="1A1A1A"/>
                </a:solidFill>
                <a:latin typeface="Tahoma"/>
                <a:cs typeface="Tahoma"/>
              </a:rPr>
              <a:t>Increasing</a:t>
            </a:r>
            <a:r>
              <a:rPr sz="950" spc="-55" dirty="0">
                <a:solidFill>
                  <a:srgbClr val="1A1A1A"/>
                </a:solidFill>
                <a:latin typeface="Tahoma"/>
                <a:cs typeface="Tahoma"/>
              </a:rPr>
              <a:t> </a:t>
            </a:r>
            <a:r>
              <a:rPr sz="950" spc="15" dirty="0">
                <a:solidFill>
                  <a:srgbClr val="1A1A1A"/>
                </a:solidFill>
                <a:latin typeface="Tahoma"/>
                <a:cs typeface="Tahoma"/>
              </a:rPr>
              <a:t>health</a:t>
            </a:r>
            <a:r>
              <a:rPr sz="950" spc="-10" dirty="0">
                <a:solidFill>
                  <a:srgbClr val="1A1A1A"/>
                </a:solidFill>
                <a:latin typeface="Tahoma"/>
                <a:cs typeface="Tahoma"/>
              </a:rPr>
              <a:t> </a:t>
            </a:r>
            <a:r>
              <a:rPr sz="950" spc="15" dirty="0">
                <a:solidFill>
                  <a:srgbClr val="1A1A1A"/>
                </a:solidFill>
                <a:latin typeface="Tahoma"/>
                <a:cs typeface="Tahoma"/>
              </a:rPr>
              <a:t>regulations</a:t>
            </a:r>
            <a:r>
              <a:rPr sz="950" spc="-40" dirty="0">
                <a:solidFill>
                  <a:srgbClr val="1A1A1A"/>
                </a:solidFill>
                <a:latin typeface="Tahoma"/>
                <a:cs typeface="Tahoma"/>
              </a:rPr>
              <a:t> </a:t>
            </a:r>
            <a:r>
              <a:rPr sz="950" spc="10" dirty="0">
                <a:solidFill>
                  <a:srgbClr val="1A1A1A"/>
                </a:solidFill>
                <a:latin typeface="Tahoma"/>
                <a:cs typeface="Tahoma"/>
              </a:rPr>
              <a:t>and</a:t>
            </a:r>
            <a:r>
              <a:rPr sz="950" spc="-20" dirty="0">
                <a:solidFill>
                  <a:srgbClr val="1A1A1A"/>
                </a:solidFill>
                <a:latin typeface="Tahoma"/>
                <a:cs typeface="Tahoma"/>
              </a:rPr>
              <a:t> </a:t>
            </a:r>
            <a:r>
              <a:rPr sz="950" spc="10" dirty="0">
                <a:solidFill>
                  <a:srgbClr val="1A1A1A"/>
                </a:solidFill>
                <a:latin typeface="Tahoma"/>
                <a:cs typeface="Tahoma"/>
              </a:rPr>
              <a:t>sugar</a:t>
            </a:r>
            <a:r>
              <a:rPr sz="950" spc="-50" dirty="0">
                <a:solidFill>
                  <a:srgbClr val="1A1A1A"/>
                </a:solidFill>
                <a:latin typeface="Tahoma"/>
                <a:cs typeface="Tahoma"/>
              </a:rPr>
              <a:t> </a:t>
            </a:r>
            <a:r>
              <a:rPr sz="950" spc="5" dirty="0">
                <a:solidFill>
                  <a:srgbClr val="1A1A1A"/>
                </a:solidFill>
                <a:latin typeface="Tahoma"/>
                <a:cs typeface="Tahoma"/>
              </a:rPr>
              <a:t>taxes.</a:t>
            </a:r>
            <a:endParaRPr sz="950">
              <a:latin typeface="Tahoma"/>
              <a:cs typeface="Tahoma"/>
            </a:endParaRPr>
          </a:p>
          <a:p>
            <a:pPr marL="927735" lvl="1" indent="-299085">
              <a:lnSpc>
                <a:spcPct val="100000"/>
              </a:lnSpc>
              <a:spcBef>
                <a:spcPts val="135"/>
              </a:spcBef>
              <a:buClr>
                <a:srgbClr val="585858"/>
              </a:buClr>
              <a:buSzPct val="115789"/>
              <a:buChar char="○"/>
              <a:tabLst>
                <a:tab pos="927735" algn="l"/>
                <a:tab pos="928369" algn="l"/>
              </a:tabLst>
            </a:pPr>
            <a:r>
              <a:rPr sz="950" spc="-60" dirty="0">
                <a:solidFill>
                  <a:srgbClr val="1A1A1A"/>
                </a:solidFill>
                <a:latin typeface="Tahoma"/>
                <a:cs typeface="Tahoma"/>
              </a:rPr>
              <a:t>I</a:t>
            </a:r>
            <a:r>
              <a:rPr sz="950" spc="-10" dirty="0">
                <a:solidFill>
                  <a:srgbClr val="1A1A1A"/>
                </a:solidFill>
                <a:latin typeface="Tahoma"/>
                <a:cs typeface="Tahoma"/>
              </a:rPr>
              <a:t>n</a:t>
            </a:r>
            <a:r>
              <a:rPr sz="950" spc="50" dirty="0">
                <a:solidFill>
                  <a:srgbClr val="1A1A1A"/>
                </a:solidFill>
                <a:latin typeface="Tahoma"/>
                <a:cs typeface="Tahoma"/>
              </a:rPr>
              <a:t>t</a:t>
            </a:r>
            <a:r>
              <a:rPr sz="950" spc="20" dirty="0">
                <a:solidFill>
                  <a:srgbClr val="1A1A1A"/>
                </a:solidFill>
                <a:latin typeface="Tahoma"/>
                <a:cs typeface="Tahoma"/>
              </a:rPr>
              <a:t>e</a:t>
            </a:r>
            <a:r>
              <a:rPr sz="950" spc="65" dirty="0">
                <a:solidFill>
                  <a:srgbClr val="1A1A1A"/>
                </a:solidFill>
                <a:latin typeface="Tahoma"/>
                <a:cs typeface="Tahoma"/>
              </a:rPr>
              <a:t>n</a:t>
            </a:r>
            <a:r>
              <a:rPr sz="950" spc="-55" dirty="0">
                <a:solidFill>
                  <a:srgbClr val="1A1A1A"/>
                </a:solidFill>
                <a:latin typeface="Tahoma"/>
                <a:cs typeface="Tahoma"/>
              </a:rPr>
              <a:t>s</a:t>
            </a:r>
            <a:r>
              <a:rPr sz="950" spc="10" dirty="0">
                <a:solidFill>
                  <a:srgbClr val="1A1A1A"/>
                </a:solidFill>
                <a:latin typeface="Tahoma"/>
                <a:cs typeface="Tahoma"/>
              </a:rPr>
              <a:t>e c</a:t>
            </a:r>
            <a:r>
              <a:rPr sz="950" spc="80" dirty="0">
                <a:solidFill>
                  <a:srgbClr val="1A1A1A"/>
                </a:solidFill>
                <a:latin typeface="Tahoma"/>
                <a:cs typeface="Tahoma"/>
              </a:rPr>
              <a:t>o</a:t>
            </a:r>
            <a:r>
              <a:rPr sz="950" spc="20" dirty="0">
                <a:solidFill>
                  <a:srgbClr val="1A1A1A"/>
                </a:solidFill>
                <a:latin typeface="Tahoma"/>
                <a:cs typeface="Tahoma"/>
              </a:rPr>
              <a:t>m</a:t>
            </a:r>
            <a:r>
              <a:rPr sz="950" dirty="0">
                <a:solidFill>
                  <a:srgbClr val="1A1A1A"/>
                </a:solidFill>
                <a:latin typeface="Tahoma"/>
                <a:cs typeface="Tahoma"/>
              </a:rPr>
              <a:t>p</a:t>
            </a:r>
            <a:r>
              <a:rPr sz="950" spc="20" dirty="0">
                <a:solidFill>
                  <a:srgbClr val="1A1A1A"/>
                </a:solidFill>
                <a:latin typeface="Tahoma"/>
                <a:cs typeface="Tahoma"/>
              </a:rPr>
              <a:t>e</a:t>
            </a:r>
            <a:r>
              <a:rPr sz="950" spc="50" dirty="0">
                <a:solidFill>
                  <a:srgbClr val="1A1A1A"/>
                </a:solidFill>
                <a:latin typeface="Tahoma"/>
                <a:cs typeface="Tahoma"/>
              </a:rPr>
              <a:t>t</a:t>
            </a:r>
            <a:r>
              <a:rPr sz="950" spc="5" dirty="0">
                <a:solidFill>
                  <a:srgbClr val="1A1A1A"/>
                </a:solidFill>
                <a:latin typeface="Tahoma"/>
                <a:cs typeface="Tahoma"/>
              </a:rPr>
              <a:t>i</a:t>
            </a:r>
            <a:r>
              <a:rPr sz="950" spc="50" dirty="0">
                <a:solidFill>
                  <a:srgbClr val="1A1A1A"/>
                </a:solidFill>
                <a:latin typeface="Tahoma"/>
                <a:cs typeface="Tahoma"/>
              </a:rPr>
              <a:t>t</a:t>
            </a:r>
            <a:r>
              <a:rPr sz="950" spc="5" dirty="0">
                <a:solidFill>
                  <a:srgbClr val="1A1A1A"/>
                </a:solidFill>
                <a:latin typeface="Tahoma"/>
                <a:cs typeface="Tahoma"/>
              </a:rPr>
              <a:t>i</a:t>
            </a:r>
            <a:r>
              <a:rPr sz="950" spc="80" dirty="0">
                <a:solidFill>
                  <a:srgbClr val="1A1A1A"/>
                </a:solidFill>
                <a:latin typeface="Tahoma"/>
                <a:cs typeface="Tahoma"/>
              </a:rPr>
              <a:t>o</a:t>
            </a:r>
            <a:r>
              <a:rPr sz="950" spc="10" dirty="0">
                <a:solidFill>
                  <a:srgbClr val="1A1A1A"/>
                </a:solidFill>
                <a:latin typeface="Tahoma"/>
                <a:cs typeface="Tahoma"/>
              </a:rPr>
              <a:t>n</a:t>
            </a:r>
            <a:r>
              <a:rPr sz="950" spc="-90" dirty="0">
                <a:solidFill>
                  <a:srgbClr val="1A1A1A"/>
                </a:solidFill>
                <a:latin typeface="Tahoma"/>
                <a:cs typeface="Tahoma"/>
              </a:rPr>
              <a:t> </a:t>
            </a:r>
            <a:r>
              <a:rPr sz="950" spc="65" dirty="0">
                <a:solidFill>
                  <a:srgbClr val="1A1A1A"/>
                </a:solidFill>
                <a:latin typeface="Tahoma"/>
                <a:cs typeface="Tahoma"/>
              </a:rPr>
              <a:t>f</a:t>
            </a:r>
            <a:r>
              <a:rPr sz="950" spc="25" dirty="0">
                <a:solidFill>
                  <a:srgbClr val="1A1A1A"/>
                </a:solidFill>
                <a:latin typeface="Tahoma"/>
                <a:cs typeface="Tahoma"/>
              </a:rPr>
              <a:t>r</a:t>
            </a:r>
            <a:r>
              <a:rPr sz="950" spc="5" dirty="0">
                <a:solidFill>
                  <a:srgbClr val="1A1A1A"/>
                </a:solidFill>
                <a:latin typeface="Tahoma"/>
                <a:cs typeface="Tahoma"/>
              </a:rPr>
              <a:t>o</a:t>
            </a:r>
            <a:r>
              <a:rPr sz="950" dirty="0">
                <a:solidFill>
                  <a:srgbClr val="1A1A1A"/>
                </a:solidFill>
                <a:latin typeface="Tahoma"/>
                <a:cs typeface="Tahoma"/>
              </a:rPr>
              <a:t>m</a:t>
            </a:r>
            <a:r>
              <a:rPr sz="950" spc="25" dirty="0">
                <a:solidFill>
                  <a:srgbClr val="1A1A1A"/>
                </a:solidFill>
                <a:latin typeface="Tahoma"/>
                <a:cs typeface="Tahoma"/>
              </a:rPr>
              <a:t> </a:t>
            </a:r>
            <a:r>
              <a:rPr sz="950" spc="5" dirty="0">
                <a:solidFill>
                  <a:srgbClr val="1A1A1A"/>
                </a:solidFill>
                <a:latin typeface="Tahoma"/>
                <a:cs typeface="Tahoma"/>
              </a:rPr>
              <a:t>o</a:t>
            </a:r>
            <a:r>
              <a:rPr sz="950" spc="50" dirty="0">
                <a:solidFill>
                  <a:srgbClr val="1A1A1A"/>
                </a:solidFill>
                <a:latin typeface="Tahoma"/>
                <a:cs typeface="Tahoma"/>
              </a:rPr>
              <a:t>t</a:t>
            </a:r>
            <a:r>
              <a:rPr sz="950" spc="65" dirty="0">
                <a:solidFill>
                  <a:srgbClr val="1A1A1A"/>
                </a:solidFill>
                <a:latin typeface="Tahoma"/>
                <a:cs typeface="Tahoma"/>
              </a:rPr>
              <a:t>h</a:t>
            </a:r>
            <a:r>
              <a:rPr sz="950" spc="20" dirty="0">
                <a:solidFill>
                  <a:srgbClr val="1A1A1A"/>
                </a:solidFill>
                <a:latin typeface="Tahoma"/>
                <a:cs typeface="Tahoma"/>
              </a:rPr>
              <a:t>e</a:t>
            </a:r>
            <a:r>
              <a:rPr sz="950" spc="10" dirty="0">
                <a:solidFill>
                  <a:srgbClr val="1A1A1A"/>
                </a:solidFill>
                <a:latin typeface="Tahoma"/>
                <a:cs typeface="Tahoma"/>
              </a:rPr>
              <a:t>r</a:t>
            </a:r>
            <a:r>
              <a:rPr sz="950" spc="-55" dirty="0">
                <a:solidFill>
                  <a:srgbClr val="1A1A1A"/>
                </a:solidFill>
                <a:latin typeface="Tahoma"/>
                <a:cs typeface="Tahoma"/>
              </a:rPr>
              <a:t> </a:t>
            </a:r>
            <a:r>
              <a:rPr sz="950" dirty="0">
                <a:solidFill>
                  <a:srgbClr val="1A1A1A"/>
                </a:solidFill>
                <a:latin typeface="Tahoma"/>
                <a:cs typeface="Tahoma"/>
              </a:rPr>
              <a:t>b</a:t>
            </a:r>
            <a:r>
              <a:rPr sz="950" spc="20" dirty="0">
                <a:solidFill>
                  <a:srgbClr val="1A1A1A"/>
                </a:solidFill>
                <a:latin typeface="Tahoma"/>
                <a:cs typeface="Tahoma"/>
              </a:rPr>
              <a:t>e</a:t>
            </a:r>
            <a:r>
              <a:rPr sz="950" spc="50" dirty="0">
                <a:solidFill>
                  <a:srgbClr val="1A1A1A"/>
                </a:solidFill>
                <a:latin typeface="Tahoma"/>
                <a:cs typeface="Tahoma"/>
              </a:rPr>
              <a:t>v</a:t>
            </a:r>
            <a:r>
              <a:rPr sz="950" spc="20" dirty="0">
                <a:solidFill>
                  <a:srgbClr val="1A1A1A"/>
                </a:solidFill>
                <a:latin typeface="Tahoma"/>
                <a:cs typeface="Tahoma"/>
              </a:rPr>
              <a:t>e</a:t>
            </a:r>
            <a:r>
              <a:rPr sz="950" spc="25" dirty="0">
                <a:solidFill>
                  <a:srgbClr val="1A1A1A"/>
                </a:solidFill>
                <a:latin typeface="Tahoma"/>
                <a:cs typeface="Tahoma"/>
              </a:rPr>
              <a:t>ra</a:t>
            </a:r>
            <a:r>
              <a:rPr sz="950" spc="-5" dirty="0">
                <a:solidFill>
                  <a:srgbClr val="1A1A1A"/>
                </a:solidFill>
                <a:latin typeface="Tahoma"/>
                <a:cs typeface="Tahoma"/>
              </a:rPr>
              <a:t>g</a:t>
            </a:r>
            <a:r>
              <a:rPr sz="950" spc="10" dirty="0">
                <a:solidFill>
                  <a:srgbClr val="1A1A1A"/>
                </a:solidFill>
                <a:latin typeface="Tahoma"/>
                <a:cs typeface="Tahoma"/>
              </a:rPr>
              <a:t>e</a:t>
            </a:r>
            <a:endParaRPr sz="950">
              <a:latin typeface="Tahoma"/>
              <a:cs typeface="Tahoma"/>
            </a:endParaRPr>
          </a:p>
          <a:p>
            <a:pPr marL="927735">
              <a:lnSpc>
                <a:spcPct val="100000"/>
              </a:lnSpc>
              <a:spcBef>
                <a:spcPts val="60"/>
              </a:spcBef>
            </a:pPr>
            <a:r>
              <a:rPr sz="950" spc="10" dirty="0">
                <a:solidFill>
                  <a:srgbClr val="1A1A1A"/>
                </a:solidFill>
                <a:latin typeface="Tahoma"/>
                <a:cs typeface="Tahoma"/>
              </a:rPr>
              <a:t>c</a:t>
            </a:r>
            <a:r>
              <a:rPr sz="950" spc="80" dirty="0">
                <a:solidFill>
                  <a:srgbClr val="1A1A1A"/>
                </a:solidFill>
                <a:latin typeface="Tahoma"/>
                <a:cs typeface="Tahoma"/>
              </a:rPr>
              <a:t>o</a:t>
            </a:r>
            <a:r>
              <a:rPr sz="950" spc="25" dirty="0">
                <a:solidFill>
                  <a:srgbClr val="1A1A1A"/>
                </a:solidFill>
                <a:latin typeface="Tahoma"/>
                <a:cs typeface="Tahoma"/>
              </a:rPr>
              <a:t>m</a:t>
            </a:r>
            <a:r>
              <a:rPr sz="950" dirty="0">
                <a:solidFill>
                  <a:srgbClr val="1A1A1A"/>
                </a:solidFill>
                <a:latin typeface="Tahoma"/>
                <a:cs typeface="Tahoma"/>
              </a:rPr>
              <a:t>p</a:t>
            </a:r>
            <a:r>
              <a:rPr sz="950" spc="25" dirty="0">
                <a:solidFill>
                  <a:srgbClr val="1A1A1A"/>
                </a:solidFill>
                <a:latin typeface="Tahoma"/>
                <a:cs typeface="Tahoma"/>
              </a:rPr>
              <a:t>a</a:t>
            </a:r>
            <a:r>
              <a:rPr sz="950" spc="70" dirty="0">
                <a:solidFill>
                  <a:srgbClr val="1A1A1A"/>
                </a:solidFill>
                <a:latin typeface="Tahoma"/>
                <a:cs typeface="Tahoma"/>
              </a:rPr>
              <a:t>n</a:t>
            </a:r>
            <a:r>
              <a:rPr sz="950" spc="5" dirty="0">
                <a:solidFill>
                  <a:srgbClr val="1A1A1A"/>
                </a:solidFill>
                <a:latin typeface="Tahoma"/>
                <a:cs typeface="Tahoma"/>
              </a:rPr>
              <a:t>i</a:t>
            </a:r>
            <a:r>
              <a:rPr sz="950" spc="25" dirty="0">
                <a:solidFill>
                  <a:srgbClr val="1A1A1A"/>
                </a:solidFill>
                <a:latin typeface="Tahoma"/>
                <a:cs typeface="Tahoma"/>
              </a:rPr>
              <a:t>e</a:t>
            </a:r>
            <a:r>
              <a:rPr sz="950" spc="-5" dirty="0">
                <a:solidFill>
                  <a:srgbClr val="1A1A1A"/>
                </a:solidFill>
                <a:latin typeface="Tahoma"/>
                <a:cs typeface="Tahoma"/>
              </a:rPr>
              <a:t>s</a:t>
            </a:r>
            <a:r>
              <a:rPr sz="950" spc="-45" dirty="0">
                <a:solidFill>
                  <a:srgbClr val="1A1A1A"/>
                </a:solidFill>
                <a:latin typeface="Tahoma"/>
                <a:cs typeface="Tahoma"/>
              </a:rPr>
              <a:t> </a:t>
            </a:r>
            <a:r>
              <a:rPr sz="950" spc="25" dirty="0">
                <a:solidFill>
                  <a:srgbClr val="1A1A1A"/>
                </a:solidFill>
                <a:latin typeface="Tahoma"/>
                <a:cs typeface="Tahoma"/>
              </a:rPr>
              <a:t>a</a:t>
            </a:r>
            <a:r>
              <a:rPr sz="950" spc="-5" dirty="0">
                <a:solidFill>
                  <a:srgbClr val="1A1A1A"/>
                </a:solidFill>
                <a:latin typeface="Tahoma"/>
                <a:cs typeface="Tahoma"/>
              </a:rPr>
              <a:t>n</a:t>
            </a:r>
            <a:r>
              <a:rPr sz="950" spc="20" dirty="0">
                <a:solidFill>
                  <a:srgbClr val="1A1A1A"/>
                </a:solidFill>
                <a:latin typeface="Tahoma"/>
                <a:cs typeface="Tahoma"/>
              </a:rPr>
              <a:t>d</a:t>
            </a:r>
            <a:r>
              <a:rPr sz="950" spc="-20" dirty="0">
                <a:solidFill>
                  <a:srgbClr val="1A1A1A"/>
                </a:solidFill>
                <a:latin typeface="Tahoma"/>
                <a:cs typeface="Tahoma"/>
              </a:rPr>
              <a:t> </a:t>
            </a:r>
            <a:r>
              <a:rPr sz="950" dirty="0">
                <a:solidFill>
                  <a:srgbClr val="1A1A1A"/>
                </a:solidFill>
                <a:latin typeface="Tahoma"/>
                <a:cs typeface="Tahoma"/>
              </a:rPr>
              <a:t>l</a:t>
            </a:r>
            <a:r>
              <a:rPr sz="950" spc="80" dirty="0">
                <a:solidFill>
                  <a:srgbClr val="1A1A1A"/>
                </a:solidFill>
                <a:latin typeface="Tahoma"/>
                <a:cs typeface="Tahoma"/>
              </a:rPr>
              <a:t>o</a:t>
            </a:r>
            <a:r>
              <a:rPr sz="950" spc="10" dirty="0">
                <a:solidFill>
                  <a:srgbClr val="1A1A1A"/>
                </a:solidFill>
                <a:latin typeface="Tahoma"/>
                <a:cs typeface="Tahoma"/>
              </a:rPr>
              <a:t>c</a:t>
            </a:r>
            <a:r>
              <a:rPr sz="950" spc="25" dirty="0">
                <a:solidFill>
                  <a:srgbClr val="1A1A1A"/>
                </a:solidFill>
                <a:latin typeface="Tahoma"/>
                <a:cs typeface="Tahoma"/>
              </a:rPr>
              <a:t>a</a:t>
            </a:r>
            <a:r>
              <a:rPr sz="950" spc="10" dirty="0">
                <a:solidFill>
                  <a:srgbClr val="1A1A1A"/>
                </a:solidFill>
                <a:latin typeface="Tahoma"/>
                <a:cs typeface="Tahoma"/>
              </a:rPr>
              <a:t>l</a:t>
            </a:r>
            <a:r>
              <a:rPr sz="950" spc="-80" dirty="0">
                <a:solidFill>
                  <a:srgbClr val="1A1A1A"/>
                </a:solidFill>
                <a:latin typeface="Tahoma"/>
                <a:cs typeface="Tahoma"/>
              </a:rPr>
              <a:t> </a:t>
            </a:r>
            <a:r>
              <a:rPr sz="950" spc="70" dirty="0">
                <a:solidFill>
                  <a:srgbClr val="1A1A1A"/>
                </a:solidFill>
                <a:latin typeface="Tahoma"/>
                <a:cs typeface="Tahoma"/>
              </a:rPr>
              <a:t>b</a:t>
            </a:r>
            <a:r>
              <a:rPr sz="950" spc="-50" dirty="0">
                <a:solidFill>
                  <a:srgbClr val="1A1A1A"/>
                </a:solidFill>
                <a:latin typeface="Tahoma"/>
                <a:cs typeface="Tahoma"/>
              </a:rPr>
              <a:t>r</a:t>
            </a:r>
            <a:r>
              <a:rPr sz="950" spc="25" dirty="0">
                <a:solidFill>
                  <a:srgbClr val="1A1A1A"/>
                </a:solidFill>
                <a:latin typeface="Tahoma"/>
                <a:cs typeface="Tahoma"/>
              </a:rPr>
              <a:t>a</a:t>
            </a:r>
            <a:r>
              <a:rPr sz="950" spc="70" dirty="0">
                <a:solidFill>
                  <a:srgbClr val="1A1A1A"/>
                </a:solidFill>
                <a:latin typeface="Tahoma"/>
                <a:cs typeface="Tahoma"/>
              </a:rPr>
              <a:t>n</a:t>
            </a:r>
            <a:r>
              <a:rPr sz="950" dirty="0">
                <a:solidFill>
                  <a:srgbClr val="1A1A1A"/>
                </a:solidFill>
                <a:latin typeface="Tahoma"/>
                <a:cs typeface="Tahoma"/>
              </a:rPr>
              <a:t>d</a:t>
            </a:r>
            <a:r>
              <a:rPr sz="950" spc="20" dirty="0">
                <a:solidFill>
                  <a:srgbClr val="1A1A1A"/>
                </a:solidFill>
                <a:latin typeface="Tahoma"/>
                <a:cs typeface="Tahoma"/>
              </a:rPr>
              <a:t>s</a:t>
            </a:r>
            <a:r>
              <a:rPr sz="950" spc="-60" dirty="0">
                <a:solidFill>
                  <a:srgbClr val="1A1A1A"/>
                </a:solidFill>
                <a:latin typeface="Tahoma"/>
                <a:cs typeface="Tahoma"/>
              </a:rPr>
              <a:t>.</a:t>
            </a:r>
            <a:endParaRPr sz="950">
              <a:latin typeface="Tahoma"/>
              <a:cs typeface="Tahoma"/>
            </a:endParaRPr>
          </a:p>
          <a:p>
            <a:pPr marL="927735" lvl="1" indent="-299085">
              <a:lnSpc>
                <a:spcPct val="100000"/>
              </a:lnSpc>
              <a:spcBef>
                <a:spcPts val="140"/>
              </a:spcBef>
              <a:buClr>
                <a:srgbClr val="585858"/>
              </a:buClr>
              <a:buSzPct val="115789"/>
              <a:buChar char="○"/>
              <a:tabLst>
                <a:tab pos="927735" algn="l"/>
                <a:tab pos="928369" algn="l"/>
              </a:tabLst>
            </a:pPr>
            <a:r>
              <a:rPr sz="950" spc="35" dirty="0">
                <a:solidFill>
                  <a:srgbClr val="1A1A1A"/>
                </a:solidFill>
                <a:latin typeface="Tahoma"/>
                <a:cs typeface="Tahoma"/>
              </a:rPr>
              <a:t>Economic</a:t>
            </a:r>
            <a:r>
              <a:rPr sz="950" spc="-90" dirty="0">
                <a:solidFill>
                  <a:srgbClr val="1A1A1A"/>
                </a:solidFill>
                <a:latin typeface="Tahoma"/>
                <a:cs typeface="Tahoma"/>
              </a:rPr>
              <a:t> </a:t>
            </a:r>
            <a:r>
              <a:rPr sz="950" spc="30" dirty="0">
                <a:solidFill>
                  <a:srgbClr val="1A1A1A"/>
                </a:solidFill>
                <a:latin typeface="Tahoma"/>
                <a:cs typeface="Tahoma"/>
              </a:rPr>
              <a:t>uncertainty</a:t>
            </a:r>
            <a:r>
              <a:rPr sz="950" spc="-45" dirty="0">
                <a:solidFill>
                  <a:srgbClr val="1A1A1A"/>
                </a:solidFill>
                <a:latin typeface="Tahoma"/>
                <a:cs typeface="Tahoma"/>
              </a:rPr>
              <a:t> </a:t>
            </a:r>
            <a:r>
              <a:rPr sz="950" spc="25" dirty="0">
                <a:solidFill>
                  <a:srgbClr val="1A1A1A"/>
                </a:solidFill>
                <a:latin typeface="Tahoma"/>
                <a:cs typeface="Tahoma"/>
              </a:rPr>
              <a:t>affecting</a:t>
            </a:r>
            <a:r>
              <a:rPr sz="950" spc="-55" dirty="0">
                <a:solidFill>
                  <a:srgbClr val="1A1A1A"/>
                </a:solidFill>
                <a:latin typeface="Tahoma"/>
                <a:cs typeface="Tahoma"/>
              </a:rPr>
              <a:t> </a:t>
            </a:r>
            <a:r>
              <a:rPr sz="950" spc="30" dirty="0">
                <a:solidFill>
                  <a:srgbClr val="1A1A1A"/>
                </a:solidFill>
                <a:latin typeface="Tahoma"/>
                <a:cs typeface="Tahoma"/>
              </a:rPr>
              <a:t>consumer</a:t>
            </a:r>
            <a:r>
              <a:rPr sz="950" spc="-50" dirty="0">
                <a:solidFill>
                  <a:srgbClr val="1A1A1A"/>
                </a:solidFill>
                <a:latin typeface="Tahoma"/>
                <a:cs typeface="Tahoma"/>
              </a:rPr>
              <a:t> </a:t>
            </a:r>
            <a:r>
              <a:rPr sz="950" spc="15" dirty="0">
                <a:solidFill>
                  <a:srgbClr val="1A1A1A"/>
                </a:solidFill>
                <a:latin typeface="Tahoma"/>
                <a:cs typeface="Tahoma"/>
              </a:rPr>
              <a:t>spending.</a:t>
            </a:r>
            <a:endParaRPr sz="950">
              <a:latin typeface="Tahoma"/>
              <a:cs typeface="Tahoma"/>
            </a:endParaRPr>
          </a:p>
        </p:txBody>
      </p:sp>
      <p:sp>
        <p:nvSpPr>
          <p:cNvPr id="5" name="object 5"/>
          <p:cNvSpPr txBox="1">
            <a:spLocks noGrp="1"/>
          </p:cNvSpPr>
          <p:nvPr>
            <p:ph sz="half" idx="3"/>
          </p:nvPr>
        </p:nvSpPr>
        <p:spPr>
          <a:prstGeom prst="rect">
            <a:avLst/>
          </a:prstGeom>
        </p:spPr>
        <p:txBody>
          <a:bodyPr vert="horz" wrap="square" lIns="0" tIns="19685" rIns="0" bIns="0" rtlCol="0">
            <a:spAutoFit/>
          </a:bodyPr>
          <a:lstStyle/>
          <a:p>
            <a:pPr marL="298450" marR="129539" indent="-286385">
              <a:lnSpc>
                <a:spcPts val="1430"/>
              </a:lnSpc>
              <a:spcBef>
                <a:spcPts val="155"/>
              </a:spcBef>
              <a:buClr>
                <a:srgbClr val="000000"/>
              </a:buClr>
              <a:buFont typeface="Arial MT"/>
              <a:buChar char="•"/>
              <a:tabLst>
                <a:tab pos="298450" algn="l"/>
                <a:tab pos="299085" algn="l"/>
              </a:tabLst>
            </a:pPr>
            <a:r>
              <a:rPr dirty="0"/>
              <a:t>Threat</a:t>
            </a:r>
            <a:r>
              <a:rPr spc="-55" dirty="0"/>
              <a:t> </a:t>
            </a:r>
            <a:r>
              <a:rPr spc="25" dirty="0"/>
              <a:t>of</a:t>
            </a:r>
            <a:r>
              <a:rPr spc="-40" dirty="0"/>
              <a:t> </a:t>
            </a:r>
            <a:r>
              <a:rPr spc="35" dirty="0"/>
              <a:t>New</a:t>
            </a:r>
            <a:r>
              <a:rPr spc="-40" dirty="0"/>
              <a:t> </a:t>
            </a:r>
            <a:r>
              <a:rPr spc="-20" dirty="0"/>
              <a:t>Entrants:</a:t>
            </a:r>
            <a:r>
              <a:rPr spc="-70" dirty="0"/>
              <a:t> </a:t>
            </a:r>
            <a:r>
              <a:rPr spc="15" dirty="0"/>
              <a:t>Moderate;</a:t>
            </a:r>
            <a:r>
              <a:rPr spc="-85" dirty="0"/>
              <a:t> </a:t>
            </a:r>
            <a:r>
              <a:rPr dirty="0"/>
              <a:t>significant</a:t>
            </a:r>
            <a:r>
              <a:rPr spc="-50" dirty="0"/>
              <a:t> </a:t>
            </a:r>
            <a:r>
              <a:rPr spc="-5" dirty="0"/>
              <a:t>barriers </a:t>
            </a:r>
            <a:r>
              <a:rPr spc="-360" dirty="0"/>
              <a:t> </a:t>
            </a:r>
            <a:r>
              <a:rPr spc="40" dirty="0"/>
              <a:t>t</a:t>
            </a:r>
            <a:r>
              <a:rPr spc="30" dirty="0"/>
              <a:t>o</a:t>
            </a:r>
            <a:r>
              <a:rPr spc="-85" dirty="0"/>
              <a:t> </a:t>
            </a:r>
            <a:r>
              <a:rPr spc="-35" dirty="0"/>
              <a:t>e</a:t>
            </a:r>
            <a:r>
              <a:rPr dirty="0"/>
              <a:t>n</a:t>
            </a:r>
            <a:r>
              <a:rPr spc="40" dirty="0"/>
              <a:t>t</a:t>
            </a:r>
            <a:r>
              <a:rPr spc="15" dirty="0"/>
              <a:t>r</a:t>
            </a:r>
            <a:r>
              <a:rPr spc="20" dirty="0"/>
              <a:t>y</a:t>
            </a:r>
            <a:r>
              <a:rPr spc="-100" dirty="0"/>
              <a:t> </a:t>
            </a:r>
            <a:r>
              <a:rPr spc="35" dirty="0"/>
              <a:t>e</a:t>
            </a:r>
            <a:r>
              <a:rPr spc="10" dirty="0"/>
              <a:t>x</a:t>
            </a:r>
            <a:r>
              <a:rPr spc="15" dirty="0"/>
              <a:t>i</a:t>
            </a:r>
            <a:r>
              <a:rPr spc="-15" dirty="0"/>
              <a:t>s</a:t>
            </a:r>
            <a:r>
              <a:rPr spc="25" dirty="0"/>
              <a:t>t</a:t>
            </a:r>
            <a:r>
              <a:rPr spc="-135" dirty="0"/>
              <a:t> </a:t>
            </a:r>
            <a:r>
              <a:rPr spc="5" dirty="0"/>
              <a:t>du</a:t>
            </a:r>
            <a:r>
              <a:rPr dirty="0"/>
              <a:t>e</a:t>
            </a:r>
            <a:r>
              <a:rPr spc="-40" dirty="0"/>
              <a:t> </a:t>
            </a:r>
            <a:r>
              <a:rPr spc="40" dirty="0"/>
              <a:t>t</a:t>
            </a:r>
            <a:r>
              <a:rPr spc="30" dirty="0"/>
              <a:t>o</a:t>
            </a:r>
            <a:r>
              <a:rPr spc="-85" dirty="0"/>
              <a:t> </a:t>
            </a:r>
            <a:r>
              <a:rPr spc="5" dirty="0"/>
              <a:t>b</a:t>
            </a:r>
            <a:r>
              <a:rPr spc="15" dirty="0"/>
              <a:t>r</a:t>
            </a:r>
            <a:r>
              <a:rPr spc="-20" dirty="0"/>
              <a:t>an</a:t>
            </a:r>
            <a:r>
              <a:rPr spc="10" dirty="0"/>
              <a:t>d</a:t>
            </a:r>
            <a:r>
              <a:rPr spc="-75" dirty="0"/>
              <a:t> </a:t>
            </a:r>
            <a:r>
              <a:rPr spc="15" dirty="0"/>
              <a:t>l</a:t>
            </a:r>
            <a:r>
              <a:rPr spc="20" dirty="0"/>
              <a:t>o</a:t>
            </a:r>
            <a:r>
              <a:rPr dirty="0"/>
              <a:t>y</a:t>
            </a:r>
            <a:r>
              <a:rPr spc="-20" dirty="0"/>
              <a:t>a</a:t>
            </a:r>
            <a:r>
              <a:rPr spc="5" dirty="0"/>
              <a:t>l</a:t>
            </a:r>
            <a:r>
              <a:rPr spc="-35" dirty="0"/>
              <a:t>t</a:t>
            </a:r>
            <a:r>
              <a:rPr spc="20" dirty="0"/>
              <a:t>y</a:t>
            </a:r>
            <a:r>
              <a:rPr spc="-25" dirty="0"/>
              <a:t> </a:t>
            </a:r>
            <a:r>
              <a:rPr spc="-20" dirty="0"/>
              <a:t>an</a:t>
            </a:r>
            <a:r>
              <a:rPr spc="10" dirty="0"/>
              <a:t>d</a:t>
            </a:r>
            <a:r>
              <a:rPr spc="-75" dirty="0"/>
              <a:t> </a:t>
            </a:r>
            <a:r>
              <a:rPr spc="15" dirty="0"/>
              <a:t>di</a:t>
            </a:r>
            <a:r>
              <a:rPr spc="-15" dirty="0"/>
              <a:t>s</a:t>
            </a:r>
            <a:r>
              <a:rPr spc="-35" dirty="0"/>
              <a:t>t</a:t>
            </a:r>
            <a:r>
              <a:rPr spc="15" dirty="0"/>
              <a:t>ri</a:t>
            </a:r>
            <a:r>
              <a:rPr spc="5" dirty="0"/>
              <a:t>bu</a:t>
            </a:r>
            <a:r>
              <a:rPr spc="40" dirty="0"/>
              <a:t>t</a:t>
            </a:r>
            <a:r>
              <a:rPr spc="15" dirty="0"/>
              <a:t>i</a:t>
            </a:r>
            <a:r>
              <a:rPr spc="20" dirty="0"/>
              <a:t>o</a:t>
            </a:r>
            <a:r>
              <a:rPr dirty="0"/>
              <a:t>n  networks.</a:t>
            </a:r>
          </a:p>
          <a:p>
            <a:pPr>
              <a:lnSpc>
                <a:spcPct val="100000"/>
              </a:lnSpc>
              <a:spcBef>
                <a:spcPts val="50"/>
              </a:spcBef>
              <a:buFont typeface="Arial MT"/>
              <a:buChar char="•"/>
            </a:pPr>
            <a:endParaRPr dirty="0"/>
          </a:p>
          <a:p>
            <a:pPr marL="298450" marR="5080" indent="-286385" algn="just">
              <a:lnSpc>
                <a:spcPts val="1430"/>
              </a:lnSpc>
              <a:buClr>
                <a:srgbClr val="000000"/>
              </a:buClr>
              <a:buFont typeface="Arial MT"/>
              <a:buChar char="•"/>
              <a:tabLst>
                <a:tab pos="299085" algn="l"/>
              </a:tabLst>
            </a:pPr>
            <a:r>
              <a:rPr spc="-10" dirty="0"/>
              <a:t>Bargaining</a:t>
            </a:r>
            <a:r>
              <a:rPr spc="-30" dirty="0"/>
              <a:t> </a:t>
            </a:r>
            <a:r>
              <a:rPr spc="15" dirty="0"/>
              <a:t>Power</a:t>
            </a:r>
            <a:r>
              <a:rPr spc="-65" dirty="0"/>
              <a:t> </a:t>
            </a:r>
            <a:r>
              <a:rPr spc="25" dirty="0"/>
              <a:t>of</a:t>
            </a:r>
            <a:r>
              <a:rPr spc="-45" dirty="0"/>
              <a:t> </a:t>
            </a:r>
            <a:r>
              <a:rPr spc="-10" dirty="0"/>
              <a:t>Suppliers:</a:t>
            </a:r>
            <a:r>
              <a:rPr spc="-80" dirty="0"/>
              <a:t> </a:t>
            </a:r>
            <a:r>
              <a:rPr spc="-5" dirty="0"/>
              <a:t>Low;</a:t>
            </a:r>
            <a:r>
              <a:rPr spc="-90" dirty="0"/>
              <a:t> </a:t>
            </a:r>
            <a:r>
              <a:rPr spc="25" dirty="0"/>
              <a:t>Coca-Cola</a:t>
            </a:r>
            <a:r>
              <a:rPr spc="-75" dirty="0"/>
              <a:t> </a:t>
            </a:r>
            <a:r>
              <a:rPr spc="-5" dirty="0"/>
              <a:t>relies</a:t>
            </a:r>
            <a:r>
              <a:rPr spc="-70" dirty="0"/>
              <a:t> </a:t>
            </a:r>
            <a:r>
              <a:rPr spc="10" dirty="0"/>
              <a:t>on </a:t>
            </a:r>
            <a:r>
              <a:rPr spc="-365" dirty="0"/>
              <a:t> </a:t>
            </a:r>
            <a:r>
              <a:rPr spc="-35" dirty="0"/>
              <a:t>a</a:t>
            </a:r>
            <a:r>
              <a:rPr spc="-70" dirty="0"/>
              <a:t> </a:t>
            </a:r>
            <a:r>
              <a:rPr spc="-15" dirty="0"/>
              <a:t>large</a:t>
            </a:r>
            <a:r>
              <a:rPr spc="-30" dirty="0"/>
              <a:t> </a:t>
            </a:r>
            <a:r>
              <a:rPr dirty="0"/>
              <a:t>number</a:t>
            </a:r>
            <a:r>
              <a:rPr spc="-60" dirty="0"/>
              <a:t> </a:t>
            </a:r>
            <a:r>
              <a:rPr spc="25" dirty="0"/>
              <a:t>of</a:t>
            </a:r>
            <a:r>
              <a:rPr spc="-120" dirty="0"/>
              <a:t> </a:t>
            </a:r>
            <a:r>
              <a:rPr spc="-10" dirty="0"/>
              <a:t>suppliers,</a:t>
            </a:r>
            <a:r>
              <a:rPr spc="-45" dirty="0"/>
              <a:t> </a:t>
            </a:r>
            <a:r>
              <a:rPr dirty="0"/>
              <a:t>reducing</a:t>
            </a:r>
            <a:r>
              <a:rPr spc="-25" dirty="0"/>
              <a:t> </a:t>
            </a:r>
            <a:r>
              <a:rPr spc="-5" dirty="0"/>
              <a:t>individual</a:t>
            </a:r>
            <a:r>
              <a:rPr spc="-50" dirty="0"/>
              <a:t> </a:t>
            </a:r>
            <a:r>
              <a:rPr spc="10" dirty="0"/>
              <a:t>supplier </a:t>
            </a:r>
            <a:r>
              <a:rPr spc="-365" dirty="0"/>
              <a:t> </a:t>
            </a:r>
            <a:r>
              <a:rPr dirty="0"/>
              <a:t>power.</a:t>
            </a:r>
          </a:p>
          <a:p>
            <a:pPr>
              <a:lnSpc>
                <a:spcPct val="100000"/>
              </a:lnSpc>
              <a:spcBef>
                <a:spcPts val="10"/>
              </a:spcBef>
              <a:buFont typeface="Arial MT"/>
              <a:buChar char="•"/>
            </a:pPr>
            <a:endParaRPr sz="1100"/>
          </a:p>
          <a:p>
            <a:pPr marL="298450" marR="368300" indent="-286385">
              <a:lnSpc>
                <a:spcPct val="101800"/>
              </a:lnSpc>
              <a:buClr>
                <a:srgbClr val="000000"/>
              </a:buClr>
              <a:buFont typeface="Arial MT"/>
              <a:buChar char="•"/>
              <a:tabLst>
                <a:tab pos="298450" algn="l"/>
                <a:tab pos="299085" algn="l"/>
              </a:tabLst>
            </a:pPr>
            <a:r>
              <a:rPr spc="-10" dirty="0"/>
              <a:t>Bargaining </a:t>
            </a:r>
            <a:r>
              <a:rPr spc="15" dirty="0"/>
              <a:t>Power </a:t>
            </a:r>
            <a:r>
              <a:rPr spc="25" dirty="0"/>
              <a:t>of </a:t>
            </a:r>
            <a:r>
              <a:rPr spc="-10" dirty="0"/>
              <a:t>Buyers: </a:t>
            </a:r>
            <a:r>
              <a:rPr spc="15" dirty="0"/>
              <a:t>Moderate; </a:t>
            </a:r>
            <a:r>
              <a:rPr spc="5" dirty="0"/>
              <a:t>while </a:t>
            </a:r>
            <a:r>
              <a:rPr spc="10" dirty="0"/>
              <a:t> </a:t>
            </a:r>
            <a:r>
              <a:rPr spc="-5" dirty="0"/>
              <a:t>consumers</a:t>
            </a:r>
            <a:r>
              <a:rPr spc="-70" dirty="0"/>
              <a:t> </a:t>
            </a:r>
            <a:r>
              <a:rPr spc="10" dirty="0"/>
              <a:t>have</a:t>
            </a:r>
            <a:r>
              <a:rPr spc="-110" dirty="0"/>
              <a:t> </a:t>
            </a:r>
            <a:r>
              <a:rPr spc="-5" dirty="0"/>
              <a:t>choices,</a:t>
            </a:r>
            <a:r>
              <a:rPr spc="-40" dirty="0"/>
              <a:t> </a:t>
            </a:r>
            <a:r>
              <a:rPr spc="15" dirty="0"/>
              <a:t>Coca-Cola's</a:t>
            </a:r>
            <a:r>
              <a:rPr spc="-70" dirty="0"/>
              <a:t> </a:t>
            </a:r>
            <a:r>
              <a:rPr dirty="0"/>
              <a:t>strong</a:t>
            </a:r>
            <a:r>
              <a:rPr spc="-100" dirty="0"/>
              <a:t> </a:t>
            </a:r>
            <a:r>
              <a:rPr dirty="0"/>
              <a:t>brand </a:t>
            </a:r>
            <a:r>
              <a:rPr spc="-360" dirty="0"/>
              <a:t> </a:t>
            </a:r>
            <a:r>
              <a:rPr spc="15" dirty="0"/>
              <a:t>l</a:t>
            </a:r>
            <a:r>
              <a:rPr spc="20" dirty="0"/>
              <a:t>o</a:t>
            </a:r>
            <a:r>
              <a:rPr dirty="0"/>
              <a:t>y</a:t>
            </a:r>
            <a:r>
              <a:rPr spc="-20" dirty="0"/>
              <a:t>a</a:t>
            </a:r>
            <a:r>
              <a:rPr spc="5" dirty="0"/>
              <a:t>l</a:t>
            </a:r>
            <a:r>
              <a:rPr spc="40" dirty="0"/>
              <a:t>t</a:t>
            </a:r>
            <a:r>
              <a:rPr spc="20" dirty="0"/>
              <a:t>y</a:t>
            </a:r>
            <a:r>
              <a:rPr spc="-100" dirty="0"/>
              <a:t> </a:t>
            </a:r>
            <a:r>
              <a:rPr spc="40" dirty="0"/>
              <a:t>c</a:t>
            </a:r>
            <a:r>
              <a:rPr spc="-20" dirty="0"/>
              <a:t>an</a:t>
            </a:r>
            <a:r>
              <a:rPr spc="-75" dirty="0"/>
              <a:t> </a:t>
            </a:r>
            <a:r>
              <a:rPr spc="-35" dirty="0"/>
              <a:t>m</a:t>
            </a:r>
            <a:r>
              <a:rPr spc="15" dirty="0"/>
              <a:t>i</a:t>
            </a:r>
            <a:r>
              <a:rPr spc="-35" dirty="0"/>
              <a:t>t</a:t>
            </a:r>
            <a:r>
              <a:rPr spc="15" dirty="0"/>
              <a:t>i</a:t>
            </a:r>
            <a:r>
              <a:rPr spc="5" dirty="0"/>
              <a:t>g</a:t>
            </a:r>
            <a:r>
              <a:rPr spc="-5" dirty="0"/>
              <a:t>a</a:t>
            </a:r>
            <a:r>
              <a:rPr spc="-60" dirty="0"/>
              <a:t>t</a:t>
            </a:r>
            <a:r>
              <a:rPr dirty="0"/>
              <a:t>e</a:t>
            </a:r>
            <a:r>
              <a:rPr spc="-40" dirty="0"/>
              <a:t> </a:t>
            </a:r>
            <a:r>
              <a:rPr spc="40" dirty="0"/>
              <a:t>t</a:t>
            </a:r>
            <a:r>
              <a:rPr dirty="0"/>
              <a:t>h</a:t>
            </a:r>
            <a:r>
              <a:rPr spc="-55" dirty="0"/>
              <a:t>i</a:t>
            </a:r>
            <a:r>
              <a:rPr spc="-15" dirty="0"/>
              <a:t>s</a:t>
            </a:r>
            <a:r>
              <a:rPr dirty="0"/>
              <a:t> </a:t>
            </a:r>
            <a:r>
              <a:rPr spc="20" dirty="0"/>
              <a:t>p</a:t>
            </a:r>
            <a:r>
              <a:rPr spc="10" dirty="0"/>
              <a:t>o</a:t>
            </a:r>
            <a:r>
              <a:rPr dirty="0"/>
              <a:t>w</a:t>
            </a:r>
            <a:r>
              <a:rPr spc="35" dirty="0"/>
              <a:t>e</a:t>
            </a:r>
            <a:r>
              <a:rPr spc="-60" dirty="0"/>
              <a:t>r</a:t>
            </a:r>
            <a:r>
              <a:rPr spc="-80" dirty="0"/>
              <a:t>.</a:t>
            </a:r>
          </a:p>
          <a:p>
            <a:pPr>
              <a:lnSpc>
                <a:spcPct val="100000"/>
              </a:lnSpc>
              <a:buFont typeface="Arial MT"/>
              <a:buChar char="•"/>
            </a:pPr>
            <a:endParaRPr sz="1150"/>
          </a:p>
          <a:p>
            <a:pPr marL="298450" marR="179705" indent="-286385">
              <a:lnSpc>
                <a:spcPct val="101699"/>
              </a:lnSpc>
              <a:buClr>
                <a:srgbClr val="000000"/>
              </a:buClr>
              <a:buFont typeface="Arial MT"/>
              <a:buChar char="•"/>
              <a:tabLst>
                <a:tab pos="298450" algn="l"/>
                <a:tab pos="299085" algn="l"/>
              </a:tabLst>
            </a:pPr>
            <a:r>
              <a:rPr spc="40" dirty="0"/>
              <a:t>T</a:t>
            </a:r>
            <a:r>
              <a:rPr dirty="0"/>
              <a:t>h</a:t>
            </a:r>
            <a:r>
              <a:rPr spc="-60" dirty="0"/>
              <a:t>r</a:t>
            </a:r>
            <a:r>
              <a:rPr spc="35" dirty="0"/>
              <a:t>e</a:t>
            </a:r>
            <a:r>
              <a:rPr spc="-5" dirty="0"/>
              <a:t>at</a:t>
            </a:r>
            <a:r>
              <a:rPr spc="-60" dirty="0"/>
              <a:t> </a:t>
            </a:r>
            <a:r>
              <a:rPr spc="20" dirty="0"/>
              <a:t>o</a:t>
            </a:r>
            <a:r>
              <a:rPr spc="35" dirty="0"/>
              <a:t>f</a:t>
            </a:r>
            <a:r>
              <a:rPr spc="-50" dirty="0"/>
              <a:t> </a:t>
            </a:r>
            <a:r>
              <a:rPr spc="-75" dirty="0"/>
              <a:t>S</a:t>
            </a:r>
            <a:r>
              <a:rPr dirty="0"/>
              <a:t>u</a:t>
            </a:r>
            <a:r>
              <a:rPr spc="-5" dirty="0"/>
              <a:t>bs</a:t>
            </a:r>
            <a:r>
              <a:rPr spc="40" dirty="0"/>
              <a:t>t</a:t>
            </a:r>
            <a:r>
              <a:rPr spc="15" dirty="0"/>
              <a:t>i</a:t>
            </a:r>
            <a:r>
              <a:rPr spc="-35" dirty="0"/>
              <a:t>t</a:t>
            </a:r>
            <a:r>
              <a:rPr dirty="0"/>
              <a:t>u</a:t>
            </a:r>
            <a:r>
              <a:rPr spc="40" dirty="0"/>
              <a:t>t</a:t>
            </a:r>
            <a:r>
              <a:rPr spc="35" dirty="0"/>
              <a:t>e</a:t>
            </a:r>
            <a:r>
              <a:rPr spc="-15" dirty="0"/>
              <a:t>s</a:t>
            </a:r>
            <a:r>
              <a:rPr spc="-125" dirty="0"/>
              <a:t>:</a:t>
            </a:r>
            <a:r>
              <a:rPr spc="-80" dirty="0"/>
              <a:t> </a:t>
            </a:r>
            <a:r>
              <a:rPr spc="85" dirty="0"/>
              <a:t>H</a:t>
            </a:r>
            <a:r>
              <a:rPr spc="15" dirty="0"/>
              <a:t>i</a:t>
            </a:r>
            <a:r>
              <a:rPr spc="-70" dirty="0"/>
              <a:t>g</a:t>
            </a:r>
            <a:r>
              <a:rPr dirty="0"/>
              <a:t>h</a:t>
            </a:r>
            <a:r>
              <a:rPr spc="-110" dirty="0"/>
              <a:t>;</a:t>
            </a:r>
            <a:r>
              <a:rPr spc="-95" dirty="0"/>
              <a:t> </a:t>
            </a:r>
            <a:r>
              <a:rPr spc="40" dirty="0"/>
              <a:t>c</a:t>
            </a:r>
            <a:r>
              <a:rPr spc="20" dirty="0"/>
              <a:t>o</a:t>
            </a:r>
            <a:r>
              <a:rPr dirty="0"/>
              <a:t>n</a:t>
            </a:r>
            <a:r>
              <a:rPr spc="-15" dirty="0"/>
              <a:t>s</a:t>
            </a:r>
            <a:r>
              <a:rPr dirty="0"/>
              <a:t>u</a:t>
            </a:r>
            <a:r>
              <a:rPr spc="-35" dirty="0"/>
              <a:t>m</a:t>
            </a:r>
            <a:r>
              <a:rPr spc="35" dirty="0"/>
              <a:t>e</a:t>
            </a:r>
            <a:r>
              <a:rPr spc="15" dirty="0"/>
              <a:t>r</a:t>
            </a:r>
            <a:r>
              <a:rPr spc="-15" dirty="0"/>
              <a:t>s</a:t>
            </a:r>
            <a:r>
              <a:rPr spc="-75" dirty="0"/>
              <a:t> </a:t>
            </a:r>
            <a:r>
              <a:rPr spc="-30" dirty="0"/>
              <a:t>c</a:t>
            </a:r>
            <a:r>
              <a:rPr spc="-20" dirty="0"/>
              <a:t>an</a:t>
            </a:r>
            <a:r>
              <a:rPr dirty="0"/>
              <a:t> </a:t>
            </a:r>
            <a:r>
              <a:rPr spc="-35" dirty="0"/>
              <a:t>e</a:t>
            </a:r>
            <a:r>
              <a:rPr spc="-30" dirty="0"/>
              <a:t>a</a:t>
            </a:r>
            <a:r>
              <a:rPr spc="-20" dirty="0"/>
              <a:t>s</a:t>
            </a:r>
            <a:r>
              <a:rPr spc="15" dirty="0"/>
              <a:t>ily  switch</a:t>
            </a:r>
            <a:r>
              <a:rPr spc="-75" dirty="0"/>
              <a:t> </a:t>
            </a:r>
            <a:r>
              <a:rPr spc="35" dirty="0"/>
              <a:t>to</a:t>
            </a:r>
            <a:r>
              <a:rPr spc="-80" dirty="0"/>
              <a:t> </a:t>
            </a:r>
            <a:r>
              <a:rPr spc="-5" dirty="0"/>
              <a:t>alternative</a:t>
            </a:r>
            <a:r>
              <a:rPr spc="-35" dirty="0"/>
              <a:t> </a:t>
            </a:r>
            <a:r>
              <a:rPr spc="-15" dirty="0"/>
              <a:t>beverages,</a:t>
            </a:r>
            <a:r>
              <a:rPr spc="-50" dirty="0"/>
              <a:t> </a:t>
            </a:r>
            <a:r>
              <a:rPr dirty="0"/>
              <a:t>including</a:t>
            </a:r>
            <a:r>
              <a:rPr spc="-30" dirty="0"/>
              <a:t> </a:t>
            </a:r>
            <a:r>
              <a:rPr spc="-20" dirty="0"/>
              <a:t>water,</a:t>
            </a:r>
            <a:r>
              <a:rPr spc="-50" dirty="0"/>
              <a:t> </a:t>
            </a:r>
            <a:r>
              <a:rPr spc="-25" dirty="0"/>
              <a:t>teas, </a:t>
            </a:r>
            <a:r>
              <a:rPr spc="-360" dirty="0"/>
              <a:t> </a:t>
            </a:r>
            <a:r>
              <a:rPr spc="-10" dirty="0"/>
              <a:t>and</a:t>
            </a:r>
            <a:r>
              <a:rPr spc="-80" dirty="0"/>
              <a:t> </a:t>
            </a:r>
            <a:r>
              <a:rPr spc="-5" dirty="0"/>
              <a:t>energy</a:t>
            </a:r>
            <a:r>
              <a:rPr spc="-25" dirty="0"/>
              <a:t> </a:t>
            </a:r>
            <a:r>
              <a:rPr spc="-10" dirty="0"/>
              <a:t>drinks.</a:t>
            </a:r>
          </a:p>
          <a:p>
            <a:pPr>
              <a:lnSpc>
                <a:spcPct val="100000"/>
              </a:lnSpc>
              <a:spcBef>
                <a:spcPts val="25"/>
              </a:spcBef>
              <a:buFont typeface="Arial MT"/>
              <a:buChar char="•"/>
            </a:pPr>
            <a:endParaRPr spc="-10" dirty="0"/>
          </a:p>
          <a:p>
            <a:pPr marL="298450" marR="6985" indent="-286385" algn="just">
              <a:lnSpc>
                <a:spcPts val="1430"/>
              </a:lnSpc>
              <a:buClr>
                <a:srgbClr val="000000"/>
              </a:buClr>
              <a:buFont typeface="Arial MT"/>
              <a:buChar char="•"/>
              <a:tabLst>
                <a:tab pos="299085" algn="l"/>
              </a:tabLst>
            </a:pPr>
            <a:r>
              <a:rPr spc="-80" dirty="0"/>
              <a:t>I</a:t>
            </a:r>
            <a:r>
              <a:rPr dirty="0"/>
              <a:t>n</a:t>
            </a:r>
            <a:r>
              <a:rPr spc="5" dirty="0"/>
              <a:t>du</a:t>
            </a:r>
            <a:r>
              <a:rPr spc="-15" dirty="0"/>
              <a:t>s</a:t>
            </a:r>
            <a:r>
              <a:rPr spc="-35" dirty="0"/>
              <a:t>t</a:t>
            </a:r>
            <a:r>
              <a:rPr spc="15" dirty="0"/>
              <a:t>r</a:t>
            </a:r>
            <a:r>
              <a:rPr spc="20" dirty="0"/>
              <a:t>y</a:t>
            </a:r>
            <a:r>
              <a:rPr spc="-100" dirty="0"/>
              <a:t> </a:t>
            </a:r>
            <a:r>
              <a:rPr dirty="0"/>
              <a:t>R</a:t>
            </a:r>
            <a:r>
              <a:rPr spc="15" dirty="0"/>
              <a:t>i</a:t>
            </a:r>
            <a:r>
              <a:rPr spc="70" dirty="0"/>
              <a:t>v</a:t>
            </a:r>
            <a:r>
              <a:rPr spc="-20" dirty="0"/>
              <a:t>a</a:t>
            </a:r>
            <a:r>
              <a:rPr spc="-70" dirty="0"/>
              <a:t>l</a:t>
            </a:r>
            <a:r>
              <a:rPr spc="15" dirty="0"/>
              <a:t>r</a:t>
            </a:r>
            <a:r>
              <a:rPr dirty="0"/>
              <a:t>y</a:t>
            </a:r>
            <a:r>
              <a:rPr spc="-125" dirty="0"/>
              <a:t>:</a:t>
            </a:r>
            <a:r>
              <a:rPr spc="-5" dirty="0"/>
              <a:t> </a:t>
            </a:r>
            <a:r>
              <a:rPr spc="85" dirty="0"/>
              <a:t>H</a:t>
            </a:r>
            <a:r>
              <a:rPr spc="15" dirty="0"/>
              <a:t>i</a:t>
            </a:r>
            <a:r>
              <a:rPr spc="-70" dirty="0"/>
              <a:t>g</a:t>
            </a:r>
            <a:r>
              <a:rPr dirty="0"/>
              <a:t>h</a:t>
            </a:r>
            <a:r>
              <a:rPr spc="-110" dirty="0"/>
              <a:t>;</a:t>
            </a:r>
            <a:r>
              <a:rPr spc="-95" dirty="0"/>
              <a:t> </a:t>
            </a:r>
            <a:r>
              <a:rPr spc="40" dirty="0"/>
              <a:t>t</a:t>
            </a:r>
            <a:r>
              <a:rPr dirty="0"/>
              <a:t>he</a:t>
            </a:r>
            <a:r>
              <a:rPr spc="-40" dirty="0"/>
              <a:t> </a:t>
            </a:r>
            <a:r>
              <a:rPr spc="5" dirty="0"/>
              <a:t>b</a:t>
            </a:r>
            <a:r>
              <a:rPr spc="-30" dirty="0"/>
              <a:t>e</a:t>
            </a:r>
            <a:r>
              <a:rPr spc="-5" dirty="0"/>
              <a:t>v</a:t>
            </a:r>
            <a:r>
              <a:rPr spc="35" dirty="0"/>
              <a:t>e</a:t>
            </a:r>
            <a:r>
              <a:rPr spc="15" dirty="0"/>
              <a:t>r</a:t>
            </a:r>
            <a:r>
              <a:rPr spc="-35" dirty="0"/>
              <a:t>a</a:t>
            </a:r>
            <a:r>
              <a:rPr spc="-65" dirty="0"/>
              <a:t>g</a:t>
            </a:r>
            <a:r>
              <a:rPr dirty="0"/>
              <a:t>e</a:t>
            </a:r>
            <a:r>
              <a:rPr spc="-40" dirty="0"/>
              <a:t> </a:t>
            </a:r>
            <a:r>
              <a:rPr spc="15" dirty="0"/>
              <a:t>i</a:t>
            </a:r>
            <a:r>
              <a:rPr dirty="0"/>
              <a:t>n</a:t>
            </a:r>
            <a:r>
              <a:rPr spc="5" dirty="0"/>
              <a:t>du</a:t>
            </a:r>
            <a:r>
              <a:rPr spc="-15" dirty="0"/>
              <a:t>s</a:t>
            </a:r>
            <a:r>
              <a:rPr spc="-35" dirty="0"/>
              <a:t>t</a:t>
            </a:r>
            <a:r>
              <a:rPr spc="15" dirty="0"/>
              <a:t>r</a:t>
            </a:r>
            <a:r>
              <a:rPr spc="20" dirty="0"/>
              <a:t>y</a:t>
            </a:r>
            <a:r>
              <a:rPr spc="-100" dirty="0"/>
              <a:t> </a:t>
            </a:r>
            <a:r>
              <a:rPr spc="15" dirty="0"/>
              <a:t>i</a:t>
            </a:r>
            <a:r>
              <a:rPr spc="-15" dirty="0"/>
              <a:t>s</a:t>
            </a:r>
            <a:r>
              <a:rPr spc="-75" dirty="0"/>
              <a:t> </a:t>
            </a:r>
            <a:r>
              <a:rPr dirty="0"/>
              <a:t>h</a:t>
            </a:r>
            <a:r>
              <a:rPr spc="15" dirty="0"/>
              <a:t>i</a:t>
            </a:r>
            <a:r>
              <a:rPr spc="5" dirty="0"/>
              <a:t>g</a:t>
            </a:r>
            <a:r>
              <a:rPr dirty="0"/>
              <a:t>h</a:t>
            </a:r>
            <a:r>
              <a:rPr spc="-55" dirty="0"/>
              <a:t>l</a:t>
            </a:r>
            <a:r>
              <a:rPr spc="15" dirty="0"/>
              <a:t>y  </a:t>
            </a:r>
            <a:r>
              <a:rPr dirty="0"/>
              <a:t>competitive,</a:t>
            </a:r>
            <a:r>
              <a:rPr spc="-55" dirty="0"/>
              <a:t> </a:t>
            </a:r>
            <a:r>
              <a:rPr spc="15" dirty="0"/>
              <a:t>with</a:t>
            </a:r>
            <a:r>
              <a:rPr spc="-75" dirty="0"/>
              <a:t> </a:t>
            </a:r>
            <a:r>
              <a:rPr spc="-20" dirty="0"/>
              <a:t>major</a:t>
            </a:r>
            <a:r>
              <a:rPr spc="-65" dirty="0"/>
              <a:t> </a:t>
            </a:r>
            <a:r>
              <a:rPr spc="5" dirty="0"/>
              <a:t>players</a:t>
            </a:r>
            <a:r>
              <a:rPr spc="-75" dirty="0"/>
              <a:t> </a:t>
            </a:r>
            <a:r>
              <a:rPr spc="10" dirty="0"/>
              <a:t>like</a:t>
            </a:r>
            <a:r>
              <a:rPr spc="-114" dirty="0"/>
              <a:t> </a:t>
            </a:r>
            <a:r>
              <a:rPr spc="25" dirty="0"/>
              <a:t>PepsiCo</a:t>
            </a:r>
            <a:r>
              <a:rPr spc="-85" dirty="0"/>
              <a:t> </a:t>
            </a:r>
            <a:r>
              <a:rPr spc="-10" dirty="0"/>
              <a:t>and</a:t>
            </a:r>
            <a:r>
              <a:rPr spc="-75" dirty="0"/>
              <a:t> </a:t>
            </a:r>
            <a:r>
              <a:rPr spc="10" dirty="0"/>
              <a:t>Nestlé.</a:t>
            </a:r>
          </a:p>
        </p:txBody>
      </p:sp>
      <p:sp>
        <p:nvSpPr>
          <p:cNvPr id="6" name="object 6"/>
          <p:cNvSpPr/>
          <p:nvPr/>
        </p:nvSpPr>
        <p:spPr>
          <a:xfrm>
            <a:off x="4595876" y="719201"/>
            <a:ext cx="1905" cy="4040504"/>
          </a:xfrm>
          <a:custGeom>
            <a:avLst/>
            <a:gdLst/>
            <a:ahLst/>
            <a:cxnLst/>
            <a:rect l="l" t="t" r="r" b="b"/>
            <a:pathLst>
              <a:path w="1904" h="4040504">
                <a:moveTo>
                  <a:pt x="0" y="0"/>
                </a:moveTo>
                <a:lnTo>
                  <a:pt x="1397" y="4040314"/>
                </a:lnTo>
              </a:path>
            </a:pathLst>
          </a:custGeom>
          <a:ln w="9525">
            <a:solidFill>
              <a:srgbClr val="EB52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5309" y="601980"/>
            <a:ext cx="3081655" cy="381000"/>
          </a:xfrm>
          <a:prstGeom prst="rect">
            <a:avLst/>
          </a:prstGeom>
        </p:spPr>
        <p:txBody>
          <a:bodyPr vert="horz" wrap="square" lIns="0" tIns="16510" rIns="0" bIns="0" rtlCol="0">
            <a:spAutoFit/>
          </a:bodyPr>
          <a:lstStyle/>
          <a:p>
            <a:pPr marL="12700">
              <a:lnSpc>
                <a:spcPct val="100000"/>
              </a:lnSpc>
              <a:spcBef>
                <a:spcPts val="130"/>
              </a:spcBef>
            </a:pPr>
            <a:r>
              <a:rPr sz="2300" spc="30" dirty="0">
                <a:solidFill>
                  <a:srgbClr val="1A1A1A"/>
                </a:solidFill>
              </a:rPr>
              <a:t>I</a:t>
            </a:r>
            <a:r>
              <a:rPr sz="2300" spc="-15" dirty="0">
                <a:solidFill>
                  <a:srgbClr val="1A1A1A"/>
                </a:solidFill>
              </a:rPr>
              <a:t>n</a:t>
            </a:r>
            <a:r>
              <a:rPr sz="2300" spc="120" dirty="0">
                <a:solidFill>
                  <a:srgbClr val="1A1A1A"/>
                </a:solidFill>
              </a:rPr>
              <a:t>d</a:t>
            </a:r>
            <a:r>
              <a:rPr sz="2300" spc="110" dirty="0">
                <a:solidFill>
                  <a:srgbClr val="1A1A1A"/>
                </a:solidFill>
              </a:rPr>
              <a:t>u</a:t>
            </a:r>
            <a:r>
              <a:rPr sz="2300" spc="130" dirty="0">
                <a:solidFill>
                  <a:srgbClr val="1A1A1A"/>
                </a:solidFill>
              </a:rPr>
              <a:t>s</a:t>
            </a:r>
            <a:r>
              <a:rPr sz="2300" spc="-15" dirty="0">
                <a:solidFill>
                  <a:srgbClr val="1A1A1A"/>
                </a:solidFill>
              </a:rPr>
              <a:t>try</a:t>
            </a:r>
            <a:r>
              <a:rPr sz="2300" spc="-170" dirty="0">
                <a:solidFill>
                  <a:srgbClr val="1A1A1A"/>
                </a:solidFill>
              </a:rPr>
              <a:t> </a:t>
            </a:r>
            <a:r>
              <a:rPr sz="2300" spc="75" dirty="0">
                <a:solidFill>
                  <a:srgbClr val="1A1A1A"/>
                </a:solidFill>
              </a:rPr>
              <a:t>P</a:t>
            </a:r>
            <a:r>
              <a:rPr sz="2300" spc="100" dirty="0">
                <a:solidFill>
                  <a:srgbClr val="1A1A1A"/>
                </a:solidFill>
              </a:rPr>
              <a:t>e</a:t>
            </a:r>
            <a:r>
              <a:rPr sz="2300" spc="-40" dirty="0">
                <a:solidFill>
                  <a:srgbClr val="1A1A1A"/>
                </a:solidFill>
              </a:rPr>
              <a:t>r</a:t>
            </a:r>
            <a:r>
              <a:rPr sz="2300" spc="-75" dirty="0">
                <a:solidFill>
                  <a:srgbClr val="1A1A1A"/>
                </a:solidFill>
              </a:rPr>
              <a:t>f</a:t>
            </a:r>
            <a:r>
              <a:rPr sz="2300" spc="120" dirty="0">
                <a:solidFill>
                  <a:srgbClr val="1A1A1A"/>
                </a:solidFill>
              </a:rPr>
              <a:t>o</a:t>
            </a:r>
            <a:r>
              <a:rPr sz="2300" spc="-165" dirty="0">
                <a:solidFill>
                  <a:srgbClr val="1A1A1A"/>
                </a:solidFill>
              </a:rPr>
              <a:t>r</a:t>
            </a:r>
            <a:r>
              <a:rPr sz="2300" spc="195" dirty="0">
                <a:solidFill>
                  <a:srgbClr val="1A1A1A"/>
                </a:solidFill>
              </a:rPr>
              <a:t>m</a:t>
            </a:r>
            <a:r>
              <a:rPr sz="2300" spc="120" dirty="0">
                <a:solidFill>
                  <a:srgbClr val="1A1A1A"/>
                </a:solidFill>
              </a:rPr>
              <a:t>a</a:t>
            </a:r>
            <a:r>
              <a:rPr sz="2300" spc="-15" dirty="0">
                <a:solidFill>
                  <a:srgbClr val="1A1A1A"/>
                </a:solidFill>
              </a:rPr>
              <a:t>n</a:t>
            </a:r>
            <a:r>
              <a:rPr sz="2300" spc="95" dirty="0">
                <a:solidFill>
                  <a:srgbClr val="1A1A1A"/>
                </a:solidFill>
              </a:rPr>
              <a:t>c</a:t>
            </a:r>
            <a:r>
              <a:rPr sz="2300" spc="70" dirty="0">
                <a:solidFill>
                  <a:srgbClr val="1A1A1A"/>
                </a:solidFill>
              </a:rPr>
              <a:t>e</a:t>
            </a:r>
            <a:endParaRPr sz="2300"/>
          </a:p>
        </p:txBody>
      </p:sp>
      <p:pic>
        <p:nvPicPr>
          <p:cNvPr id="3" name="object 3"/>
          <p:cNvPicPr/>
          <p:nvPr/>
        </p:nvPicPr>
        <p:blipFill>
          <a:blip r:embed="rId2" cstate="print"/>
          <a:stretch>
            <a:fillRect/>
          </a:stretch>
        </p:blipFill>
        <p:spPr>
          <a:xfrm>
            <a:off x="8534400" y="0"/>
            <a:ext cx="542925" cy="542925"/>
          </a:xfrm>
          <a:prstGeom prst="rect">
            <a:avLst/>
          </a:prstGeom>
        </p:spPr>
      </p:pic>
      <p:sp>
        <p:nvSpPr>
          <p:cNvPr id="4" name="object 4"/>
          <p:cNvSpPr/>
          <p:nvPr/>
        </p:nvSpPr>
        <p:spPr>
          <a:xfrm>
            <a:off x="746861" y="4481093"/>
            <a:ext cx="447675" cy="9525"/>
          </a:xfrm>
          <a:custGeom>
            <a:avLst/>
            <a:gdLst/>
            <a:ahLst/>
            <a:cxnLst/>
            <a:rect l="l" t="t" r="r" b="b"/>
            <a:pathLst>
              <a:path w="447675" h="9525">
                <a:moveTo>
                  <a:pt x="447674" y="0"/>
                </a:moveTo>
                <a:lnTo>
                  <a:pt x="0" y="0"/>
                </a:lnTo>
                <a:lnTo>
                  <a:pt x="0" y="9525"/>
                </a:lnTo>
                <a:lnTo>
                  <a:pt x="447674" y="9525"/>
                </a:lnTo>
                <a:lnTo>
                  <a:pt x="447674" y="0"/>
                </a:lnTo>
                <a:close/>
              </a:path>
            </a:pathLst>
          </a:custGeom>
          <a:solidFill>
            <a:srgbClr val="1C3678"/>
          </a:solidFill>
        </p:spPr>
        <p:txBody>
          <a:bodyPr wrap="square" lIns="0" tIns="0" rIns="0" bIns="0" rtlCol="0"/>
          <a:lstStyle/>
          <a:p>
            <a:endParaRPr/>
          </a:p>
        </p:txBody>
      </p:sp>
      <p:sp>
        <p:nvSpPr>
          <p:cNvPr id="5" name="object 5"/>
          <p:cNvSpPr txBox="1">
            <a:spLocks noGrp="1"/>
          </p:cNvSpPr>
          <p:nvPr>
            <p:ph sz="half" idx="2"/>
          </p:nvPr>
        </p:nvSpPr>
        <p:spPr>
          <a:prstGeom prst="rect">
            <a:avLst/>
          </a:prstGeom>
        </p:spPr>
        <p:txBody>
          <a:bodyPr vert="horz" wrap="square" lIns="0" tIns="15875" rIns="0" bIns="0" rtlCol="0">
            <a:spAutoFit/>
          </a:bodyPr>
          <a:lstStyle/>
          <a:p>
            <a:pPr marL="12700">
              <a:lnSpc>
                <a:spcPct val="100000"/>
              </a:lnSpc>
              <a:spcBef>
                <a:spcPts val="125"/>
              </a:spcBef>
            </a:pPr>
            <a:r>
              <a:rPr spc="5" dirty="0"/>
              <a:t>1.</a:t>
            </a:r>
            <a:r>
              <a:rPr spc="-30" dirty="0"/>
              <a:t> </a:t>
            </a:r>
            <a:r>
              <a:rPr spc="-5" dirty="0"/>
              <a:t>Industry</a:t>
            </a:r>
            <a:r>
              <a:rPr spc="-30" dirty="0"/>
              <a:t> </a:t>
            </a:r>
            <a:r>
              <a:rPr spc="10" dirty="0"/>
              <a:t>Overview</a:t>
            </a:r>
          </a:p>
          <a:p>
            <a:pPr marL="49530" indent="-37465">
              <a:lnSpc>
                <a:spcPct val="100000"/>
              </a:lnSpc>
              <a:spcBef>
                <a:spcPts val="20"/>
              </a:spcBef>
              <a:buSzPct val="87500"/>
              <a:buFont typeface="Arial MT"/>
              <a:buChar char="•"/>
              <a:tabLst>
                <a:tab pos="50165" algn="l"/>
              </a:tabLst>
            </a:pPr>
            <a:r>
              <a:rPr spc="-5" dirty="0"/>
              <a:t>Sector:</a:t>
            </a:r>
            <a:r>
              <a:rPr spc="10" dirty="0"/>
              <a:t> </a:t>
            </a:r>
            <a:r>
              <a:rPr b="0" spc="-5" dirty="0">
                <a:latin typeface="Arial MT"/>
                <a:cs typeface="Arial MT"/>
              </a:rPr>
              <a:t>Non-alcoholic</a:t>
            </a:r>
            <a:r>
              <a:rPr b="0" spc="30" dirty="0">
                <a:latin typeface="Arial MT"/>
                <a:cs typeface="Arial MT"/>
              </a:rPr>
              <a:t> </a:t>
            </a:r>
            <a:r>
              <a:rPr b="0" dirty="0">
                <a:latin typeface="Arial MT"/>
                <a:cs typeface="Arial MT"/>
              </a:rPr>
              <a:t>beverages.</a:t>
            </a:r>
          </a:p>
          <a:p>
            <a:pPr marL="12700" marR="5080">
              <a:lnSpc>
                <a:spcPct val="99100"/>
              </a:lnSpc>
              <a:spcBef>
                <a:spcPts val="25"/>
              </a:spcBef>
              <a:buSzPct val="87500"/>
              <a:buFont typeface="Arial MT"/>
              <a:buChar char="•"/>
              <a:tabLst>
                <a:tab pos="50165" algn="l"/>
              </a:tabLst>
            </a:pPr>
            <a:r>
              <a:rPr spc="-5" dirty="0"/>
              <a:t>Industry </a:t>
            </a:r>
            <a:r>
              <a:rPr dirty="0"/>
              <a:t>growth: </a:t>
            </a:r>
            <a:r>
              <a:rPr b="0" spc="15" dirty="0">
                <a:latin typeface="Arial MT"/>
                <a:cs typeface="Arial MT"/>
              </a:rPr>
              <a:t>The </a:t>
            </a:r>
            <a:r>
              <a:rPr b="0" spc="-5" dirty="0">
                <a:latin typeface="Arial MT"/>
                <a:cs typeface="Arial MT"/>
              </a:rPr>
              <a:t>global </a:t>
            </a:r>
            <a:r>
              <a:rPr b="0" dirty="0">
                <a:latin typeface="Arial MT"/>
                <a:cs typeface="Arial MT"/>
              </a:rPr>
              <a:t>beverage market </a:t>
            </a:r>
            <a:r>
              <a:rPr b="0" spc="-10" dirty="0">
                <a:latin typeface="Arial MT"/>
                <a:cs typeface="Arial MT"/>
              </a:rPr>
              <a:t>is </a:t>
            </a:r>
            <a:r>
              <a:rPr b="0" spc="5" dirty="0">
                <a:latin typeface="Arial MT"/>
                <a:cs typeface="Arial MT"/>
              </a:rPr>
              <a:t>growing </a:t>
            </a:r>
            <a:r>
              <a:rPr b="0" spc="-5" dirty="0">
                <a:latin typeface="Arial MT"/>
                <a:cs typeface="Arial MT"/>
              </a:rPr>
              <a:t>steadily, driven </a:t>
            </a:r>
            <a:r>
              <a:rPr b="0" spc="-210" dirty="0">
                <a:latin typeface="Arial MT"/>
                <a:cs typeface="Arial MT"/>
              </a:rPr>
              <a:t> </a:t>
            </a:r>
            <a:r>
              <a:rPr b="0" spc="5" dirty="0">
                <a:latin typeface="Arial MT"/>
                <a:cs typeface="Arial MT"/>
              </a:rPr>
              <a:t>by</a:t>
            </a:r>
            <a:r>
              <a:rPr b="0" spc="-30" dirty="0">
                <a:latin typeface="Arial MT"/>
                <a:cs typeface="Arial MT"/>
              </a:rPr>
              <a:t> </a:t>
            </a:r>
            <a:r>
              <a:rPr b="0" spc="5" dirty="0">
                <a:latin typeface="Arial MT"/>
                <a:cs typeface="Arial MT"/>
              </a:rPr>
              <a:t>demand</a:t>
            </a:r>
            <a:r>
              <a:rPr b="0" spc="-5" dirty="0">
                <a:latin typeface="Arial MT"/>
                <a:cs typeface="Arial MT"/>
              </a:rPr>
              <a:t> </a:t>
            </a:r>
            <a:r>
              <a:rPr b="0" dirty="0">
                <a:latin typeface="Arial MT"/>
                <a:cs typeface="Arial MT"/>
              </a:rPr>
              <a:t>for</a:t>
            </a:r>
            <a:r>
              <a:rPr b="0" spc="35" dirty="0">
                <a:latin typeface="Arial MT"/>
                <a:cs typeface="Arial MT"/>
              </a:rPr>
              <a:t> </a:t>
            </a:r>
            <a:r>
              <a:rPr b="0" spc="-5" dirty="0">
                <a:latin typeface="Arial MT"/>
                <a:cs typeface="Arial MT"/>
              </a:rPr>
              <a:t>health-conscious</a:t>
            </a:r>
            <a:r>
              <a:rPr b="0" spc="45" dirty="0">
                <a:latin typeface="Arial MT"/>
                <a:cs typeface="Arial MT"/>
              </a:rPr>
              <a:t> </a:t>
            </a:r>
            <a:r>
              <a:rPr b="0" dirty="0">
                <a:latin typeface="Arial MT"/>
                <a:cs typeface="Arial MT"/>
              </a:rPr>
              <a:t>products</a:t>
            </a:r>
            <a:r>
              <a:rPr b="0" spc="-30" dirty="0">
                <a:latin typeface="Arial MT"/>
                <a:cs typeface="Arial MT"/>
              </a:rPr>
              <a:t> </a:t>
            </a:r>
            <a:r>
              <a:rPr b="0" spc="5" dirty="0">
                <a:latin typeface="Arial MT"/>
                <a:cs typeface="Arial MT"/>
              </a:rPr>
              <a:t>and</a:t>
            </a:r>
            <a:r>
              <a:rPr b="0" spc="-5" dirty="0">
                <a:latin typeface="Arial MT"/>
                <a:cs typeface="Arial MT"/>
              </a:rPr>
              <a:t> </a:t>
            </a:r>
            <a:r>
              <a:rPr b="0" spc="5" dirty="0">
                <a:latin typeface="Arial MT"/>
                <a:cs typeface="Arial MT"/>
              </a:rPr>
              <a:t>expanding</a:t>
            </a:r>
            <a:r>
              <a:rPr b="0" dirty="0">
                <a:latin typeface="Arial MT"/>
                <a:cs typeface="Arial MT"/>
              </a:rPr>
              <a:t> </a:t>
            </a:r>
            <a:r>
              <a:rPr b="0" spc="-10" dirty="0">
                <a:latin typeface="Arial MT"/>
                <a:cs typeface="Arial MT"/>
              </a:rPr>
              <a:t>markets</a:t>
            </a:r>
            <a:r>
              <a:rPr b="0" spc="45" dirty="0">
                <a:latin typeface="Arial MT"/>
                <a:cs typeface="Arial MT"/>
              </a:rPr>
              <a:t> </a:t>
            </a:r>
            <a:r>
              <a:rPr b="0" spc="-10" dirty="0">
                <a:latin typeface="Arial MT"/>
                <a:cs typeface="Arial MT"/>
              </a:rPr>
              <a:t>in</a:t>
            </a:r>
            <a:r>
              <a:rPr b="0" spc="-5" dirty="0">
                <a:latin typeface="Arial MT"/>
                <a:cs typeface="Arial MT"/>
              </a:rPr>
              <a:t> </a:t>
            </a:r>
            <a:r>
              <a:rPr b="0" dirty="0">
                <a:latin typeface="Arial MT"/>
                <a:cs typeface="Arial MT"/>
              </a:rPr>
              <a:t>Asia </a:t>
            </a:r>
            <a:r>
              <a:rPr b="0" spc="5" dirty="0">
                <a:latin typeface="Arial MT"/>
                <a:cs typeface="Arial MT"/>
              </a:rPr>
              <a:t> and</a:t>
            </a:r>
            <a:r>
              <a:rPr b="0" spc="-10" dirty="0">
                <a:latin typeface="Arial MT"/>
                <a:cs typeface="Arial MT"/>
              </a:rPr>
              <a:t> </a:t>
            </a:r>
            <a:r>
              <a:rPr b="0" spc="-5" dirty="0">
                <a:latin typeface="Arial MT"/>
                <a:cs typeface="Arial MT"/>
              </a:rPr>
              <a:t>Latin </a:t>
            </a:r>
            <a:r>
              <a:rPr b="0" spc="5" dirty="0">
                <a:latin typeface="Arial MT"/>
                <a:cs typeface="Arial MT"/>
              </a:rPr>
              <a:t>America.</a:t>
            </a:r>
            <a:r>
              <a:rPr b="0" dirty="0">
                <a:latin typeface="Arial MT"/>
                <a:cs typeface="Arial MT"/>
              </a:rPr>
              <a:t> </a:t>
            </a:r>
            <a:r>
              <a:rPr b="0" spc="-5" dirty="0">
                <a:latin typeface="Arial MT"/>
                <a:cs typeface="Arial MT"/>
              </a:rPr>
              <a:t>Coca-Cola </a:t>
            </a:r>
            <a:r>
              <a:rPr b="0" dirty="0">
                <a:latin typeface="Arial MT"/>
                <a:cs typeface="Arial MT"/>
              </a:rPr>
              <a:t>benefits</a:t>
            </a:r>
            <a:r>
              <a:rPr b="0" spc="40" dirty="0">
                <a:latin typeface="Arial MT"/>
                <a:cs typeface="Arial MT"/>
              </a:rPr>
              <a:t> </a:t>
            </a:r>
            <a:r>
              <a:rPr b="0" spc="-5" dirty="0">
                <a:latin typeface="Arial MT"/>
                <a:cs typeface="Arial MT"/>
              </a:rPr>
              <a:t>from</a:t>
            </a:r>
            <a:r>
              <a:rPr b="0" spc="-10" dirty="0">
                <a:latin typeface="Arial MT"/>
                <a:cs typeface="Arial MT"/>
              </a:rPr>
              <a:t> </a:t>
            </a:r>
            <a:r>
              <a:rPr b="0" spc="-5" dirty="0">
                <a:latin typeface="Arial MT"/>
                <a:cs typeface="Arial MT"/>
              </a:rPr>
              <a:t>its</a:t>
            </a:r>
            <a:r>
              <a:rPr b="0" spc="40" dirty="0">
                <a:latin typeface="Arial MT"/>
                <a:cs typeface="Arial MT"/>
              </a:rPr>
              <a:t> </a:t>
            </a:r>
            <a:r>
              <a:rPr b="0" spc="-5" dirty="0">
                <a:latin typeface="Arial MT"/>
                <a:cs typeface="Arial MT"/>
              </a:rPr>
              <a:t>broad</a:t>
            </a:r>
            <a:r>
              <a:rPr b="0" spc="-10" dirty="0">
                <a:latin typeface="Arial MT"/>
                <a:cs typeface="Arial MT"/>
              </a:rPr>
              <a:t> </a:t>
            </a:r>
            <a:r>
              <a:rPr b="0" dirty="0">
                <a:latin typeface="Arial MT"/>
                <a:cs typeface="Arial MT"/>
              </a:rPr>
              <a:t>portfolio</a:t>
            </a:r>
            <a:r>
              <a:rPr b="0" spc="-5" dirty="0">
                <a:latin typeface="Arial MT"/>
                <a:cs typeface="Arial MT"/>
              </a:rPr>
              <a:t> </a:t>
            </a:r>
            <a:r>
              <a:rPr b="0" spc="5" dirty="0">
                <a:latin typeface="Arial MT"/>
                <a:cs typeface="Arial MT"/>
              </a:rPr>
              <a:t>of</a:t>
            </a:r>
            <a:r>
              <a:rPr b="0" dirty="0">
                <a:latin typeface="Arial MT"/>
                <a:cs typeface="Arial MT"/>
              </a:rPr>
              <a:t> sparkling </a:t>
            </a:r>
            <a:r>
              <a:rPr b="0" spc="-204" dirty="0">
                <a:latin typeface="Arial MT"/>
                <a:cs typeface="Arial MT"/>
              </a:rPr>
              <a:t> </a:t>
            </a:r>
            <a:r>
              <a:rPr b="0" spc="5" dirty="0">
                <a:latin typeface="Arial MT"/>
                <a:cs typeface="Arial MT"/>
              </a:rPr>
              <a:t>and</a:t>
            </a:r>
            <a:r>
              <a:rPr b="0" spc="-15" dirty="0">
                <a:latin typeface="Arial MT"/>
                <a:cs typeface="Arial MT"/>
              </a:rPr>
              <a:t> </a:t>
            </a:r>
            <a:r>
              <a:rPr b="0" dirty="0">
                <a:latin typeface="Arial MT"/>
                <a:cs typeface="Arial MT"/>
              </a:rPr>
              <a:t>non-sparkling</a:t>
            </a:r>
            <a:r>
              <a:rPr b="0" spc="-10" dirty="0">
                <a:latin typeface="Arial MT"/>
                <a:cs typeface="Arial MT"/>
              </a:rPr>
              <a:t> </a:t>
            </a:r>
            <a:r>
              <a:rPr b="0" spc="5" dirty="0">
                <a:latin typeface="Arial MT"/>
                <a:cs typeface="Arial MT"/>
              </a:rPr>
              <a:t>beverages</a:t>
            </a:r>
          </a:p>
          <a:p>
            <a:pPr marL="12700">
              <a:lnSpc>
                <a:spcPct val="100000"/>
              </a:lnSpc>
              <a:spcBef>
                <a:spcPts val="595"/>
              </a:spcBef>
            </a:pPr>
            <a:r>
              <a:rPr spc="5" dirty="0"/>
              <a:t>2.</a:t>
            </a:r>
            <a:r>
              <a:rPr spc="-30" dirty="0"/>
              <a:t> </a:t>
            </a:r>
            <a:r>
              <a:rPr dirty="0"/>
              <a:t>Market </a:t>
            </a:r>
            <a:r>
              <a:rPr spc="-10" dirty="0"/>
              <a:t>Share</a:t>
            </a:r>
          </a:p>
          <a:p>
            <a:pPr marL="12700" marR="1094105">
              <a:lnSpc>
                <a:spcPct val="101699"/>
              </a:lnSpc>
              <a:buSzPct val="87500"/>
              <a:buChar char="•"/>
              <a:tabLst>
                <a:tab pos="50165" algn="l"/>
              </a:tabLst>
            </a:pPr>
            <a:r>
              <a:rPr b="0" spc="-5" dirty="0">
                <a:latin typeface="Arial MT"/>
                <a:cs typeface="Arial MT"/>
              </a:rPr>
              <a:t>Coca-Cola holds </a:t>
            </a:r>
            <a:r>
              <a:rPr b="0" spc="5" dirty="0">
                <a:latin typeface="Arial MT"/>
                <a:cs typeface="Arial MT"/>
              </a:rPr>
              <a:t>the </a:t>
            </a:r>
            <a:r>
              <a:rPr spc="5" dirty="0"/>
              <a:t>largest share </a:t>
            </a:r>
            <a:r>
              <a:rPr spc="-20" dirty="0"/>
              <a:t>of </a:t>
            </a:r>
            <a:r>
              <a:rPr dirty="0"/>
              <a:t>the </a:t>
            </a:r>
            <a:r>
              <a:rPr spc="-10" dirty="0"/>
              <a:t>global </a:t>
            </a:r>
            <a:r>
              <a:rPr spc="-210" dirty="0"/>
              <a:t> </a:t>
            </a:r>
            <a:r>
              <a:rPr dirty="0"/>
              <a:t>soft </a:t>
            </a:r>
            <a:r>
              <a:rPr spc="-5" dirty="0"/>
              <a:t>drinks market</a:t>
            </a:r>
            <a:r>
              <a:rPr b="0" spc="-5" dirty="0">
                <a:latin typeface="Arial MT"/>
                <a:cs typeface="Arial MT"/>
              </a:rPr>
              <a:t>, </a:t>
            </a:r>
            <a:r>
              <a:rPr b="0" spc="5" dirty="0">
                <a:latin typeface="Arial MT"/>
                <a:cs typeface="Arial MT"/>
              </a:rPr>
              <a:t>estimated at </a:t>
            </a:r>
            <a:r>
              <a:rPr b="0" spc="-5" dirty="0">
                <a:latin typeface="Arial MT"/>
                <a:cs typeface="Arial MT"/>
              </a:rPr>
              <a:t>around </a:t>
            </a:r>
            <a:r>
              <a:rPr spc="5" dirty="0"/>
              <a:t>45% </a:t>
            </a:r>
            <a:r>
              <a:rPr b="0" spc="-10" dirty="0">
                <a:latin typeface="Arial MT"/>
                <a:cs typeface="Arial MT"/>
              </a:rPr>
              <a:t>in </a:t>
            </a:r>
            <a:r>
              <a:rPr b="0" spc="-5" dirty="0">
                <a:latin typeface="Arial MT"/>
                <a:cs typeface="Arial MT"/>
              </a:rPr>
              <a:t> </a:t>
            </a:r>
            <a:r>
              <a:rPr b="0" spc="5" dirty="0">
                <a:latin typeface="Arial MT"/>
                <a:cs typeface="Arial MT"/>
              </a:rPr>
              <a:t>2024. It has strong dominance </a:t>
            </a:r>
            <a:r>
              <a:rPr b="0" dirty="0">
                <a:latin typeface="Arial MT"/>
                <a:cs typeface="Arial MT"/>
              </a:rPr>
              <a:t>across regions, </a:t>
            </a:r>
            <a:r>
              <a:rPr b="0" spc="5" dirty="0">
                <a:latin typeface="Arial MT"/>
                <a:cs typeface="Arial MT"/>
              </a:rPr>
              <a:t> </a:t>
            </a:r>
            <a:r>
              <a:rPr b="0" spc="-5" dirty="0">
                <a:latin typeface="Arial MT"/>
                <a:cs typeface="Arial MT"/>
              </a:rPr>
              <a:t>particularly</a:t>
            </a:r>
            <a:r>
              <a:rPr b="0" spc="30" dirty="0">
                <a:latin typeface="Arial MT"/>
                <a:cs typeface="Arial MT"/>
              </a:rPr>
              <a:t> </a:t>
            </a:r>
            <a:r>
              <a:rPr b="0" spc="-10" dirty="0">
                <a:latin typeface="Arial MT"/>
                <a:cs typeface="Arial MT"/>
              </a:rPr>
              <a:t>in </a:t>
            </a:r>
            <a:r>
              <a:rPr b="0" spc="-5" dirty="0">
                <a:latin typeface="Arial MT"/>
                <a:cs typeface="Arial MT"/>
              </a:rPr>
              <a:t>Latin</a:t>
            </a:r>
            <a:r>
              <a:rPr b="0" spc="-10" dirty="0">
                <a:latin typeface="Arial MT"/>
                <a:cs typeface="Arial MT"/>
              </a:rPr>
              <a:t> </a:t>
            </a:r>
            <a:r>
              <a:rPr b="0" spc="5" dirty="0">
                <a:latin typeface="Arial MT"/>
                <a:cs typeface="Arial MT"/>
              </a:rPr>
              <a:t>America</a:t>
            </a:r>
            <a:r>
              <a:rPr b="0" spc="-10" dirty="0">
                <a:latin typeface="Arial MT"/>
                <a:cs typeface="Arial MT"/>
              </a:rPr>
              <a:t> </a:t>
            </a:r>
            <a:r>
              <a:rPr b="0" spc="5" dirty="0">
                <a:latin typeface="Arial MT"/>
                <a:cs typeface="Arial MT"/>
              </a:rPr>
              <a:t>and</a:t>
            </a:r>
            <a:r>
              <a:rPr b="0" spc="-10" dirty="0">
                <a:latin typeface="Arial MT"/>
                <a:cs typeface="Arial MT"/>
              </a:rPr>
              <a:t> </a:t>
            </a:r>
            <a:r>
              <a:rPr b="0" spc="-15" dirty="0">
                <a:latin typeface="Arial MT"/>
                <a:cs typeface="Arial MT"/>
              </a:rPr>
              <a:t>Asia</a:t>
            </a:r>
          </a:p>
          <a:p>
            <a:pPr marL="12700">
              <a:lnSpc>
                <a:spcPct val="100000"/>
              </a:lnSpc>
              <a:spcBef>
                <a:spcPts val="720"/>
              </a:spcBef>
            </a:pPr>
            <a:r>
              <a:rPr spc="5" dirty="0"/>
              <a:t>3.</a:t>
            </a:r>
            <a:r>
              <a:rPr spc="-20" dirty="0"/>
              <a:t> </a:t>
            </a:r>
            <a:r>
              <a:rPr spc="-5" dirty="0"/>
              <a:t>Competitive</a:t>
            </a:r>
            <a:r>
              <a:rPr spc="-25" dirty="0"/>
              <a:t> </a:t>
            </a:r>
            <a:r>
              <a:rPr dirty="0"/>
              <a:t>Landscape</a:t>
            </a:r>
          </a:p>
          <a:p>
            <a:pPr marL="12700" marR="624205">
              <a:lnSpc>
                <a:spcPts val="980"/>
              </a:lnSpc>
              <a:spcBef>
                <a:spcPts val="30"/>
              </a:spcBef>
              <a:buSzPct val="87500"/>
              <a:buFont typeface="Arial MT"/>
              <a:buChar char="•"/>
              <a:tabLst>
                <a:tab pos="50165" algn="l"/>
              </a:tabLst>
            </a:pPr>
            <a:r>
              <a:rPr dirty="0"/>
              <a:t>Market </a:t>
            </a:r>
            <a:r>
              <a:rPr spc="-5" dirty="0"/>
              <a:t>structure: </a:t>
            </a:r>
            <a:r>
              <a:rPr b="0" dirty="0">
                <a:latin typeface="Arial MT"/>
                <a:cs typeface="Arial MT"/>
              </a:rPr>
              <a:t>Oligopolistic, </a:t>
            </a:r>
            <a:r>
              <a:rPr b="0" spc="5" dirty="0">
                <a:latin typeface="Arial MT"/>
                <a:cs typeface="Arial MT"/>
              </a:rPr>
              <a:t>shared </a:t>
            </a:r>
            <a:r>
              <a:rPr b="0" dirty="0">
                <a:latin typeface="Arial MT"/>
                <a:cs typeface="Arial MT"/>
              </a:rPr>
              <a:t>with </a:t>
            </a:r>
            <a:r>
              <a:rPr b="0" spc="-5" dirty="0">
                <a:latin typeface="Arial MT"/>
                <a:cs typeface="Arial MT"/>
              </a:rPr>
              <a:t>PepsiCo </a:t>
            </a:r>
            <a:r>
              <a:rPr b="0" spc="5" dirty="0">
                <a:latin typeface="Arial MT"/>
                <a:cs typeface="Arial MT"/>
              </a:rPr>
              <a:t>and </a:t>
            </a:r>
            <a:r>
              <a:rPr b="0" spc="15" dirty="0">
                <a:latin typeface="Arial MT"/>
                <a:cs typeface="Arial MT"/>
              </a:rPr>
              <a:t>a </a:t>
            </a:r>
            <a:r>
              <a:rPr b="0" spc="-210" dirty="0">
                <a:latin typeface="Arial MT"/>
                <a:cs typeface="Arial MT"/>
              </a:rPr>
              <a:t> </a:t>
            </a:r>
            <a:r>
              <a:rPr b="0" spc="5" dirty="0">
                <a:latin typeface="Arial MT"/>
                <a:cs typeface="Arial MT"/>
              </a:rPr>
              <a:t>few</a:t>
            </a:r>
            <a:r>
              <a:rPr b="0" spc="-5" dirty="0">
                <a:latin typeface="Arial MT"/>
                <a:cs typeface="Arial MT"/>
              </a:rPr>
              <a:t> </a:t>
            </a:r>
            <a:r>
              <a:rPr b="0" dirty="0">
                <a:latin typeface="Arial MT"/>
                <a:cs typeface="Arial MT"/>
              </a:rPr>
              <a:t>regional</a:t>
            </a:r>
            <a:r>
              <a:rPr b="0" spc="-35" dirty="0">
                <a:latin typeface="Arial MT"/>
                <a:cs typeface="Arial MT"/>
              </a:rPr>
              <a:t> </a:t>
            </a:r>
            <a:r>
              <a:rPr b="0" spc="-5" dirty="0">
                <a:latin typeface="Arial MT"/>
                <a:cs typeface="Arial MT"/>
              </a:rPr>
              <a:t>players.</a:t>
            </a:r>
          </a:p>
          <a:p>
            <a:pPr marL="49530" indent="-37465">
              <a:lnSpc>
                <a:spcPts val="940"/>
              </a:lnSpc>
              <a:buSzPct val="87500"/>
              <a:buFont typeface="Arial MT"/>
              <a:buChar char="•"/>
              <a:tabLst>
                <a:tab pos="50165" algn="l"/>
              </a:tabLst>
            </a:pPr>
            <a:r>
              <a:rPr spc="-5" dirty="0"/>
              <a:t>Competitive</a:t>
            </a:r>
            <a:r>
              <a:rPr spc="-15" dirty="0"/>
              <a:t> </a:t>
            </a:r>
            <a:r>
              <a:rPr spc="5" dirty="0"/>
              <a:t>pressure:</a:t>
            </a:r>
            <a:r>
              <a:rPr spc="-35" dirty="0"/>
              <a:t> </a:t>
            </a:r>
            <a:r>
              <a:rPr b="0" dirty="0">
                <a:latin typeface="Arial MT"/>
                <a:cs typeface="Arial MT"/>
              </a:rPr>
              <a:t>Moderate</a:t>
            </a:r>
            <a:r>
              <a:rPr b="0" spc="-5" dirty="0">
                <a:latin typeface="Arial MT"/>
                <a:cs typeface="Arial MT"/>
              </a:rPr>
              <a:t> </a:t>
            </a:r>
            <a:r>
              <a:rPr b="0" spc="5" dirty="0">
                <a:latin typeface="Arial MT"/>
                <a:cs typeface="Arial MT"/>
              </a:rPr>
              <a:t>to</a:t>
            </a:r>
            <a:r>
              <a:rPr b="0" spc="-5" dirty="0">
                <a:latin typeface="Arial MT"/>
                <a:cs typeface="Arial MT"/>
              </a:rPr>
              <a:t> </a:t>
            </a:r>
            <a:r>
              <a:rPr b="0" spc="10" dirty="0">
                <a:latin typeface="Arial MT"/>
                <a:cs typeface="Arial MT"/>
              </a:rPr>
              <a:t>high,</a:t>
            </a:r>
            <a:r>
              <a:rPr b="0" dirty="0">
                <a:latin typeface="Arial MT"/>
                <a:cs typeface="Arial MT"/>
              </a:rPr>
              <a:t> driven </a:t>
            </a:r>
            <a:r>
              <a:rPr b="0" spc="5" dirty="0">
                <a:latin typeface="Arial MT"/>
                <a:cs typeface="Arial MT"/>
              </a:rPr>
              <a:t>by</a:t>
            </a:r>
          </a:p>
          <a:p>
            <a:pPr marL="12700" marR="621665">
              <a:lnSpc>
                <a:spcPct val="97900"/>
              </a:lnSpc>
              <a:spcBef>
                <a:spcPts val="35"/>
              </a:spcBef>
            </a:pPr>
            <a:r>
              <a:rPr b="0" dirty="0">
                <a:latin typeface="Arial MT"/>
                <a:cs typeface="Arial MT"/>
              </a:rPr>
              <a:t>increasing </a:t>
            </a:r>
            <a:r>
              <a:rPr b="0" spc="5" dirty="0">
                <a:latin typeface="Arial MT"/>
                <a:cs typeface="Arial MT"/>
              </a:rPr>
              <a:t>demand for healthier alternatives and </a:t>
            </a:r>
            <a:r>
              <a:rPr b="0" dirty="0">
                <a:latin typeface="Arial MT"/>
                <a:cs typeface="Arial MT"/>
              </a:rPr>
              <a:t>localized </a:t>
            </a:r>
            <a:r>
              <a:rPr b="0" spc="5" dirty="0">
                <a:latin typeface="Arial MT"/>
                <a:cs typeface="Arial MT"/>
              </a:rPr>
              <a:t> beverage</a:t>
            </a:r>
            <a:r>
              <a:rPr b="0" spc="-5" dirty="0">
                <a:latin typeface="Arial MT"/>
                <a:cs typeface="Arial MT"/>
              </a:rPr>
              <a:t> </a:t>
            </a:r>
            <a:r>
              <a:rPr b="0" dirty="0">
                <a:latin typeface="Arial MT"/>
                <a:cs typeface="Arial MT"/>
              </a:rPr>
              <a:t>companies. </a:t>
            </a:r>
            <a:r>
              <a:rPr b="0" spc="-5" dirty="0">
                <a:latin typeface="Arial MT"/>
                <a:cs typeface="Arial MT"/>
              </a:rPr>
              <a:t>Coca-Cola </a:t>
            </a:r>
            <a:r>
              <a:rPr b="0" spc="5" dirty="0">
                <a:latin typeface="Arial MT"/>
                <a:cs typeface="Arial MT"/>
              </a:rPr>
              <a:t>maintains</a:t>
            </a:r>
            <a:r>
              <a:rPr b="0" spc="-35" dirty="0">
                <a:latin typeface="Arial MT"/>
                <a:cs typeface="Arial MT"/>
              </a:rPr>
              <a:t> </a:t>
            </a:r>
            <a:r>
              <a:rPr b="0" spc="10" dirty="0">
                <a:latin typeface="Arial MT"/>
                <a:cs typeface="Arial MT"/>
              </a:rPr>
              <a:t>an</a:t>
            </a:r>
            <a:r>
              <a:rPr b="0" spc="-5" dirty="0">
                <a:latin typeface="Arial MT"/>
                <a:cs typeface="Arial MT"/>
              </a:rPr>
              <a:t> </a:t>
            </a:r>
            <a:r>
              <a:rPr b="0" spc="5" dirty="0">
                <a:latin typeface="Arial MT"/>
                <a:cs typeface="Arial MT"/>
              </a:rPr>
              <a:t>edge</a:t>
            </a:r>
            <a:r>
              <a:rPr b="0" spc="-5" dirty="0">
                <a:latin typeface="Arial MT"/>
                <a:cs typeface="Arial MT"/>
              </a:rPr>
              <a:t> through </a:t>
            </a:r>
            <a:r>
              <a:rPr b="0" spc="-210" dirty="0">
                <a:latin typeface="Arial MT"/>
                <a:cs typeface="Arial MT"/>
              </a:rPr>
              <a:t> </a:t>
            </a:r>
            <a:r>
              <a:rPr b="0" dirty="0">
                <a:latin typeface="Arial MT"/>
                <a:cs typeface="Arial MT"/>
              </a:rPr>
              <a:t>aggressive</a:t>
            </a:r>
            <a:r>
              <a:rPr b="0" spc="-10" dirty="0">
                <a:latin typeface="Arial MT"/>
                <a:cs typeface="Arial MT"/>
              </a:rPr>
              <a:t> </a:t>
            </a:r>
            <a:r>
              <a:rPr b="0" spc="5" dirty="0">
                <a:latin typeface="Arial MT"/>
                <a:cs typeface="Arial MT"/>
              </a:rPr>
              <a:t>branding</a:t>
            </a:r>
            <a:r>
              <a:rPr b="0" spc="-10" dirty="0">
                <a:latin typeface="Arial MT"/>
                <a:cs typeface="Arial MT"/>
              </a:rPr>
              <a:t> </a:t>
            </a:r>
            <a:r>
              <a:rPr b="0" spc="5" dirty="0">
                <a:latin typeface="Arial MT"/>
                <a:cs typeface="Arial MT"/>
              </a:rPr>
              <a:t>and</a:t>
            </a:r>
            <a:r>
              <a:rPr b="0" spc="-10" dirty="0">
                <a:latin typeface="Arial MT"/>
                <a:cs typeface="Arial MT"/>
              </a:rPr>
              <a:t> </a:t>
            </a:r>
            <a:r>
              <a:rPr b="0" dirty="0">
                <a:latin typeface="Arial MT"/>
                <a:cs typeface="Arial MT"/>
              </a:rPr>
              <a:t>product</a:t>
            </a:r>
            <a:r>
              <a:rPr b="0" spc="-5" dirty="0">
                <a:latin typeface="Arial MT"/>
                <a:cs typeface="Arial MT"/>
              </a:rPr>
              <a:t> diversification</a:t>
            </a:r>
          </a:p>
          <a:p>
            <a:pPr marL="12700">
              <a:lnSpc>
                <a:spcPct val="100000"/>
              </a:lnSpc>
              <a:spcBef>
                <a:spcPts val="650"/>
              </a:spcBef>
            </a:pPr>
            <a:r>
              <a:rPr spc="5" dirty="0"/>
              <a:t>4.</a:t>
            </a:r>
            <a:r>
              <a:rPr spc="-25" dirty="0"/>
              <a:t> </a:t>
            </a:r>
            <a:r>
              <a:rPr spc="5" dirty="0"/>
              <a:t>Financial</a:t>
            </a:r>
            <a:r>
              <a:rPr spc="-20" dirty="0"/>
              <a:t> </a:t>
            </a:r>
            <a:r>
              <a:rPr spc="-10" dirty="0"/>
              <a:t>Position</a:t>
            </a:r>
          </a:p>
          <a:p>
            <a:pPr marL="12700" marR="754380">
              <a:lnSpc>
                <a:spcPct val="101699"/>
              </a:lnSpc>
              <a:spcBef>
                <a:spcPts val="5"/>
              </a:spcBef>
              <a:buSzPct val="87500"/>
              <a:buFont typeface="Arial MT"/>
              <a:buChar char="•"/>
              <a:tabLst>
                <a:tab pos="50165" algn="l"/>
              </a:tabLst>
            </a:pPr>
            <a:r>
              <a:rPr spc="-10" dirty="0"/>
              <a:t>Q3 </a:t>
            </a:r>
            <a:r>
              <a:rPr spc="5" dirty="0"/>
              <a:t>2024</a:t>
            </a:r>
            <a:r>
              <a:rPr spc="-10" dirty="0"/>
              <a:t> </a:t>
            </a:r>
            <a:r>
              <a:rPr dirty="0"/>
              <a:t>Revenue: </a:t>
            </a:r>
            <a:r>
              <a:rPr b="0" spc="5" dirty="0">
                <a:latin typeface="Arial MT"/>
                <a:cs typeface="Arial MT"/>
              </a:rPr>
              <a:t>$11.85</a:t>
            </a:r>
            <a:r>
              <a:rPr b="0" spc="-10" dirty="0">
                <a:latin typeface="Arial MT"/>
                <a:cs typeface="Arial MT"/>
              </a:rPr>
              <a:t> </a:t>
            </a:r>
            <a:r>
              <a:rPr b="0" spc="-5" dirty="0">
                <a:latin typeface="Arial MT"/>
                <a:cs typeface="Arial MT"/>
              </a:rPr>
              <a:t>billion,</a:t>
            </a:r>
            <a:r>
              <a:rPr b="0" dirty="0">
                <a:latin typeface="Arial MT"/>
                <a:cs typeface="Arial MT"/>
              </a:rPr>
              <a:t> </a:t>
            </a:r>
            <a:r>
              <a:rPr b="0" spc="5" dirty="0">
                <a:latin typeface="Arial MT"/>
                <a:cs typeface="Arial MT"/>
              </a:rPr>
              <a:t>up</a:t>
            </a:r>
            <a:r>
              <a:rPr b="0" spc="25" dirty="0">
                <a:latin typeface="Arial MT"/>
                <a:cs typeface="Arial MT"/>
              </a:rPr>
              <a:t> </a:t>
            </a:r>
            <a:r>
              <a:rPr spc="10" dirty="0"/>
              <a:t>9%</a:t>
            </a:r>
            <a:r>
              <a:rPr spc="25" dirty="0"/>
              <a:t> </a:t>
            </a:r>
            <a:r>
              <a:rPr spc="-10" dirty="0"/>
              <a:t>YoY</a:t>
            </a:r>
            <a:r>
              <a:rPr b="0" spc="-10" dirty="0">
                <a:latin typeface="Arial MT"/>
                <a:cs typeface="Arial MT"/>
              </a:rPr>
              <a:t>,</a:t>
            </a:r>
            <a:r>
              <a:rPr b="0" spc="-5" dirty="0">
                <a:latin typeface="Arial MT"/>
                <a:cs typeface="Arial MT"/>
              </a:rPr>
              <a:t> driven</a:t>
            </a:r>
            <a:r>
              <a:rPr b="0" spc="-10" dirty="0">
                <a:latin typeface="Arial MT"/>
                <a:cs typeface="Arial MT"/>
              </a:rPr>
              <a:t> </a:t>
            </a:r>
            <a:r>
              <a:rPr b="0" spc="5" dirty="0">
                <a:latin typeface="Arial MT"/>
                <a:cs typeface="Arial MT"/>
              </a:rPr>
              <a:t>by </a:t>
            </a:r>
            <a:r>
              <a:rPr b="0" spc="-204" dirty="0">
                <a:latin typeface="Arial MT"/>
                <a:cs typeface="Arial MT"/>
              </a:rPr>
              <a:t> </a:t>
            </a:r>
            <a:r>
              <a:rPr b="0" spc="5" dirty="0">
                <a:latin typeface="Arial MT"/>
                <a:cs typeface="Arial MT"/>
              </a:rPr>
              <a:t>pricing </a:t>
            </a:r>
            <a:r>
              <a:rPr b="0" spc="-5" dirty="0">
                <a:latin typeface="Arial MT"/>
                <a:cs typeface="Arial MT"/>
              </a:rPr>
              <a:t>adjustments </a:t>
            </a:r>
            <a:r>
              <a:rPr b="0" spc="5" dirty="0">
                <a:latin typeface="Arial MT"/>
                <a:cs typeface="Arial MT"/>
              </a:rPr>
              <a:t>and strong </a:t>
            </a:r>
            <a:r>
              <a:rPr b="0" dirty="0">
                <a:latin typeface="Arial MT"/>
                <a:cs typeface="Arial MT"/>
              </a:rPr>
              <a:t>performance </a:t>
            </a:r>
            <a:r>
              <a:rPr b="0" spc="30" dirty="0">
                <a:latin typeface="Arial MT"/>
                <a:cs typeface="Arial MT"/>
              </a:rPr>
              <a:t>in </a:t>
            </a:r>
            <a:r>
              <a:rPr b="0" spc="-5" dirty="0">
                <a:latin typeface="Arial MT"/>
                <a:cs typeface="Arial MT"/>
              </a:rPr>
              <a:t>emerging </a:t>
            </a:r>
            <a:r>
              <a:rPr b="0" dirty="0">
                <a:latin typeface="Arial MT"/>
                <a:cs typeface="Arial MT"/>
              </a:rPr>
              <a:t> markets</a:t>
            </a:r>
            <a:r>
              <a:rPr b="0" spc="-40" dirty="0">
                <a:solidFill>
                  <a:srgbClr val="1C3678"/>
                </a:solidFill>
                <a:latin typeface="Arial MT"/>
                <a:cs typeface="Arial MT"/>
              </a:rPr>
              <a:t> </a:t>
            </a:r>
            <a:r>
              <a:rPr b="0" u="sng" dirty="0">
                <a:solidFill>
                  <a:srgbClr val="1C3678"/>
                </a:solidFill>
                <a:uFill>
                  <a:solidFill>
                    <a:srgbClr val="1C3678"/>
                  </a:solidFill>
                </a:uFill>
                <a:latin typeface="Arial MT"/>
                <a:cs typeface="Arial MT"/>
                <a:hlinkClick r:id="rId3"/>
              </a:rPr>
              <a:t>Coca-Cola</a:t>
            </a:r>
            <a:r>
              <a:rPr b="0" u="sng" spc="-10" dirty="0">
                <a:solidFill>
                  <a:srgbClr val="1C3678"/>
                </a:solidFill>
                <a:uFill>
                  <a:solidFill>
                    <a:srgbClr val="1C3678"/>
                  </a:solidFill>
                </a:uFill>
                <a:latin typeface="Arial MT"/>
                <a:cs typeface="Arial MT"/>
                <a:hlinkClick r:id="rId3"/>
              </a:rPr>
              <a:t> </a:t>
            </a:r>
            <a:r>
              <a:rPr b="0" u="sng" spc="5" dirty="0">
                <a:solidFill>
                  <a:srgbClr val="1C3678"/>
                </a:solidFill>
                <a:uFill>
                  <a:solidFill>
                    <a:srgbClr val="1C3678"/>
                  </a:solidFill>
                </a:uFill>
                <a:latin typeface="Arial MT"/>
                <a:cs typeface="Arial MT"/>
                <a:hlinkClick r:id="rId3"/>
              </a:rPr>
              <a:t>Company</a:t>
            </a:r>
          </a:p>
          <a:p>
            <a:pPr marL="12700">
              <a:lnSpc>
                <a:spcPts val="930"/>
              </a:lnSpc>
              <a:spcBef>
                <a:spcPts val="15"/>
              </a:spcBef>
            </a:pPr>
            <a:r>
              <a:rPr b="0" dirty="0">
                <a:solidFill>
                  <a:srgbClr val="1C3678"/>
                </a:solidFill>
                <a:latin typeface="Arial MT"/>
                <a:cs typeface="Arial MT"/>
                <a:hlinkClick r:id="rId4"/>
              </a:rPr>
              <a:t>tickergate</a:t>
            </a:r>
          </a:p>
          <a:p>
            <a:pPr marL="49530" indent="-37465">
              <a:lnSpc>
                <a:spcPts val="930"/>
              </a:lnSpc>
              <a:buSzPct val="87500"/>
              <a:buFont typeface="Arial MT"/>
              <a:buChar char="•"/>
              <a:tabLst>
                <a:tab pos="50165" algn="l"/>
              </a:tabLst>
            </a:pPr>
            <a:r>
              <a:rPr spc="-5" dirty="0"/>
              <a:t>Unit</a:t>
            </a:r>
            <a:r>
              <a:rPr spc="25" dirty="0"/>
              <a:t> </a:t>
            </a:r>
            <a:r>
              <a:rPr spc="-10" dirty="0"/>
              <a:t>Volume </a:t>
            </a:r>
            <a:r>
              <a:rPr spc="5" dirty="0"/>
              <a:t>Growth:</a:t>
            </a:r>
            <a:r>
              <a:rPr spc="-25" dirty="0"/>
              <a:t> </a:t>
            </a:r>
            <a:r>
              <a:rPr b="0" spc="15" dirty="0">
                <a:latin typeface="Arial MT"/>
                <a:cs typeface="Arial MT"/>
              </a:rPr>
              <a:t>Up</a:t>
            </a:r>
            <a:r>
              <a:rPr b="0" spc="-30" dirty="0">
                <a:latin typeface="Arial MT"/>
                <a:cs typeface="Arial MT"/>
              </a:rPr>
              <a:t> </a:t>
            </a:r>
            <a:r>
              <a:rPr spc="10" dirty="0"/>
              <a:t>2%</a:t>
            </a:r>
            <a:r>
              <a:rPr spc="15" dirty="0"/>
              <a:t> </a:t>
            </a:r>
            <a:r>
              <a:rPr spc="-5" dirty="0"/>
              <a:t>globally</a:t>
            </a:r>
            <a:r>
              <a:rPr b="0" spc="-5" dirty="0">
                <a:latin typeface="Arial MT"/>
                <a:cs typeface="Arial MT"/>
              </a:rPr>
              <a:t>, led </a:t>
            </a:r>
            <a:r>
              <a:rPr b="0" spc="5" dirty="0">
                <a:latin typeface="Arial MT"/>
                <a:cs typeface="Arial MT"/>
              </a:rPr>
              <a:t>by</a:t>
            </a:r>
            <a:r>
              <a:rPr b="0" spc="35" dirty="0">
                <a:latin typeface="Arial MT"/>
                <a:cs typeface="Arial MT"/>
              </a:rPr>
              <a:t> </a:t>
            </a:r>
            <a:r>
              <a:rPr b="0" spc="-5" dirty="0">
                <a:latin typeface="Arial MT"/>
                <a:cs typeface="Arial MT"/>
              </a:rPr>
              <a:t>mid-single-</a:t>
            </a:r>
          </a:p>
          <a:p>
            <a:pPr marL="12700">
              <a:lnSpc>
                <a:spcPct val="100000"/>
              </a:lnSpc>
              <a:spcBef>
                <a:spcPts val="20"/>
              </a:spcBef>
            </a:pPr>
            <a:r>
              <a:rPr b="0" spc="5" dirty="0">
                <a:latin typeface="Arial MT"/>
                <a:cs typeface="Arial MT"/>
              </a:rPr>
              <a:t>digit</a:t>
            </a:r>
            <a:r>
              <a:rPr b="0" spc="-5" dirty="0">
                <a:latin typeface="Arial MT"/>
                <a:cs typeface="Arial MT"/>
              </a:rPr>
              <a:t> </a:t>
            </a:r>
            <a:r>
              <a:rPr b="0" dirty="0">
                <a:latin typeface="Arial MT"/>
                <a:cs typeface="Arial MT"/>
              </a:rPr>
              <a:t>growth</a:t>
            </a:r>
            <a:r>
              <a:rPr b="0" spc="-5" dirty="0">
                <a:latin typeface="Arial MT"/>
                <a:cs typeface="Arial MT"/>
              </a:rPr>
              <a:t> </a:t>
            </a:r>
            <a:r>
              <a:rPr b="0" spc="-10" dirty="0">
                <a:latin typeface="Arial MT"/>
                <a:cs typeface="Arial MT"/>
              </a:rPr>
              <a:t>in</a:t>
            </a:r>
            <a:r>
              <a:rPr b="0" spc="-5" dirty="0">
                <a:latin typeface="Arial MT"/>
                <a:cs typeface="Arial MT"/>
              </a:rPr>
              <a:t> </a:t>
            </a:r>
            <a:r>
              <a:rPr b="0" dirty="0">
                <a:latin typeface="Arial MT"/>
                <a:cs typeface="Arial MT"/>
              </a:rPr>
              <a:t>developing</a:t>
            </a:r>
            <a:r>
              <a:rPr b="0" spc="-10" dirty="0">
                <a:latin typeface="Arial MT"/>
                <a:cs typeface="Arial MT"/>
              </a:rPr>
              <a:t> </a:t>
            </a:r>
            <a:r>
              <a:rPr b="0" spc="5" dirty="0">
                <a:latin typeface="Arial MT"/>
                <a:cs typeface="Arial MT"/>
              </a:rPr>
              <a:t>markets</a:t>
            </a:r>
            <a:r>
              <a:rPr b="0" spc="-35" dirty="0">
                <a:latin typeface="Arial MT"/>
                <a:cs typeface="Arial MT"/>
              </a:rPr>
              <a:t> </a:t>
            </a:r>
            <a:r>
              <a:rPr b="0" spc="5" dirty="0">
                <a:latin typeface="Arial MT"/>
                <a:cs typeface="Arial MT"/>
              </a:rPr>
              <a:t>(e.g.,</a:t>
            </a:r>
            <a:r>
              <a:rPr b="0" dirty="0">
                <a:latin typeface="Arial MT"/>
                <a:cs typeface="Arial MT"/>
              </a:rPr>
              <a:t> </a:t>
            </a:r>
            <a:r>
              <a:rPr b="0" spc="-5" dirty="0">
                <a:latin typeface="Arial MT"/>
                <a:cs typeface="Arial MT"/>
              </a:rPr>
              <a:t>India,</a:t>
            </a:r>
            <a:r>
              <a:rPr b="0" dirty="0">
                <a:latin typeface="Arial MT"/>
                <a:cs typeface="Arial MT"/>
              </a:rPr>
              <a:t> Brazil)</a:t>
            </a:r>
          </a:p>
        </p:txBody>
      </p:sp>
      <p:sp>
        <p:nvSpPr>
          <p:cNvPr id="6" name="object 6"/>
          <p:cNvSpPr txBox="1"/>
          <p:nvPr/>
        </p:nvSpPr>
        <p:spPr>
          <a:xfrm>
            <a:off x="4477003" y="1408747"/>
            <a:ext cx="4301490" cy="524510"/>
          </a:xfrm>
          <a:prstGeom prst="rect">
            <a:avLst/>
          </a:prstGeom>
        </p:spPr>
        <p:txBody>
          <a:bodyPr vert="horz" wrap="square" lIns="0" tIns="15875" rIns="0" bIns="0" rtlCol="0">
            <a:spAutoFit/>
          </a:bodyPr>
          <a:lstStyle/>
          <a:p>
            <a:pPr marL="12700">
              <a:lnSpc>
                <a:spcPct val="100000"/>
              </a:lnSpc>
              <a:spcBef>
                <a:spcPts val="125"/>
              </a:spcBef>
            </a:pPr>
            <a:r>
              <a:rPr sz="800" b="1" spc="5" dirty="0">
                <a:latin typeface="Arial"/>
                <a:cs typeface="Arial"/>
              </a:rPr>
              <a:t>5.</a:t>
            </a:r>
            <a:r>
              <a:rPr sz="800" b="1" spc="-40" dirty="0">
                <a:latin typeface="Arial"/>
                <a:cs typeface="Arial"/>
              </a:rPr>
              <a:t> </a:t>
            </a:r>
            <a:r>
              <a:rPr sz="800" b="1" dirty="0">
                <a:latin typeface="Arial"/>
                <a:cs typeface="Arial"/>
              </a:rPr>
              <a:t>Positioning</a:t>
            </a:r>
            <a:endParaRPr sz="800">
              <a:latin typeface="Arial"/>
              <a:cs typeface="Arial"/>
            </a:endParaRPr>
          </a:p>
          <a:p>
            <a:pPr marL="12700" marR="5080">
              <a:lnSpc>
                <a:spcPct val="101800"/>
              </a:lnSpc>
              <a:buSzPct val="87500"/>
              <a:buChar char="•"/>
              <a:tabLst>
                <a:tab pos="50165" algn="l"/>
              </a:tabLst>
            </a:pPr>
            <a:r>
              <a:rPr sz="800" dirty="0">
                <a:latin typeface="Arial MT"/>
                <a:cs typeface="Arial MT"/>
              </a:rPr>
              <a:t>Coca-Cola</a:t>
            </a:r>
            <a:r>
              <a:rPr sz="800" spc="-5" dirty="0">
                <a:latin typeface="Arial MT"/>
                <a:cs typeface="Arial MT"/>
              </a:rPr>
              <a:t> </a:t>
            </a:r>
            <a:r>
              <a:rPr sz="800" spc="-10" dirty="0">
                <a:latin typeface="Arial MT"/>
                <a:cs typeface="Arial MT"/>
              </a:rPr>
              <a:t>is</a:t>
            </a:r>
            <a:r>
              <a:rPr sz="800" spc="45" dirty="0">
                <a:latin typeface="Arial MT"/>
                <a:cs typeface="Arial MT"/>
              </a:rPr>
              <a:t> </a:t>
            </a:r>
            <a:r>
              <a:rPr sz="800" spc="-5" dirty="0">
                <a:latin typeface="Arial MT"/>
                <a:cs typeface="Arial MT"/>
              </a:rPr>
              <a:t>leveraging</a:t>
            </a:r>
            <a:r>
              <a:rPr sz="800" dirty="0">
                <a:latin typeface="Arial MT"/>
                <a:cs typeface="Arial MT"/>
              </a:rPr>
              <a:t> </a:t>
            </a:r>
            <a:r>
              <a:rPr sz="800" spc="5" dirty="0">
                <a:latin typeface="Arial MT"/>
                <a:cs typeface="Arial MT"/>
              </a:rPr>
              <a:t>technology</a:t>
            </a:r>
            <a:r>
              <a:rPr sz="800" spc="-35" dirty="0">
                <a:latin typeface="Arial MT"/>
                <a:cs typeface="Arial MT"/>
              </a:rPr>
              <a:t> </a:t>
            </a:r>
            <a:r>
              <a:rPr sz="800" spc="5" dirty="0">
                <a:latin typeface="Arial MT"/>
                <a:cs typeface="Arial MT"/>
              </a:rPr>
              <a:t>and</a:t>
            </a:r>
            <a:r>
              <a:rPr sz="800" dirty="0">
                <a:latin typeface="Arial MT"/>
                <a:cs typeface="Arial MT"/>
              </a:rPr>
              <a:t> packaging innovation</a:t>
            </a:r>
            <a:r>
              <a:rPr sz="800" spc="-5" dirty="0">
                <a:latin typeface="Arial MT"/>
                <a:cs typeface="Arial MT"/>
              </a:rPr>
              <a:t> </a:t>
            </a:r>
            <a:r>
              <a:rPr sz="800" spc="5" dirty="0">
                <a:latin typeface="Arial MT"/>
                <a:cs typeface="Arial MT"/>
              </a:rPr>
              <a:t>to</a:t>
            </a:r>
            <a:r>
              <a:rPr sz="800" dirty="0">
                <a:latin typeface="Arial MT"/>
                <a:cs typeface="Arial MT"/>
              </a:rPr>
              <a:t> </a:t>
            </a:r>
            <a:r>
              <a:rPr sz="800" spc="5" dirty="0">
                <a:latin typeface="Arial MT"/>
                <a:cs typeface="Arial MT"/>
              </a:rPr>
              <a:t>maintain</a:t>
            </a:r>
            <a:r>
              <a:rPr sz="800" dirty="0">
                <a:latin typeface="Arial MT"/>
                <a:cs typeface="Arial MT"/>
              </a:rPr>
              <a:t> </a:t>
            </a:r>
            <a:r>
              <a:rPr sz="800" spc="-5" dirty="0">
                <a:latin typeface="Arial MT"/>
                <a:cs typeface="Arial MT"/>
              </a:rPr>
              <a:t>affordability</a:t>
            </a:r>
            <a:r>
              <a:rPr sz="800" spc="45" dirty="0">
                <a:latin typeface="Arial MT"/>
                <a:cs typeface="Arial MT"/>
              </a:rPr>
              <a:t> </a:t>
            </a:r>
            <a:r>
              <a:rPr sz="800" spc="5" dirty="0">
                <a:latin typeface="Arial MT"/>
                <a:cs typeface="Arial MT"/>
              </a:rPr>
              <a:t>and </a:t>
            </a:r>
            <a:r>
              <a:rPr sz="800" spc="10" dirty="0">
                <a:latin typeface="Arial MT"/>
                <a:cs typeface="Arial MT"/>
              </a:rPr>
              <a:t> </a:t>
            </a:r>
            <a:r>
              <a:rPr sz="800" dirty="0">
                <a:latin typeface="Arial MT"/>
                <a:cs typeface="Arial MT"/>
              </a:rPr>
              <a:t>reach</a:t>
            </a:r>
            <a:r>
              <a:rPr sz="800" spc="-5" dirty="0">
                <a:latin typeface="Arial MT"/>
                <a:cs typeface="Arial MT"/>
              </a:rPr>
              <a:t> </a:t>
            </a:r>
            <a:r>
              <a:rPr sz="800" spc="5" dirty="0">
                <a:latin typeface="Arial MT"/>
                <a:cs typeface="Arial MT"/>
              </a:rPr>
              <a:t>new</a:t>
            </a:r>
            <a:r>
              <a:rPr sz="800" spc="10" dirty="0">
                <a:latin typeface="Arial MT"/>
                <a:cs typeface="Arial MT"/>
              </a:rPr>
              <a:t> </a:t>
            </a:r>
            <a:r>
              <a:rPr sz="800" spc="-5" dirty="0">
                <a:latin typeface="Arial MT"/>
                <a:cs typeface="Arial MT"/>
              </a:rPr>
              <a:t>markets,</a:t>
            </a:r>
            <a:r>
              <a:rPr sz="800" spc="5" dirty="0">
                <a:latin typeface="Arial MT"/>
                <a:cs typeface="Arial MT"/>
              </a:rPr>
              <a:t> </a:t>
            </a:r>
            <a:r>
              <a:rPr sz="800" spc="-5" dirty="0">
                <a:latin typeface="Arial MT"/>
                <a:cs typeface="Arial MT"/>
              </a:rPr>
              <a:t>especially</a:t>
            </a:r>
            <a:r>
              <a:rPr sz="800" spc="45" dirty="0">
                <a:latin typeface="Arial MT"/>
                <a:cs typeface="Arial MT"/>
              </a:rPr>
              <a:t> </a:t>
            </a:r>
            <a:r>
              <a:rPr sz="800" spc="-10" dirty="0">
                <a:latin typeface="Arial MT"/>
                <a:cs typeface="Arial MT"/>
              </a:rPr>
              <a:t>in</a:t>
            </a:r>
            <a:r>
              <a:rPr sz="800" spc="-5" dirty="0">
                <a:latin typeface="Arial MT"/>
                <a:cs typeface="Arial MT"/>
              </a:rPr>
              <a:t> </a:t>
            </a:r>
            <a:r>
              <a:rPr sz="800" dirty="0">
                <a:latin typeface="Arial MT"/>
                <a:cs typeface="Arial MT"/>
              </a:rPr>
              <a:t>Asia </a:t>
            </a:r>
            <a:r>
              <a:rPr sz="800" spc="5" dirty="0">
                <a:latin typeface="Arial MT"/>
                <a:cs typeface="Arial MT"/>
              </a:rPr>
              <a:t>and</a:t>
            </a:r>
            <a:r>
              <a:rPr sz="800" spc="-5" dirty="0">
                <a:latin typeface="Arial MT"/>
                <a:cs typeface="Arial MT"/>
              </a:rPr>
              <a:t> Latin America.</a:t>
            </a:r>
            <a:r>
              <a:rPr sz="800" spc="5" dirty="0">
                <a:latin typeface="Arial MT"/>
                <a:cs typeface="Arial MT"/>
              </a:rPr>
              <a:t> Its</a:t>
            </a:r>
            <a:r>
              <a:rPr sz="800" spc="45" dirty="0">
                <a:latin typeface="Arial MT"/>
                <a:cs typeface="Arial MT"/>
              </a:rPr>
              <a:t> </a:t>
            </a:r>
            <a:r>
              <a:rPr sz="800" spc="-5" dirty="0">
                <a:latin typeface="Arial MT"/>
                <a:cs typeface="Arial MT"/>
              </a:rPr>
              <a:t>premium offerings,</a:t>
            </a:r>
            <a:r>
              <a:rPr sz="800" spc="5" dirty="0">
                <a:latin typeface="Arial MT"/>
                <a:cs typeface="Arial MT"/>
              </a:rPr>
              <a:t> </a:t>
            </a:r>
            <a:r>
              <a:rPr sz="800" dirty="0">
                <a:latin typeface="Arial MT"/>
                <a:cs typeface="Arial MT"/>
              </a:rPr>
              <a:t>like</a:t>
            </a:r>
            <a:r>
              <a:rPr sz="800" spc="-5" dirty="0">
                <a:latin typeface="Arial MT"/>
                <a:cs typeface="Arial MT"/>
              </a:rPr>
              <a:t> </a:t>
            </a:r>
            <a:r>
              <a:rPr sz="800" dirty="0">
                <a:latin typeface="Arial MT"/>
                <a:cs typeface="Arial MT"/>
              </a:rPr>
              <a:t>Coke</a:t>
            </a:r>
            <a:r>
              <a:rPr sz="800" spc="-5" dirty="0">
                <a:latin typeface="Arial MT"/>
                <a:cs typeface="Arial MT"/>
              </a:rPr>
              <a:t> </a:t>
            </a:r>
            <a:r>
              <a:rPr sz="800" dirty="0">
                <a:latin typeface="Arial MT"/>
                <a:cs typeface="Arial MT"/>
              </a:rPr>
              <a:t>Zero </a:t>
            </a:r>
            <a:r>
              <a:rPr sz="800" spc="-204" dirty="0">
                <a:latin typeface="Arial MT"/>
                <a:cs typeface="Arial MT"/>
              </a:rPr>
              <a:t> </a:t>
            </a:r>
            <a:r>
              <a:rPr sz="800" spc="5" dirty="0">
                <a:latin typeface="Arial MT"/>
                <a:cs typeface="Arial MT"/>
              </a:rPr>
              <a:t>Sugar,</a:t>
            </a:r>
            <a:r>
              <a:rPr sz="800" spc="-5" dirty="0">
                <a:latin typeface="Arial MT"/>
                <a:cs typeface="Arial MT"/>
              </a:rPr>
              <a:t> </a:t>
            </a:r>
            <a:r>
              <a:rPr sz="800" spc="-10" dirty="0">
                <a:latin typeface="Arial MT"/>
                <a:cs typeface="Arial MT"/>
              </a:rPr>
              <a:t>are </a:t>
            </a:r>
            <a:r>
              <a:rPr sz="800" spc="5" dirty="0">
                <a:latin typeface="Arial MT"/>
                <a:cs typeface="Arial MT"/>
              </a:rPr>
              <a:t>seeing</a:t>
            </a:r>
            <a:r>
              <a:rPr sz="800" spc="-10" dirty="0">
                <a:latin typeface="Arial MT"/>
                <a:cs typeface="Arial MT"/>
              </a:rPr>
              <a:t> </a:t>
            </a:r>
            <a:r>
              <a:rPr sz="800" spc="-5" dirty="0">
                <a:latin typeface="Arial MT"/>
                <a:cs typeface="Arial MT"/>
              </a:rPr>
              <a:t>consistent growth, </a:t>
            </a:r>
            <a:r>
              <a:rPr sz="800" spc="5" dirty="0">
                <a:latin typeface="Arial MT"/>
                <a:cs typeface="Arial MT"/>
              </a:rPr>
              <a:t>up</a:t>
            </a:r>
            <a:r>
              <a:rPr sz="800" spc="40" dirty="0">
                <a:latin typeface="Arial MT"/>
                <a:cs typeface="Arial MT"/>
              </a:rPr>
              <a:t> </a:t>
            </a:r>
            <a:r>
              <a:rPr sz="800" b="1" spc="10" dirty="0">
                <a:latin typeface="Arial"/>
                <a:cs typeface="Arial"/>
              </a:rPr>
              <a:t>6%</a:t>
            </a:r>
            <a:r>
              <a:rPr sz="800" b="1" spc="20" dirty="0">
                <a:latin typeface="Arial"/>
                <a:cs typeface="Arial"/>
              </a:rPr>
              <a:t> </a:t>
            </a:r>
            <a:r>
              <a:rPr sz="800" b="1" spc="-5" dirty="0">
                <a:latin typeface="Arial"/>
                <a:cs typeface="Arial"/>
              </a:rPr>
              <a:t>YoY</a:t>
            </a:r>
            <a:r>
              <a:rPr sz="800" u="sng" spc="-5" dirty="0">
                <a:solidFill>
                  <a:srgbClr val="1C3678"/>
                </a:solidFill>
                <a:uFill>
                  <a:solidFill>
                    <a:srgbClr val="1C3678"/>
                  </a:solidFill>
                </a:uFill>
                <a:latin typeface="Arial MT"/>
                <a:cs typeface="Arial MT"/>
                <a:hlinkClick r:id="rId3"/>
              </a:rPr>
              <a:t>Coca-Cola</a:t>
            </a:r>
            <a:r>
              <a:rPr sz="800" u="sng" spc="-10" dirty="0">
                <a:solidFill>
                  <a:srgbClr val="1C3678"/>
                </a:solidFill>
                <a:uFill>
                  <a:solidFill>
                    <a:srgbClr val="1C3678"/>
                  </a:solidFill>
                </a:uFill>
                <a:latin typeface="Arial MT"/>
                <a:cs typeface="Arial MT"/>
                <a:hlinkClick r:id="rId3"/>
              </a:rPr>
              <a:t> </a:t>
            </a:r>
            <a:r>
              <a:rPr sz="800" u="sng" spc="5" dirty="0">
                <a:solidFill>
                  <a:srgbClr val="1C3678"/>
                </a:solidFill>
                <a:uFill>
                  <a:solidFill>
                    <a:srgbClr val="1C3678"/>
                  </a:solidFill>
                </a:uFill>
                <a:latin typeface="Arial MT"/>
                <a:cs typeface="Arial MT"/>
                <a:hlinkClick r:id="rId3"/>
              </a:rPr>
              <a:t>Company</a:t>
            </a:r>
            <a:endParaRPr sz="800">
              <a:latin typeface="Arial MT"/>
              <a:cs typeface="Arial MT"/>
            </a:endParaRPr>
          </a:p>
        </p:txBody>
      </p:sp>
      <p:pic>
        <p:nvPicPr>
          <p:cNvPr id="7" name="object 7"/>
          <p:cNvPicPr/>
          <p:nvPr/>
        </p:nvPicPr>
        <p:blipFill>
          <a:blip r:embed="rId5" cstate="print"/>
          <a:stretch>
            <a:fillRect/>
          </a:stretch>
        </p:blipFill>
        <p:spPr>
          <a:xfrm>
            <a:off x="3800475" y="2609850"/>
            <a:ext cx="5143500" cy="17240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194" y="513461"/>
            <a:ext cx="2318385" cy="426720"/>
          </a:xfrm>
          <a:prstGeom prst="rect">
            <a:avLst/>
          </a:prstGeom>
        </p:spPr>
        <p:txBody>
          <a:bodyPr vert="horz" wrap="square" lIns="0" tIns="16510" rIns="0" bIns="0" rtlCol="0">
            <a:spAutoFit/>
          </a:bodyPr>
          <a:lstStyle/>
          <a:p>
            <a:pPr marL="12700">
              <a:lnSpc>
                <a:spcPct val="100000"/>
              </a:lnSpc>
              <a:spcBef>
                <a:spcPts val="130"/>
              </a:spcBef>
            </a:pPr>
            <a:r>
              <a:rPr sz="2600" spc="80" dirty="0">
                <a:solidFill>
                  <a:srgbClr val="1A1A1A"/>
                </a:solidFill>
              </a:rPr>
              <a:t>Fundamentals</a:t>
            </a:r>
            <a:endParaRPr sz="2600"/>
          </a:p>
        </p:txBody>
      </p:sp>
      <p:pic>
        <p:nvPicPr>
          <p:cNvPr id="3" name="object 3"/>
          <p:cNvPicPr/>
          <p:nvPr/>
        </p:nvPicPr>
        <p:blipFill>
          <a:blip r:embed="rId2" cstate="print"/>
          <a:stretch>
            <a:fillRect/>
          </a:stretch>
        </p:blipFill>
        <p:spPr>
          <a:xfrm>
            <a:off x="8534400" y="0"/>
            <a:ext cx="542925" cy="542925"/>
          </a:xfrm>
          <a:prstGeom prst="rect">
            <a:avLst/>
          </a:prstGeom>
        </p:spPr>
      </p:pic>
      <p:pic>
        <p:nvPicPr>
          <p:cNvPr id="4" name="object 4"/>
          <p:cNvPicPr/>
          <p:nvPr/>
        </p:nvPicPr>
        <p:blipFill>
          <a:blip r:embed="rId3" cstate="print"/>
          <a:stretch>
            <a:fillRect/>
          </a:stretch>
        </p:blipFill>
        <p:spPr>
          <a:xfrm>
            <a:off x="3832874" y="627188"/>
            <a:ext cx="5235312" cy="4259500"/>
          </a:xfrm>
          <a:prstGeom prst="rect">
            <a:avLst/>
          </a:prstGeom>
        </p:spPr>
      </p:pic>
      <p:sp>
        <p:nvSpPr>
          <p:cNvPr id="5" name="object 5"/>
          <p:cNvSpPr txBox="1"/>
          <p:nvPr/>
        </p:nvSpPr>
        <p:spPr>
          <a:xfrm>
            <a:off x="167322" y="1273809"/>
            <a:ext cx="3497579" cy="3576954"/>
          </a:xfrm>
          <a:prstGeom prst="rect">
            <a:avLst/>
          </a:prstGeom>
        </p:spPr>
        <p:txBody>
          <a:bodyPr vert="horz" wrap="square" lIns="0" tIns="15875" rIns="0" bIns="0" rtlCol="0">
            <a:spAutoFit/>
          </a:bodyPr>
          <a:lstStyle/>
          <a:p>
            <a:pPr marL="12700">
              <a:lnSpc>
                <a:spcPct val="100000"/>
              </a:lnSpc>
              <a:spcBef>
                <a:spcPts val="125"/>
              </a:spcBef>
            </a:pPr>
            <a:r>
              <a:rPr sz="800" b="1" dirty="0">
                <a:latin typeface="Arial"/>
                <a:cs typeface="Arial"/>
              </a:rPr>
              <a:t>Revenue</a:t>
            </a:r>
            <a:r>
              <a:rPr sz="800" b="1" spc="-25" dirty="0">
                <a:latin typeface="Arial"/>
                <a:cs typeface="Arial"/>
              </a:rPr>
              <a:t> </a:t>
            </a:r>
            <a:r>
              <a:rPr sz="800" b="1" spc="-10" dirty="0">
                <a:latin typeface="Arial"/>
                <a:cs typeface="Arial"/>
              </a:rPr>
              <a:t>and</a:t>
            </a:r>
            <a:r>
              <a:rPr sz="800" b="1" spc="5" dirty="0">
                <a:latin typeface="Arial"/>
                <a:cs typeface="Arial"/>
              </a:rPr>
              <a:t> </a:t>
            </a:r>
            <a:r>
              <a:rPr sz="800" b="1" dirty="0">
                <a:latin typeface="Arial"/>
                <a:cs typeface="Arial"/>
              </a:rPr>
              <a:t>Earnings</a:t>
            </a:r>
            <a:endParaRPr sz="800">
              <a:latin typeface="Arial"/>
              <a:cs typeface="Arial"/>
            </a:endParaRPr>
          </a:p>
          <a:p>
            <a:pPr marL="12700" marR="5080">
              <a:lnSpc>
                <a:spcPts val="980"/>
              </a:lnSpc>
              <a:spcBef>
                <a:spcPts val="30"/>
              </a:spcBef>
              <a:buSzPct val="87500"/>
              <a:buChar char="•"/>
              <a:tabLst>
                <a:tab pos="50165" algn="l"/>
              </a:tabLst>
            </a:pPr>
            <a:r>
              <a:rPr sz="800" dirty="0">
                <a:latin typeface="Arial MT"/>
                <a:cs typeface="Arial MT"/>
              </a:rPr>
              <a:t>Revenue: </a:t>
            </a:r>
            <a:r>
              <a:rPr sz="800" b="1" spc="5" dirty="0">
                <a:latin typeface="Arial"/>
                <a:cs typeface="Arial"/>
              </a:rPr>
              <a:t>$11.85</a:t>
            </a:r>
            <a:r>
              <a:rPr sz="800" b="1" spc="-5" dirty="0">
                <a:latin typeface="Arial"/>
                <a:cs typeface="Arial"/>
              </a:rPr>
              <a:t> </a:t>
            </a:r>
            <a:r>
              <a:rPr sz="800" b="1" dirty="0">
                <a:latin typeface="Arial"/>
                <a:cs typeface="Arial"/>
              </a:rPr>
              <a:t>billion</a:t>
            </a:r>
            <a:r>
              <a:rPr sz="800" dirty="0">
                <a:latin typeface="Arial MT"/>
                <a:cs typeface="Arial MT"/>
              </a:rPr>
              <a:t>, </a:t>
            </a:r>
            <a:r>
              <a:rPr sz="800" spc="10" dirty="0">
                <a:latin typeface="Arial MT"/>
                <a:cs typeface="Arial MT"/>
              </a:rPr>
              <a:t>down</a:t>
            </a:r>
            <a:r>
              <a:rPr sz="800" spc="-30" dirty="0">
                <a:latin typeface="Arial MT"/>
                <a:cs typeface="Arial MT"/>
              </a:rPr>
              <a:t> </a:t>
            </a:r>
            <a:r>
              <a:rPr sz="800" b="1" spc="5" dirty="0">
                <a:latin typeface="Arial"/>
                <a:cs typeface="Arial"/>
              </a:rPr>
              <a:t>0.8%</a:t>
            </a:r>
            <a:r>
              <a:rPr sz="800" b="1" spc="20" dirty="0">
                <a:latin typeface="Arial"/>
                <a:cs typeface="Arial"/>
              </a:rPr>
              <a:t> </a:t>
            </a:r>
            <a:r>
              <a:rPr sz="800" b="1" spc="-10" dirty="0">
                <a:latin typeface="Arial"/>
                <a:cs typeface="Arial"/>
              </a:rPr>
              <a:t>YoY</a:t>
            </a:r>
            <a:r>
              <a:rPr sz="800" spc="-10" dirty="0">
                <a:latin typeface="Arial MT"/>
                <a:cs typeface="Arial MT"/>
              </a:rPr>
              <a:t>,</a:t>
            </a:r>
            <a:r>
              <a:rPr sz="800" dirty="0">
                <a:latin typeface="Arial MT"/>
                <a:cs typeface="Arial MT"/>
              </a:rPr>
              <a:t> </a:t>
            </a:r>
            <a:r>
              <a:rPr sz="800" spc="5" dirty="0">
                <a:latin typeface="Arial MT"/>
                <a:cs typeface="Arial MT"/>
              </a:rPr>
              <a:t>but</a:t>
            </a:r>
            <a:r>
              <a:rPr sz="800" spc="-5" dirty="0">
                <a:latin typeface="Arial MT"/>
                <a:cs typeface="Arial MT"/>
              </a:rPr>
              <a:t> </a:t>
            </a:r>
            <a:r>
              <a:rPr sz="800" spc="5" dirty="0">
                <a:latin typeface="Arial MT"/>
                <a:cs typeface="Arial MT"/>
              </a:rPr>
              <a:t>exceeds</a:t>
            </a:r>
            <a:r>
              <a:rPr sz="800" spc="-35" dirty="0">
                <a:latin typeface="Arial MT"/>
                <a:cs typeface="Arial MT"/>
              </a:rPr>
              <a:t> </a:t>
            </a:r>
            <a:r>
              <a:rPr sz="800" spc="5" dirty="0">
                <a:latin typeface="Arial MT"/>
                <a:cs typeface="Arial MT"/>
              </a:rPr>
              <a:t>estimates</a:t>
            </a:r>
            <a:r>
              <a:rPr sz="800" spc="-40" dirty="0">
                <a:latin typeface="Arial MT"/>
                <a:cs typeface="Arial MT"/>
              </a:rPr>
              <a:t> </a:t>
            </a:r>
            <a:r>
              <a:rPr sz="800" spc="5" dirty="0">
                <a:latin typeface="Arial MT"/>
                <a:cs typeface="Arial MT"/>
              </a:rPr>
              <a:t>of</a:t>
            </a:r>
            <a:r>
              <a:rPr sz="800" dirty="0">
                <a:latin typeface="Arial MT"/>
                <a:cs typeface="Arial MT"/>
              </a:rPr>
              <a:t> </a:t>
            </a:r>
            <a:r>
              <a:rPr sz="800" spc="5" dirty="0">
                <a:latin typeface="Arial MT"/>
                <a:cs typeface="Arial MT"/>
              </a:rPr>
              <a:t>$11.61 </a:t>
            </a:r>
            <a:r>
              <a:rPr sz="800" spc="-204" dirty="0">
                <a:latin typeface="Arial MT"/>
                <a:cs typeface="Arial MT"/>
              </a:rPr>
              <a:t> </a:t>
            </a:r>
            <a:r>
              <a:rPr sz="800" spc="-5" dirty="0">
                <a:latin typeface="Arial MT"/>
                <a:cs typeface="Arial MT"/>
              </a:rPr>
              <a:t>billion.</a:t>
            </a:r>
            <a:endParaRPr sz="800">
              <a:latin typeface="Arial MT"/>
              <a:cs typeface="Arial MT"/>
            </a:endParaRPr>
          </a:p>
          <a:p>
            <a:pPr marL="49530" indent="-37465">
              <a:lnSpc>
                <a:spcPts val="940"/>
              </a:lnSpc>
              <a:buSzPct val="87500"/>
              <a:buChar char="•"/>
              <a:tabLst>
                <a:tab pos="50165" algn="l"/>
              </a:tabLst>
            </a:pPr>
            <a:r>
              <a:rPr sz="800" spc="10" dirty="0">
                <a:latin typeface="Arial MT"/>
                <a:cs typeface="Arial MT"/>
              </a:rPr>
              <a:t>EPS:</a:t>
            </a:r>
            <a:r>
              <a:rPr sz="800" spc="-40" dirty="0">
                <a:latin typeface="Arial MT"/>
                <a:cs typeface="Arial MT"/>
              </a:rPr>
              <a:t> </a:t>
            </a:r>
            <a:r>
              <a:rPr sz="800" b="1" spc="5" dirty="0">
                <a:latin typeface="Arial"/>
                <a:cs typeface="Arial"/>
              </a:rPr>
              <a:t>$0.77</a:t>
            </a:r>
            <a:r>
              <a:rPr sz="800" spc="5" dirty="0">
                <a:latin typeface="Arial MT"/>
                <a:cs typeface="Arial MT"/>
              </a:rPr>
              <a:t>,</a:t>
            </a:r>
            <a:r>
              <a:rPr sz="800" dirty="0">
                <a:latin typeface="Arial MT"/>
                <a:cs typeface="Arial MT"/>
              </a:rPr>
              <a:t> </a:t>
            </a:r>
            <a:r>
              <a:rPr sz="800" spc="5" dirty="0">
                <a:latin typeface="Arial MT"/>
                <a:cs typeface="Arial MT"/>
              </a:rPr>
              <a:t>beats</a:t>
            </a:r>
            <a:r>
              <a:rPr sz="800" spc="-40" dirty="0">
                <a:latin typeface="Arial MT"/>
                <a:cs typeface="Arial MT"/>
              </a:rPr>
              <a:t> </a:t>
            </a:r>
            <a:r>
              <a:rPr sz="800" dirty="0">
                <a:latin typeface="Arial MT"/>
                <a:cs typeface="Arial MT"/>
              </a:rPr>
              <a:t>consensus</a:t>
            </a:r>
            <a:r>
              <a:rPr sz="800" spc="40" dirty="0">
                <a:latin typeface="Arial MT"/>
                <a:cs typeface="Arial MT"/>
              </a:rPr>
              <a:t> </a:t>
            </a:r>
            <a:r>
              <a:rPr sz="800" spc="5" dirty="0">
                <a:latin typeface="Arial MT"/>
                <a:cs typeface="Arial MT"/>
              </a:rPr>
              <a:t>of</a:t>
            </a:r>
            <a:r>
              <a:rPr sz="800" spc="-5" dirty="0">
                <a:latin typeface="Arial MT"/>
                <a:cs typeface="Arial MT"/>
              </a:rPr>
              <a:t> </a:t>
            </a:r>
            <a:r>
              <a:rPr sz="800" spc="5" dirty="0">
                <a:latin typeface="Arial MT"/>
                <a:cs typeface="Arial MT"/>
              </a:rPr>
              <a:t>$0.74,</a:t>
            </a:r>
            <a:r>
              <a:rPr sz="800" dirty="0">
                <a:latin typeface="Arial MT"/>
                <a:cs typeface="Arial MT"/>
              </a:rPr>
              <a:t> indicating</a:t>
            </a:r>
            <a:r>
              <a:rPr sz="800" spc="-10" dirty="0">
                <a:latin typeface="Arial MT"/>
                <a:cs typeface="Arial MT"/>
              </a:rPr>
              <a:t> </a:t>
            </a:r>
            <a:r>
              <a:rPr sz="800" spc="5" dirty="0">
                <a:latin typeface="Arial MT"/>
                <a:cs typeface="Arial MT"/>
              </a:rPr>
              <a:t>strong</a:t>
            </a:r>
            <a:r>
              <a:rPr sz="800" spc="-5" dirty="0">
                <a:latin typeface="Arial MT"/>
                <a:cs typeface="Arial MT"/>
              </a:rPr>
              <a:t> profitability.</a:t>
            </a:r>
            <a:endParaRPr sz="800">
              <a:latin typeface="Arial MT"/>
              <a:cs typeface="Arial MT"/>
            </a:endParaRPr>
          </a:p>
          <a:p>
            <a:pPr>
              <a:lnSpc>
                <a:spcPct val="100000"/>
              </a:lnSpc>
              <a:spcBef>
                <a:spcPts val="55"/>
              </a:spcBef>
              <a:buFont typeface="Arial MT"/>
              <a:buChar char="•"/>
            </a:pPr>
            <a:endParaRPr sz="750">
              <a:latin typeface="Arial MT"/>
              <a:cs typeface="Arial MT"/>
            </a:endParaRPr>
          </a:p>
          <a:p>
            <a:pPr marL="12700">
              <a:lnSpc>
                <a:spcPct val="100000"/>
              </a:lnSpc>
            </a:pPr>
            <a:r>
              <a:rPr sz="800" b="1" spc="-15" dirty="0">
                <a:latin typeface="Arial"/>
                <a:cs typeface="Arial"/>
              </a:rPr>
              <a:t>V</a:t>
            </a:r>
            <a:r>
              <a:rPr sz="800" b="1" spc="5" dirty="0">
                <a:latin typeface="Arial"/>
                <a:cs typeface="Arial"/>
              </a:rPr>
              <a:t>a</a:t>
            </a:r>
            <a:r>
              <a:rPr sz="800" b="1" dirty="0">
                <a:latin typeface="Arial"/>
                <a:cs typeface="Arial"/>
              </a:rPr>
              <a:t>l</a:t>
            </a:r>
            <a:r>
              <a:rPr sz="800" b="1" spc="30" dirty="0">
                <a:latin typeface="Arial"/>
                <a:cs typeface="Arial"/>
              </a:rPr>
              <a:t>u</a:t>
            </a:r>
            <a:r>
              <a:rPr sz="800" b="1" spc="5" dirty="0">
                <a:latin typeface="Arial"/>
                <a:cs typeface="Arial"/>
              </a:rPr>
              <a:t>a</a:t>
            </a:r>
            <a:r>
              <a:rPr sz="800" b="1" spc="-50" dirty="0">
                <a:latin typeface="Arial"/>
                <a:cs typeface="Arial"/>
              </a:rPr>
              <a:t>t</a:t>
            </a:r>
            <a:r>
              <a:rPr sz="800" b="1" dirty="0">
                <a:latin typeface="Arial"/>
                <a:cs typeface="Arial"/>
              </a:rPr>
              <a:t>i</a:t>
            </a:r>
            <a:r>
              <a:rPr sz="800" b="1" spc="30" dirty="0">
                <a:latin typeface="Arial"/>
                <a:cs typeface="Arial"/>
              </a:rPr>
              <a:t>o</a:t>
            </a:r>
            <a:r>
              <a:rPr sz="800" b="1" spc="15" dirty="0">
                <a:latin typeface="Arial"/>
                <a:cs typeface="Arial"/>
              </a:rPr>
              <a:t>n</a:t>
            </a:r>
            <a:r>
              <a:rPr sz="800" b="1" spc="-55" dirty="0">
                <a:latin typeface="Arial"/>
                <a:cs typeface="Arial"/>
              </a:rPr>
              <a:t> </a:t>
            </a:r>
            <a:r>
              <a:rPr sz="800" b="1" spc="5" dirty="0">
                <a:latin typeface="Arial"/>
                <a:cs typeface="Arial"/>
              </a:rPr>
              <a:t>Me</a:t>
            </a:r>
            <a:r>
              <a:rPr sz="800" b="1" spc="25" dirty="0">
                <a:latin typeface="Arial"/>
                <a:cs typeface="Arial"/>
              </a:rPr>
              <a:t>t</a:t>
            </a:r>
            <a:r>
              <a:rPr sz="800" b="1" spc="-15" dirty="0">
                <a:latin typeface="Arial"/>
                <a:cs typeface="Arial"/>
              </a:rPr>
              <a:t>r</a:t>
            </a:r>
            <a:r>
              <a:rPr sz="800" b="1" dirty="0">
                <a:latin typeface="Arial"/>
                <a:cs typeface="Arial"/>
              </a:rPr>
              <a:t>i</a:t>
            </a:r>
            <a:r>
              <a:rPr sz="800" b="1" spc="5" dirty="0">
                <a:latin typeface="Arial"/>
                <a:cs typeface="Arial"/>
              </a:rPr>
              <a:t>c</a:t>
            </a:r>
            <a:r>
              <a:rPr sz="800" b="1" spc="15" dirty="0">
                <a:latin typeface="Arial"/>
                <a:cs typeface="Arial"/>
              </a:rPr>
              <a:t>s</a:t>
            </a:r>
            <a:endParaRPr sz="800">
              <a:latin typeface="Arial"/>
              <a:cs typeface="Arial"/>
            </a:endParaRPr>
          </a:p>
          <a:p>
            <a:pPr marL="49530" indent="-37465">
              <a:lnSpc>
                <a:spcPct val="100000"/>
              </a:lnSpc>
              <a:spcBef>
                <a:spcPts val="15"/>
              </a:spcBef>
              <a:buSzPct val="87500"/>
              <a:buFont typeface="Arial MT"/>
              <a:buChar char="•"/>
              <a:tabLst>
                <a:tab pos="50165" algn="l"/>
              </a:tabLst>
            </a:pPr>
            <a:r>
              <a:rPr sz="800" b="1" dirty="0">
                <a:latin typeface="Arial"/>
                <a:cs typeface="Arial"/>
              </a:rPr>
              <a:t>Trailing</a:t>
            </a:r>
            <a:r>
              <a:rPr sz="800" b="1" spc="10" dirty="0">
                <a:latin typeface="Arial"/>
                <a:cs typeface="Arial"/>
              </a:rPr>
              <a:t> </a:t>
            </a:r>
            <a:r>
              <a:rPr sz="800" b="1" spc="-10" dirty="0">
                <a:latin typeface="Arial"/>
                <a:cs typeface="Arial"/>
              </a:rPr>
              <a:t>EPS:</a:t>
            </a:r>
            <a:r>
              <a:rPr sz="800" b="1" dirty="0">
                <a:latin typeface="Arial"/>
                <a:cs typeface="Arial"/>
              </a:rPr>
              <a:t> </a:t>
            </a:r>
            <a:r>
              <a:rPr sz="800" spc="5" dirty="0">
                <a:latin typeface="Arial MT"/>
                <a:cs typeface="Arial MT"/>
              </a:rPr>
              <a:t>$2.42,</a:t>
            </a:r>
            <a:r>
              <a:rPr sz="800" spc="-10" dirty="0">
                <a:latin typeface="Arial MT"/>
                <a:cs typeface="Arial MT"/>
              </a:rPr>
              <a:t> </a:t>
            </a:r>
            <a:r>
              <a:rPr sz="800" dirty="0">
                <a:latin typeface="Arial MT"/>
                <a:cs typeface="Arial MT"/>
              </a:rPr>
              <a:t>demonstrating</a:t>
            </a:r>
            <a:r>
              <a:rPr sz="800" spc="-15" dirty="0">
                <a:latin typeface="Arial MT"/>
                <a:cs typeface="Arial MT"/>
              </a:rPr>
              <a:t> </a:t>
            </a:r>
            <a:r>
              <a:rPr sz="800" dirty="0">
                <a:latin typeface="Arial MT"/>
                <a:cs typeface="Arial MT"/>
              </a:rPr>
              <a:t>steady</a:t>
            </a:r>
            <a:r>
              <a:rPr sz="800" spc="30" dirty="0">
                <a:latin typeface="Arial MT"/>
                <a:cs typeface="Arial MT"/>
              </a:rPr>
              <a:t> </a:t>
            </a:r>
            <a:r>
              <a:rPr sz="800" dirty="0">
                <a:latin typeface="Arial MT"/>
                <a:cs typeface="Arial MT"/>
              </a:rPr>
              <a:t>earnings.</a:t>
            </a:r>
            <a:endParaRPr sz="800">
              <a:latin typeface="Arial MT"/>
              <a:cs typeface="Arial MT"/>
            </a:endParaRPr>
          </a:p>
          <a:p>
            <a:pPr marL="49530" indent="-37465">
              <a:lnSpc>
                <a:spcPct val="100000"/>
              </a:lnSpc>
              <a:spcBef>
                <a:spcPts val="20"/>
              </a:spcBef>
              <a:buSzPct val="87500"/>
              <a:buFont typeface="Arial MT"/>
              <a:buChar char="•"/>
              <a:tabLst>
                <a:tab pos="50165" algn="l"/>
              </a:tabLst>
            </a:pPr>
            <a:r>
              <a:rPr sz="800" b="1" dirty="0">
                <a:latin typeface="Arial"/>
                <a:cs typeface="Arial"/>
              </a:rPr>
              <a:t>P/E</a:t>
            </a:r>
            <a:r>
              <a:rPr sz="800" b="1" spc="-20" dirty="0">
                <a:latin typeface="Arial"/>
                <a:cs typeface="Arial"/>
              </a:rPr>
              <a:t> </a:t>
            </a:r>
            <a:r>
              <a:rPr sz="800" b="1" dirty="0">
                <a:latin typeface="Arial"/>
                <a:cs typeface="Arial"/>
              </a:rPr>
              <a:t>Ratio:</a:t>
            </a:r>
            <a:r>
              <a:rPr sz="800" b="1" spc="10" dirty="0">
                <a:latin typeface="Arial"/>
                <a:cs typeface="Arial"/>
              </a:rPr>
              <a:t> </a:t>
            </a:r>
            <a:r>
              <a:rPr sz="800" dirty="0">
                <a:latin typeface="Arial MT"/>
                <a:cs typeface="Arial MT"/>
              </a:rPr>
              <a:t>26.69,</a:t>
            </a:r>
            <a:r>
              <a:rPr sz="800" spc="5" dirty="0">
                <a:latin typeface="Arial MT"/>
                <a:cs typeface="Arial MT"/>
              </a:rPr>
              <a:t> </a:t>
            </a:r>
            <a:r>
              <a:rPr sz="800" dirty="0">
                <a:latin typeface="Arial MT"/>
                <a:cs typeface="Arial MT"/>
              </a:rPr>
              <a:t>reflecting </a:t>
            </a:r>
            <a:r>
              <a:rPr sz="800" spc="10" dirty="0">
                <a:latin typeface="Arial MT"/>
                <a:cs typeface="Arial MT"/>
              </a:rPr>
              <a:t>a</a:t>
            </a:r>
            <a:r>
              <a:rPr sz="800" dirty="0">
                <a:latin typeface="Arial MT"/>
                <a:cs typeface="Arial MT"/>
              </a:rPr>
              <a:t> </a:t>
            </a:r>
            <a:r>
              <a:rPr sz="800" spc="-5" dirty="0">
                <a:latin typeface="Arial MT"/>
                <a:cs typeface="Arial MT"/>
              </a:rPr>
              <a:t>moderate</a:t>
            </a:r>
            <a:r>
              <a:rPr sz="800" dirty="0">
                <a:latin typeface="Arial MT"/>
                <a:cs typeface="Arial MT"/>
              </a:rPr>
              <a:t> valuation for</a:t>
            </a:r>
            <a:r>
              <a:rPr sz="800" spc="-40" dirty="0">
                <a:latin typeface="Arial MT"/>
                <a:cs typeface="Arial MT"/>
              </a:rPr>
              <a:t> </a:t>
            </a:r>
            <a:r>
              <a:rPr sz="800" spc="10" dirty="0">
                <a:latin typeface="Arial MT"/>
                <a:cs typeface="Arial MT"/>
              </a:rPr>
              <a:t>a</a:t>
            </a:r>
            <a:r>
              <a:rPr sz="800" dirty="0">
                <a:latin typeface="Arial MT"/>
                <a:cs typeface="Arial MT"/>
              </a:rPr>
              <a:t> </a:t>
            </a:r>
            <a:r>
              <a:rPr sz="800" spc="5" dirty="0">
                <a:latin typeface="Arial MT"/>
                <a:cs typeface="Arial MT"/>
              </a:rPr>
              <a:t>blue-chip</a:t>
            </a:r>
            <a:r>
              <a:rPr sz="800" dirty="0">
                <a:latin typeface="Arial MT"/>
                <a:cs typeface="Arial MT"/>
              </a:rPr>
              <a:t> stock.</a:t>
            </a:r>
            <a:endParaRPr sz="800">
              <a:latin typeface="Arial MT"/>
              <a:cs typeface="Arial MT"/>
            </a:endParaRPr>
          </a:p>
          <a:p>
            <a:pPr>
              <a:lnSpc>
                <a:spcPct val="100000"/>
              </a:lnSpc>
              <a:spcBef>
                <a:spcPts val="15"/>
              </a:spcBef>
              <a:buFont typeface="Arial MT"/>
              <a:buChar char="•"/>
            </a:pPr>
            <a:endParaRPr sz="850">
              <a:latin typeface="Arial MT"/>
              <a:cs typeface="Arial MT"/>
            </a:endParaRPr>
          </a:p>
          <a:p>
            <a:pPr marL="12700">
              <a:lnSpc>
                <a:spcPts val="930"/>
              </a:lnSpc>
            </a:pPr>
            <a:r>
              <a:rPr sz="800" b="1" spc="5" dirty="0">
                <a:latin typeface="Arial"/>
                <a:cs typeface="Arial"/>
              </a:rPr>
              <a:t>Financial</a:t>
            </a:r>
            <a:r>
              <a:rPr sz="800" b="1" spc="-45" dirty="0">
                <a:latin typeface="Arial"/>
                <a:cs typeface="Arial"/>
              </a:rPr>
              <a:t> </a:t>
            </a:r>
            <a:r>
              <a:rPr sz="800" b="1" spc="-10" dirty="0">
                <a:latin typeface="Arial"/>
                <a:cs typeface="Arial"/>
              </a:rPr>
              <a:t>Ratios</a:t>
            </a:r>
            <a:endParaRPr sz="800">
              <a:latin typeface="Arial"/>
              <a:cs typeface="Arial"/>
            </a:endParaRPr>
          </a:p>
          <a:p>
            <a:pPr marL="49530" indent="-37465">
              <a:lnSpc>
                <a:spcPts val="930"/>
              </a:lnSpc>
              <a:buSzPct val="87500"/>
              <a:buFont typeface="Arial MT"/>
              <a:buChar char="•"/>
              <a:tabLst>
                <a:tab pos="50165" algn="l"/>
              </a:tabLst>
            </a:pPr>
            <a:r>
              <a:rPr sz="800" b="1" dirty="0">
                <a:latin typeface="Arial"/>
                <a:cs typeface="Arial"/>
              </a:rPr>
              <a:t>Debt-to-Equity</a:t>
            </a:r>
            <a:r>
              <a:rPr sz="800" b="1" spc="-10" dirty="0">
                <a:latin typeface="Arial"/>
                <a:cs typeface="Arial"/>
              </a:rPr>
              <a:t> Ratio:</a:t>
            </a:r>
            <a:r>
              <a:rPr sz="800" b="1" spc="5" dirty="0">
                <a:latin typeface="Arial"/>
                <a:cs typeface="Arial"/>
              </a:rPr>
              <a:t> </a:t>
            </a:r>
            <a:r>
              <a:rPr sz="800" dirty="0">
                <a:latin typeface="Arial MT"/>
                <a:cs typeface="Arial MT"/>
              </a:rPr>
              <a:t>~1.85, </a:t>
            </a:r>
            <a:r>
              <a:rPr sz="800" spc="5" dirty="0">
                <a:latin typeface="Arial MT"/>
                <a:cs typeface="Arial MT"/>
              </a:rPr>
              <a:t>showing</a:t>
            </a:r>
            <a:r>
              <a:rPr sz="800" dirty="0">
                <a:latin typeface="Arial MT"/>
                <a:cs typeface="Arial MT"/>
              </a:rPr>
              <a:t> manageable leverage </a:t>
            </a:r>
            <a:r>
              <a:rPr sz="800" spc="-5" dirty="0">
                <a:latin typeface="Arial MT"/>
                <a:cs typeface="Arial MT"/>
              </a:rPr>
              <a:t>levels.</a:t>
            </a:r>
            <a:endParaRPr sz="800">
              <a:latin typeface="Arial MT"/>
              <a:cs typeface="Arial MT"/>
            </a:endParaRPr>
          </a:p>
          <a:p>
            <a:pPr marL="49530" indent="-37465">
              <a:lnSpc>
                <a:spcPct val="100000"/>
              </a:lnSpc>
              <a:spcBef>
                <a:spcPts val="15"/>
              </a:spcBef>
              <a:buSzPct val="87500"/>
              <a:buFont typeface="Arial MT"/>
              <a:buChar char="•"/>
              <a:tabLst>
                <a:tab pos="50165" algn="l"/>
              </a:tabLst>
            </a:pPr>
            <a:r>
              <a:rPr sz="800" b="1" dirty="0">
                <a:latin typeface="Arial"/>
                <a:cs typeface="Arial"/>
              </a:rPr>
              <a:t>Return</a:t>
            </a:r>
            <a:r>
              <a:rPr sz="800" b="1" spc="-50" dirty="0">
                <a:latin typeface="Arial"/>
                <a:cs typeface="Arial"/>
              </a:rPr>
              <a:t> </a:t>
            </a:r>
            <a:r>
              <a:rPr sz="800" b="1" spc="20" dirty="0">
                <a:latin typeface="Arial"/>
                <a:cs typeface="Arial"/>
              </a:rPr>
              <a:t>on</a:t>
            </a:r>
            <a:r>
              <a:rPr sz="800" b="1" spc="-50" dirty="0">
                <a:latin typeface="Arial"/>
                <a:cs typeface="Arial"/>
              </a:rPr>
              <a:t> </a:t>
            </a:r>
            <a:r>
              <a:rPr sz="800" b="1" dirty="0">
                <a:latin typeface="Arial"/>
                <a:cs typeface="Arial"/>
              </a:rPr>
              <a:t>Equity </a:t>
            </a:r>
            <a:r>
              <a:rPr sz="800" b="1" spc="-5" dirty="0">
                <a:latin typeface="Arial"/>
                <a:cs typeface="Arial"/>
              </a:rPr>
              <a:t>(ROE):</a:t>
            </a:r>
            <a:r>
              <a:rPr sz="800" b="1" spc="25" dirty="0">
                <a:latin typeface="Arial"/>
                <a:cs typeface="Arial"/>
              </a:rPr>
              <a:t> </a:t>
            </a:r>
            <a:r>
              <a:rPr sz="800" spc="5" dirty="0">
                <a:latin typeface="Arial MT"/>
                <a:cs typeface="Arial MT"/>
              </a:rPr>
              <a:t>~40.91%, </a:t>
            </a:r>
            <a:r>
              <a:rPr sz="800" spc="-5" dirty="0">
                <a:latin typeface="Arial MT"/>
                <a:cs typeface="Arial MT"/>
              </a:rPr>
              <a:t>highlighting excellent</a:t>
            </a:r>
            <a:r>
              <a:rPr sz="800" spc="5" dirty="0">
                <a:latin typeface="Arial MT"/>
                <a:cs typeface="Arial MT"/>
              </a:rPr>
              <a:t> shareholder</a:t>
            </a:r>
            <a:endParaRPr sz="800">
              <a:latin typeface="Arial MT"/>
              <a:cs typeface="Arial MT"/>
            </a:endParaRPr>
          </a:p>
          <a:p>
            <a:pPr marL="12700">
              <a:lnSpc>
                <a:spcPct val="100000"/>
              </a:lnSpc>
              <a:spcBef>
                <a:spcPts val="15"/>
              </a:spcBef>
            </a:pPr>
            <a:r>
              <a:rPr sz="800" spc="-5" dirty="0">
                <a:latin typeface="Arial MT"/>
                <a:cs typeface="Arial MT"/>
              </a:rPr>
              <a:t>returns.</a:t>
            </a:r>
            <a:endParaRPr sz="800">
              <a:latin typeface="Arial MT"/>
              <a:cs typeface="Arial MT"/>
            </a:endParaRPr>
          </a:p>
          <a:p>
            <a:pPr marL="49530" indent="-37465">
              <a:lnSpc>
                <a:spcPct val="100000"/>
              </a:lnSpc>
              <a:spcBef>
                <a:spcPts val="20"/>
              </a:spcBef>
              <a:buSzPct val="87500"/>
              <a:buFont typeface="Arial MT"/>
              <a:buChar char="•"/>
              <a:tabLst>
                <a:tab pos="50165" algn="l"/>
              </a:tabLst>
            </a:pPr>
            <a:r>
              <a:rPr sz="800" b="1" spc="5" dirty="0">
                <a:latin typeface="Arial"/>
                <a:cs typeface="Arial"/>
              </a:rPr>
              <a:t>Dividend</a:t>
            </a:r>
            <a:r>
              <a:rPr sz="800" b="1" spc="-55" dirty="0">
                <a:latin typeface="Arial"/>
                <a:cs typeface="Arial"/>
              </a:rPr>
              <a:t> </a:t>
            </a:r>
            <a:r>
              <a:rPr sz="800" b="1" spc="5" dirty="0">
                <a:latin typeface="Arial"/>
                <a:cs typeface="Arial"/>
              </a:rPr>
              <a:t>Yield:</a:t>
            </a:r>
            <a:r>
              <a:rPr sz="800" b="1" spc="-15" dirty="0">
                <a:latin typeface="Arial"/>
                <a:cs typeface="Arial"/>
              </a:rPr>
              <a:t> </a:t>
            </a:r>
            <a:r>
              <a:rPr sz="800" spc="5" dirty="0">
                <a:latin typeface="Arial MT"/>
                <a:cs typeface="Arial MT"/>
              </a:rPr>
              <a:t>~3.1%,</a:t>
            </a:r>
            <a:r>
              <a:rPr sz="800" spc="-5" dirty="0">
                <a:latin typeface="Arial MT"/>
                <a:cs typeface="Arial MT"/>
              </a:rPr>
              <a:t> making </a:t>
            </a:r>
            <a:r>
              <a:rPr sz="800" spc="25" dirty="0">
                <a:latin typeface="Arial MT"/>
                <a:cs typeface="Arial MT"/>
              </a:rPr>
              <a:t>it</a:t>
            </a:r>
            <a:r>
              <a:rPr sz="800" spc="-5" dirty="0">
                <a:latin typeface="Arial MT"/>
                <a:cs typeface="Arial MT"/>
              </a:rPr>
              <a:t> attractive</a:t>
            </a:r>
            <a:r>
              <a:rPr sz="800" spc="-10" dirty="0">
                <a:latin typeface="Arial MT"/>
                <a:cs typeface="Arial MT"/>
              </a:rPr>
              <a:t> </a:t>
            </a:r>
            <a:r>
              <a:rPr sz="800" spc="5" dirty="0">
                <a:latin typeface="Arial MT"/>
                <a:cs typeface="Arial MT"/>
              </a:rPr>
              <a:t>for</a:t>
            </a:r>
            <a:r>
              <a:rPr sz="800" spc="30" dirty="0">
                <a:latin typeface="Arial MT"/>
                <a:cs typeface="Arial MT"/>
              </a:rPr>
              <a:t> </a:t>
            </a:r>
            <a:r>
              <a:rPr sz="800" dirty="0">
                <a:latin typeface="Arial MT"/>
                <a:cs typeface="Arial MT"/>
              </a:rPr>
              <a:t>income-focused</a:t>
            </a:r>
            <a:r>
              <a:rPr sz="800" spc="-10" dirty="0">
                <a:latin typeface="Arial MT"/>
                <a:cs typeface="Arial MT"/>
              </a:rPr>
              <a:t> </a:t>
            </a:r>
            <a:r>
              <a:rPr sz="800" dirty="0">
                <a:latin typeface="Arial MT"/>
                <a:cs typeface="Arial MT"/>
              </a:rPr>
              <a:t>investors.</a:t>
            </a:r>
            <a:endParaRPr sz="800">
              <a:latin typeface="Arial MT"/>
              <a:cs typeface="Arial MT"/>
            </a:endParaRPr>
          </a:p>
          <a:p>
            <a:pPr>
              <a:lnSpc>
                <a:spcPct val="100000"/>
              </a:lnSpc>
              <a:spcBef>
                <a:spcPts val="55"/>
              </a:spcBef>
              <a:buFont typeface="Arial MT"/>
              <a:buChar char="•"/>
            </a:pPr>
            <a:endParaRPr sz="750">
              <a:latin typeface="Arial MT"/>
              <a:cs typeface="Arial MT"/>
            </a:endParaRPr>
          </a:p>
          <a:p>
            <a:pPr marL="12700">
              <a:lnSpc>
                <a:spcPct val="100000"/>
              </a:lnSpc>
            </a:pPr>
            <a:r>
              <a:rPr sz="800" b="1" spc="-5" dirty="0">
                <a:latin typeface="Arial"/>
                <a:cs typeface="Arial"/>
              </a:rPr>
              <a:t>Debt</a:t>
            </a:r>
            <a:r>
              <a:rPr sz="800" b="1" spc="-10" dirty="0">
                <a:latin typeface="Arial"/>
                <a:cs typeface="Arial"/>
              </a:rPr>
              <a:t> </a:t>
            </a:r>
            <a:r>
              <a:rPr sz="800" b="1" dirty="0">
                <a:latin typeface="Arial"/>
                <a:cs typeface="Arial"/>
              </a:rPr>
              <a:t>Management</a:t>
            </a:r>
            <a:endParaRPr sz="800">
              <a:latin typeface="Arial"/>
              <a:cs typeface="Arial"/>
            </a:endParaRPr>
          </a:p>
          <a:p>
            <a:pPr marL="49530" indent="-37465">
              <a:lnSpc>
                <a:spcPct val="100000"/>
              </a:lnSpc>
              <a:spcBef>
                <a:spcPts val="15"/>
              </a:spcBef>
              <a:buSzPct val="87500"/>
              <a:buFont typeface="Arial MT"/>
              <a:buChar char="•"/>
              <a:tabLst>
                <a:tab pos="50165" algn="l"/>
              </a:tabLst>
            </a:pPr>
            <a:r>
              <a:rPr sz="800" b="1" spc="5" dirty="0">
                <a:latin typeface="Arial"/>
                <a:cs typeface="Arial"/>
              </a:rPr>
              <a:t>Free</a:t>
            </a:r>
            <a:r>
              <a:rPr sz="800" b="1" spc="-10" dirty="0">
                <a:latin typeface="Arial"/>
                <a:cs typeface="Arial"/>
              </a:rPr>
              <a:t> Cash</a:t>
            </a:r>
            <a:r>
              <a:rPr sz="800" b="1" spc="20" dirty="0">
                <a:latin typeface="Arial"/>
                <a:cs typeface="Arial"/>
              </a:rPr>
              <a:t> </a:t>
            </a:r>
            <a:r>
              <a:rPr sz="800" b="1" spc="-5" dirty="0">
                <a:latin typeface="Arial"/>
                <a:cs typeface="Arial"/>
              </a:rPr>
              <a:t>Flow:</a:t>
            </a:r>
            <a:r>
              <a:rPr sz="800" b="1" spc="15" dirty="0">
                <a:latin typeface="Arial"/>
                <a:cs typeface="Arial"/>
              </a:rPr>
              <a:t> </a:t>
            </a:r>
            <a:r>
              <a:rPr sz="800" spc="5" dirty="0">
                <a:latin typeface="Arial MT"/>
                <a:cs typeface="Arial MT"/>
              </a:rPr>
              <a:t>$9.2</a:t>
            </a:r>
            <a:r>
              <a:rPr sz="800" spc="-10" dirty="0">
                <a:latin typeface="Arial MT"/>
                <a:cs typeface="Arial MT"/>
              </a:rPr>
              <a:t> </a:t>
            </a:r>
            <a:r>
              <a:rPr sz="800" spc="-5" dirty="0">
                <a:latin typeface="Arial MT"/>
                <a:cs typeface="Arial MT"/>
              </a:rPr>
              <a:t>billion</a:t>
            </a:r>
            <a:r>
              <a:rPr sz="800" spc="-10" dirty="0">
                <a:latin typeface="Arial MT"/>
                <a:cs typeface="Arial MT"/>
              </a:rPr>
              <a:t> </a:t>
            </a:r>
            <a:r>
              <a:rPr sz="800" spc="5" dirty="0">
                <a:latin typeface="Arial MT"/>
                <a:cs typeface="Arial MT"/>
              </a:rPr>
              <a:t>expected</a:t>
            </a:r>
            <a:r>
              <a:rPr sz="800" spc="-10" dirty="0">
                <a:latin typeface="Arial MT"/>
                <a:cs typeface="Arial MT"/>
              </a:rPr>
              <a:t> in</a:t>
            </a:r>
            <a:r>
              <a:rPr sz="800" spc="-5" dirty="0">
                <a:latin typeface="Arial MT"/>
                <a:cs typeface="Arial MT"/>
              </a:rPr>
              <a:t> </a:t>
            </a:r>
            <a:r>
              <a:rPr sz="800" spc="5" dirty="0">
                <a:latin typeface="Arial MT"/>
                <a:cs typeface="Arial MT"/>
              </a:rPr>
              <a:t>2024,</a:t>
            </a:r>
            <a:r>
              <a:rPr sz="800" spc="-5" dirty="0">
                <a:latin typeface="Arial MT"/>
                <a:cs typeface="Arial MT"/>
              </a:rPr>
              <a:t> </a:t>
            </a:r>
            <a:r>
              <a:rPr sz="800" spc="5" dirty="0">
                <a:latin typeface="Arial MT"/>
                <a:cs typeface="Arial MT"/>
              </a:rPr>
              <a:t>supported</a:t>
            </a:r>
            <a:r>
              <a:rPr sz="800" spc="-10" dirty="0">
                <a:latin typeface="Arial MT"/>
                <a:cs typeface="Arial MT"/>
              </a:rPr>
              <a:t> </a:t>
            </a:r>
            <a:r>
              <a:rPr sz="800" spc="5" dirty="0">
                <a:latin typeface="Arial MT"/>
                <a:cs typeface="Arial MT"/>
              </a:rPr>
              <a:t>by</a:t>
            </a:r>
            <a:r>
              <a:rPr sz="800" spc="40" dirty="0">
                <a:latin typeface="Arial MT"/>
                <a:cs typeface="Arial MT"/>
              </a:rPr>
              <a:t> </a:t>
            </a:r>
            <a:r>
              <a:rPr sz="800" dirty="0">
                <a:latin typeface="Arial MT"/>
                <a:cs typeface="Arial MT"/>
              </a:rPr>
              <a:t>disciplined</a:t>
            </a:r>
            <a:endParaRPr sz="800">
              <a:latin typeface="Arial MT"/>
              <a:cs typeface="Arial MT"/>
            </a:endParaRPr>
          </a:p>
          <a:p>
            <a:pPr marL="12700">
              <a:lnSpc>
                <a:spcPct val="100000"/>
              </a:lnSpc>
              <a:spcBef>
                <a:spcPts val="20"/>
              </a:spcBef>
            </a:pPr>
            <a:r>
              <a:rPr sz="800" spc="5" dirty="0">
                <a:latin typeface="Arial MT"/>
                <a:cs typeface="Arial MT"/>
              </a:rPr>
              <a:t>capital</a:t>
            </a:r>
            <a:r>
              <a:rPr sz="800" spc="-45" dirty="0">
                <a:latin typeface="Arial MT"/>
                <a:cs typeface="Arial MT"/>
              </a:rPr>
              <a:t> </a:t>
            </a:r>
            <a:r>
              <a:rPr sz="800" dirty="0">
                <a:latin typeface="Arial MT"/>
                <a:cs typeface="Arial MT"/>
              </a:rPr>
              <a:t>expenditures</a:t>
            </a:r>
            <a:r>
              <a:rPr sz="800" spc="25" dirty="0">
                <a:latin typeface="Arial MT"/>
                <a:cs typeface="Arial MT"/>
              </a:rPr>
              <a:t> </a:t>
            </a:r>
            <a:r>
              <a:rPr sz="800" spc="5" dirty="0">
                <a:latin typeface="Arial MT"/>
                <a:cs typeface="Arial MT"/>
              </a:rPr>
              <a:t>of</a:t>
            </a:r>
            <a:r>
              <a:rPr sz="800" spc="-20" dirty="0">
                <a:latin typeface="Arial MT"/>
                <a:cs typeface="Arial MT"/>
              </a:rPr>
              <a:t> </a:t>
            </a:r>
            <a:r>
              <a:rPr sz="800" spc="5" dirty="0">
                <a:latin typeface="Arial MT"/>
                <a:cs typeface="Arial MT"/>
              </a:rPr>
              <a:t>$2.2</a:t>
            </a:r>
            <a:r>
              <a:rPr sz="800" spc="-20" dirty="0">
                <a:latin typeface="Arial MT"/>
                <a:cs typeface="Arial MT"/>
              </a:rPr>
              <a:t> </a:t>
            </a:r>
            <a:r>
              <a:rPr sz="800" spc="-5" dirty="0">
                <a:latin typeface="Arial MT"/>
                <a:cs typeface="Arial MT"/>
              </a:rPr>
              <a:t>billion.</a:t>
            </a:r>
            <a:endParaRPr sz="800">
              <a:latin typeface="Arial MT"/>
              <a:cs typeface="Arial MT"/>
            </a:endParaRPr>
          </a:p>
          <a:p>
            <a:pPr>
              <a:lnSpc>
                <a:spcPct val="100000"/>
              </a:lnSpc>
              <a:spcBef>
                <a:spcPts val="15"/>
              </a:spcBef>
            </a:pPr>
            <a:endParaRPr sz="850">
              <a:latin typeface="Arial MT"/>
              <a:cs typeface="Arial MT"/>
            </a:endParaRPr>
          </a:p>
          <a:p>
            <a:pPr marL="12700">
              <a:lnSpc>
                <a:spcPts val="930"/>
              </a:lnSpc>
            </a:pPr>
            <a:r>
              <a:rPr sz="800" b="1" spc="-25" dirty="0">
                <a:latin typeface="Arial"/>
                <a:cs typeface="Arial"/>
              </a:rPr>
              <a:t>G</a:t>
            </a:r>
            <a:r>
              <a:rPr sz="800" b="1" spc="60" dirty="0">
                <a:latin typeface="Arial"/>
                <a:cs typeface="Arial"/>
              </a:rPr>
              <a:t>r</a:t>
            </a:r>
            <a:r>
              <a:rPr sz="800" b="1" spc="-45" dirty="0">
                <a:latin typeface="Arial"/>
                <a:cs typeface="Arial"/>
              </a:rPr>
              <a:t>o</a:t>
            </a:r>
            <a:r>
              <a:rPr sz="800" b="1" spc="-25" dirty="0">
                <a:latin typeface="Arial"/>
                <a:cs typeface="Arial"/>
              </a:rPr>
              <a:t>w</a:t>
            </a:r>
            <a:r>
              <a:rPr sz="800" b="1" spc="25" dirty="0">
                <a:latin typeface="Arial"/>
                <a:cs typeface="Arial"/>
              </a:rPr>
              <a:t>t</a:t>
            </a:r>
            <a:r>
              <a:rPr sz="800" b="1" spc="15" dirty="0">
                <a:latin typeface="Arial"/>
                <a:cs typeface="Arial"/>
              </a:rPr>
              <a:t>h</a:t>
            </a:r>
            <a:r>
              <a:rPr sz="800" b="1" spc="-55" dirty="0">
                <a:latin typeface="Arial"/>
                <a:cs typeface="Arial"/>
              </a:rPr>
              <a:t> </a:t>
            </a:r>
            <a:r>
              <a:rPr sz="800" b="1" spc="50" dirty="0">
                <a:latin typeface="Arial"/>
                <a:cs typeface="Arial"/>
              </a:rPr>
              <a:t>G</a:t>
            </a:r>
            <a:r>
              <a:rPr sz="800" b="1" spc="-45" dirty="0">
                <a:latin typeface="Arial"/>
                <a:cs typeface="Arial"/>
              </a:rPr>
              <a:t>u</a:t>
            </a:r>
            <a:r>
              <a:rPr sz="800" b="1" dirty="0">
                <a:latin typeface="Arial"/>
                <a:cs typeface="Arial"/>
              </a:rPr>
              <a:t>i</a:t>
            </a:r>
            <a:r>
              <a:rPr sz="800" b="1" spc="30" dirty="0">
                <a:latin typeface="Arial"/>
                <a:cs typeface="Arial"/>
              </a:rPr>
              <a:t>d</a:t>
            </a:r>
            <a:r>
              <a:rPr sz="800" b="1" spc="5" dirty="0">
                <a:latin typeface="Arial"/>
                <a:cs typeface="Arial"/>
              </a:rPr>
              <a:t>a</a:t>
            </a:r>
            <a:r>
              <a:rPr sz="800" b="1" spc="-45" dirty="0">
                <a:latin typeface="Arial"/>
                <a:cs typeface="Arial"/>
              </a:rPr>
              <a:t>n</a:t>
            </a:r>
            <a:r>
              <a:rPr sz="800" b="1" spc="5" dirty="0">
                <a:latin typeface="Arial"/>
                <a:cs typeface="Arial"/>
              </a:rPr>
              <a:t>c</a:t>
            </a:r>
            <a:r>
              <a:rPr sz="800" b="1" spc="15" dirty="0">
                <a:latin typeface="Arial"/>
                <a:cs typeface="Arial"/>
              </a:rPr>
              <a:t>e</a:t>
            </a:r>
            <a:endParaRPr sz="800">
              <a:latin typeface="Arial"/>
              <a:cs typeface="Arial"/>
            </a:endParaRPr>
          </a:p>
          <a:p>
            <a:pPr marL="49530" indent="-37465">
              <a:lnSpc>
                <a:spcPts val="930"/>
              </a:lnSpc>
              <a:buSzPct val="87500"/>
              <a:buFont typeface="Arial MT"/>
              <a:buChar char="•"/>
              <a:tabLst>
                <a:tab pos="50165" algn="l"/>
              </a:tabLst>
            </a:pPr>
            <a:r>
              <a:rPr sz="800" b="1" spc="-5" dirty="0">
                <a:latin typeface="Arial"/>
                <a:cs typeface="Arial"/>
              </a:rPr>
              <a:t>EPS</a:t>
            </a:r>
            <a:r>
              <a:rPr sz="800" b="1" spc="45" dirty="0">
                <a:latin typeface="Arial"/>
                <a:cs typeface="Arial"/>
              </a:rPr>
              <a:t> </a:t>
            </a:r>
            <a:r>
              <a:rPr sz="800" b="1" spc="-10" dirty="0">
                <a:latin typeface="Arial"/>
                <a:cs typeface="Arial"/>
              </a:rPr>
              <a:t>Growth</a:t>
            </a:r>
            <a:r>
              <a:rPr sz="800" b="1" spc="15" dirty="0">
                <a:latin typeface="Arial"/>
                <a:cs typeface="Arial"/>
              </a:rPr>
              <a:t> </a:t>
            </a:r>
            <a:r>
              <a:rPr sz="800" b="1" dirty="0">
                <a:latin typeface="Arial"/>
                <a:cs typeface="Arial"/>
              </a:rPr>
              <a:t>(2025):</a:t>
            </a:r>
            <a:r>
              <a:rPr sz="800" b="1" spc="-15" dirty="0">
                <a:latin typeface="Arial"/>
                <a:cs typeface="Arial"/>
              </a:rPr>
              <a:t> </a:t>
            </a:r>
            <a:r>
              <a:rPr sz="800" spc="5" dirty="0">
                <a:latin typeface="Arial MT"/>
                <a:cs typeface="Arial MT"/>
              </a:rPr>
              <a:t>5-6%,</a:t>
            </a:r>
            <a:r>
              <a:rPr sz="800" spc="-5" dirty="0">
                <a:latin typeface="Arial MT"/>
                <a:cs typeface="Arial MT"/>
              </a:rPr>
              <a:t> </a:t>
            </a:r>
            <a:r>
              <a:rPr sz="800" dirty="0">
                <a:latin typeface="Arial MT"/>
                <a:cs typeface="Arial MT"/>
              </a:rPr>
              <a:t>projected</a:t>
            </a:r>
            <a:r>
              <a:rPr sz="800" spc="-15" dirty="0">
                <a:latin typeface="Arial MT"/>
                <a:cs typeface="Arial MT"/>
              </a:rPr>
              <a:t> </a:t>
            </a:r>
            <a:r>
              <a:rPr sz="800" spc="-5" dirty="0">
                <a:latin typeface="Arial MT"/>
                <a:cs typeface="Arial MT"/>
              </a:rPr>
              <a:t>increase</a:t>
            </a:r>
            <a:r>
              <a:rPr sz="800" spc="-10" dirty="0">
                <a:latin typeface="Arial MT"/>
                <a:cs typeface="Arial MT"/>
              </a:rPr>
              <a:t> </a:t>
            </a:r>
            <a:r>
              <a:rPr sz="800" spc="5" dirty="0">
                <a:latin typeface="Arial MT"/>
                <a:cs typeface="Arial MT"/>
              </a:rPr>
              <a:t>to</a:t>
            </a:r>
            <a:r>
              <a:rPr sz="800" spc="-15" dirty="0">
                <a:latin typeface="Arial MT"/>
                <a:cs typeface="Arial MT"/>
              </a:rPr>
              <a:t> </a:t>
            </a:r>
            <a:r>
              <a:rPr sz="800" spc="5" dirty="0">
                <a:latin typeface="Arial MT"/>
                <a:cs typeface="Arial MT"/>
              </a:rPr>
              <a:t>$2.96.</a:t>
            </a:r>
            <a:endParaRPr sz="800">
              <a:latin typeface="Arial MT"/>
              <a:cs typeface="Arial MT"/>
            </a:endParaRPr>
          </a:p>
          <a:p>
            <a:pPr marL="49530" indent="-37465">
              <a:lnSpc>
                <a:spcPct val="100000"/>
              </a:lnSpc>
              <a:spcBef>
                <a:spcPts val="15"/>
              </a:spcBef>
              <a:buSzPct val="87500"/>
              <a:buFont typeface="Arial MT"/>
              <a:buChar char="•"/>
              <a:tabLst>
                <a:tab pos="50165" algn="l"/>
              </a:tabLst>
            </a:pPr>
            <a:r>
              <a:rPr sz="800" b="1" spc="5" dirty="0">
                <a:latin typeface="Arial"/>
                <a:cs typeface="Arial"/>
              </a:rPr>
              <a:t>Organic</a:t>
            </a:r>
            <a:r>
              <a:rPr sz="800" b="1" spc="-10" dirty="0">
                <a:latin typeface="Arial"/>
                <a:cs typeface="Arial"/>
              </a:rPr>
              <a:t> Revenue</a:t>
            </a:r>
            <a:r>
              <a:rPr sz="800" b="1" spc="-5" dirty="0">
                <a:latin typeface="Arial"/>
                <a:cs typeface="Arial"/>
              </a:rPr>
              <a:t> </a:t>
            </a:r>
            <a:r>
              <a:rPr sz="800" b="1" dirty="0">
                <a:latin typeface="Arial"/>
                <a:cs typeface="Arial"/>
              </a:rPr>
              <a:t>Growth</a:t>
            </a:r>
            <a:r>
              <a:rPr sz="800" b="1" spc="25" dirty="0">
                <a:latin typeface="Arial"/>
                <a:cs typeface="Arial"/>
              </a:rPr>
              <a:t> </a:t>
            </a:r>
            <a:r>
              <a:rPr sz="800" b="1" dirty="0">
                <a:latin typeface="Arial"/>
                <a:cs typeface="Arial"/>
              </a:rPr>
              <a:t>(2024):</a:t>
            </a:r>
            <a:r>
              <a:rPr sz="800" b="1" spc="-20" dirty="0">
                <a:latin typeface="Arial"/>
                <a:cs typeface="Arial"/>
              </a:rPr>
              <a:t> </a:t>
            </a:r>
            <a:r>
              <a:rPr sz="800" spc="5" dirty="0">
                <a:latin typeface="Arial MT"/>
                <a:cs typeface="Arial MT"/>
              </a:rPr>
              <a:t>~10%,</a:t>
            </a:r>
            <a:r>
              <a:rPr sz="800" dirty="0">
                <a:latin typeface="Arial MT"/>
                <a:cs typeface="Arial MT"/>
              </a:rPr>
              <a:t> with</a:t>
            </a:r>
            <a:r>
              <a:rPr sz="800" spc="-5" dirty="0">
                <a:latin typeface="Arial MT"/>
                <a:cs typeface="Arial MT"/>
              </a:rPr>
              <a:t> </a:t>
            </a:r>
            <a:r>
              <a:rPr sz="800" spc="-10" dirty="0">
                <a:latin typeface="Arial MT"/>
                <a:cs typeface="Arial MT"/>
              </a:rPr>
              <a:t>currency</a:t>
            </a:r>
            <a:r>
              <a:rPr sz="800" spc="40" dirty="0">
                <a:latin typeface="Arial MT"/>
                <a:cs typeface="Arial MT"/>
              </a:rPr>
              <a:t> </a:t>
            </a:r>
            <a:r>
              <a:rPr sz="800" dirty="0">
                <a:latin typeface="Arial MT"/>
                <a:cs typeface="Arial MT"/>
              </a:rPr>
              <a:t>headwinds</a:t>
            </a:r>
            <a:endParaRPr sz="800">
              <a:latin typeface="Arial MT"/>
              <a:cs typeface="Arial MT"/>
            </a:endParaRPr>
          </a:p>
          <a:p>
            <a:pPr marL="12700">
              <a:lnSpc>
                <a:spcPct val="100000"/>
              </a:lnSpc>
              <a:spcBef>
                <a:spcPts val="15"/>
              </a:spcBef>
            </a:pPr>
            <a:r>
              <a:rPr sz="800" dirty="0">
                <a:latin typeface="Arial MT"/>
                <a:cs typeface="Arial MT"/>
              </a:rPr>
              <a:t>impacting</a:t>
            </a:r>
            <a:r>
              <a:rPr sz="800" spc="-40" dirty="0">
                <a:latin typeface="Arial MT"/>
                <a:cs typeface="Arial MT"/>
              </a:rPr>
              <a:t> </a:t>
            </a:r>
            <a:r>
              <a:rPr sz="800" spc="-5" dirty="0">
                <a:latin typeface="Arial MT"/>
                <a:cs typeface="Arial MT"/>
              </a:rPr>
              <a:t>results.</a:t>
            </a:r>
            <a:endParaRPr sz="800">
              <a:latin typeface="Arial MT"/>
              <a:cs typeface="Arial MT"/>
            </a:endParaRPr>
          </a:p>
          <a:p>
            <a:pPr>
              <a:lnSpc>
                <a:spcPct val="100000"/>
              </a:lnSpc>
              <a:spcBef>
                <a:spcPts val="20"/>
              </a:spcBef>
            </a:pPr>
            <a:endParaRPr sz="850">
              <a:latin typeface="Arial MT"/>
              <a:cs typeface="Arial MT"/>
            </a:endParaRPr>
          </a:p>
          <a:p>
            <a:pPr marL="12700">
              <a:lnSpc>
                <a:spcPts val="930"/>
              </a:lnSpc>
            </a:pPr>
            <a:r>
              <a:rPr sz="800" b="1" spc="10" dirty="0">
                <a:latin typeface="Arial"/>
                <a:cs typeface="Arial"/>
              </a:rPr>
              <a:t>YoY</a:t>
            </a:r>
            <a:r>
              <a:rPr sz="800" b="1" spc="-55" dirty="0">
                <a:latin typeface="Arial"/>
                <a:cs typeface="Arial"/>
              </a:rPr>
              <a:t> </a:t>
            </a:r>
            <a:r>
              <a:rPr sz="800" b="1" spc="-5" dirty="0">
                <a:latin typeface="Arial"/>
                <a:cs typeface="Arial"/>
              </a:rPr>
              <a:t>Highlights</a:t>
            </a:r>
            <a:endParaRPr sz="800">
              <a:latin typeface="Arial"/>
              <a:cs typeface="Arial"/>
            </a:endParaRPr>
          </a:p>
          <a:p>
            <a:pPr marL="49530" indent="-37465">
              <a:lnSpc>
                <a:spcPts val="930"/>
              </a:lnSpc>
              <a:buSzPct val="87500"/>
              <a:buChar char="•"/>
              <a:tabLst>
                <a:tab pos="50165" algn="l"/>
              </a:tabLst>
            </a:pPr>
            <a:r>
              <a:rPr sz="800" dirty="0">
                <a:latin typeface="Arial MT"/>
                <a:cs typeface="Arial MT"/>
              </a:rPr>
              <a:t>Revenue</a:t>
            </a:r>
            <a:r>
              <a:rPr sz="800" spc="-10" dirty="0">
                <a:latin typeface="Arial MT"/>
                <a:cs typeface="Arial MT"/>
              </a:rPr>
              <a:t> </a:t>
            </a:r>
            <a:r>
              <a:rPr sz="800" dirty="0">
                <a:latin typeface="Arial MT"/>
                <a:cs typeface="Arial MT"/>
              </a:rPr>
              <a:t>decreased</a:t>
            </a:r>
            <a:r>
              <a:rPr sz="800" spc="-10" dirty="0">
                <a:latin typeface="Arial MT"/>
                <a:cs typeface="Arial MT"/>
              </a:rPr>
              <a:t> </a:t>
            </a:r>
            <a:r>
              <a:rPr sz="800" spc="5" dirty="0">
                <a:latin typeface="Arial MT"/>
                <a:cs typeface="Arial MT"/>
              </a:rPr>
              <a:t>slightly</a:t>
            </a:r>
            <a:r>
              <a:rPr sz="800" spc="-35" dirty="0">
                <a:latin typeface="Arial MT"/>
                <a:cs typeface="Arial MT"/>
              </a:rPr>
              <a:t> </a:t>
            </a:r>
            <a:r>
              <a:rPr sz="800" spc="5" dirty="0">
                <a:latin typeface="Arial MT"/>
                <a:cs typeface="Arial MT"/>
              </a:rPr>
              <a:t>by</a:t>
            </a:r>
            <a:r>
              <a:rPr sz="800" spc="-5" dirty="0">
                <a:latin typeface="Arial MT"/>
                <a:cs typeface="Arial MT"/>
              </a:rPr>
              <a:t> </a:t>
            </a:r>
            <a:r>
              <a:rPr sz="800" b="1" spc="5" dirty="0">
                <a:latin typeface="Arial"/>
                <a:cs typeface="Arial"/>
              </a:rPr>
              <a:t>0.8%</a:t>
            </a:r>
            <a:r>
              <a:rPr sz="800" b="1" spc="15" dirty="0">
                <a:latin typeface="Arial"/>
                <a:cs typeface="Arial"/>
              </a:rPr>
              <a:t> </a:t>
            </a:r>
            <a:r>
              <a:rPr sz="800" b="1" spc="-10" dirty="0">
                <a:latin typeface="Arial"/>
                <a:cs typeface="Arial"/>
              </a:rPr>
              <a:t>YoY</a:t>
            </a:r>
            <a:r>
              <a:rPr sz="800" spc="-10" dirty="0">
                <a:latin typeface="Arial MT"/>
                <a:cs typeface="Arial MT"/>
              </a:rPr>
              <a:t>,</a:t>
            </a:r>
            <a:r>
              <a:rPr sz="800" spc="-5" dirty="0">
                <a:latin typeface="Arial MT"/>
                <a:cs typeface="Arial MT"/>
              </a:rPr>
              <a:t> while </a:t>
            </a:r>
            <a:r>
              <a:rPr sz="800" spc="20" dirty="0">
                <a:latin typeface="Arial MT"/>
                <a:cs typeface="Arial MT"/>
              </a:rPr>
              <a:t>EPS</a:t>
            </a:r>
            <a:r>
              <a:rPr sz="800" spc="-25" dirty="0">
                <a:latin typeface="Arial MT"/>
                <a:cs typeface="Arial MT"/>
              </a:rPr>
              <a:t> </a:t>
            </a:r>
            <a:r>
              <a:rPr sz="800" spc="5" dirty="0">
                <a:latin typeface="Arial MT"/>
                <a:cs typeface="Arial MT"/>
              </a:rPr>
              <a:t>rose</a:t>
            </a:r>
            <a:r>
              <a:rPr sz="800" spc="-10" dirty="0">
                <a:latin typeface="Arial MT"/>
                <a:cs typeface="Arial MT"/>
              </a:rPr>
              <a:t> </a:t>
            </a:r>
            <a:r>
              <a:rPr sz="800" spc="5" dirty="0">
                <a:latin typeface="Arial MT"/>
                <a:cs typeface="Arial MT"/>
              </a:rPr>
              <a:t>by</a:t>
            </a:r>
            <a:r>
              <a:rPr sz="800" spc="-25" dirty="0">
                <a:latin typeface="Arial MT"/>
                <a:cs typeface="Arial MT"/>
              </a:rPr>
              <a:t> </a:t>
            </a:r>
            <a:r>
              <a:rPr sz="800" b="1" dirty="0">
                <a:latin typeface="Arial"/>
                <a:cs typeface="Arial"/>
              </a:rPr>
              <a:t>11.6%</a:t>
            </a:r>
            <a:r>
              <a:rPr sz="800" dirty="0">
                <a:latin typeface="Arial MT"/>
                <a:cs typeface="Arial MT"/>
              </a:rPr>
              <a:t>,</a:t>
            </a:r>
            <a:endParaRPr sz="800">
              <a:latin typeface="Arial MT"/>
              <a:cs typeface="Arial MT"/>
            </a:endParaRPr>
          </a:p>
          <a:p>
            <a:pPr marL="12700">
              <a:lnSpc>
                <a:spcPct val="100000"/>
              </a:lnSpc>
              <a:spcBef>
                <a:spcPts val="15"/>
              </a:spcBef>
            </a:pPr>
            <a:r>
              <a:rPr sz="800" spc="-5" dirty="0">
                <a:latin typeface="Arial MT"/>
                <a:cs typeface="Arial MT"/>
              </a:rPr>
              <a:t>showing </a:t>
            </a:r>
            <a:r>
              <a:rPr sz="800" dirty="0">
                <a:latin typeface="Arial MT"/>
                <a:cs typeface="Arial MT"/>
              </a:rPr>
              <a:t>profitability</a:t>
            </a:r>
            <a:r>
              <a:rPr sz="800" spc="40" dirty="0">
                <a:latin typeface="Arial MT"/>
                <a:cs typeface="Arial MT"/>
              </a:rPr>
              <a:t> </a:t>
            </a:r>
            <a:r>
              <a:rPr sz="800" spc="-5" dirty="0">
                <a:latin typeface="Arial MT"/>
                <a:cs typeface="Arial MT"/>
              </a:rPr>
              <a:t>improvements</a:t>
            </a:r>
            <a:r>
              <a:rPr sz="800" spc="40" dirty="0">
                <a:latin typeface="Arial MT"/>
                <a:cs typeface="Arial MT"/>
              </a:rPr>
              <a:t> </a:t>
            </a:r>
            <a:r>
              <a:rPr sz="800" spc="-5" dirty="0">
                <a:latin typeface="Arial MT"/>
                <a:cs typeface="Arial MT"/>
              </a:rPr>
              <a:t>despite </a:t>
            </a:r>
            <a:r>
              <a:rPr sz="800" spc="10" dirty="0">
                <a:latin typeface="Arial MT"/>
                <a:cs typeface="Arial MT"/>
              </a:rPr>
              <a:t>minor</a:t>
            </a:r>
            <a:r>
              <a:rPr sz="800" spc="-45" dirty="0">
                <a:latin typeface="Arial MT"/>
                <a:cs typeface="Arial MT"/>
              </a:rPr>
              <a:t> </a:t>
            </a:r>
            <a:r>
              <a:rPr sz="800" spc="5" dirty="0">
                <a:latin typeface="Arial MT"/>
                <a:cs typeface="Arial MT"/>
              </a:rPr>
              <a:t>revenue</a:t>
            </a:r>
            <a:r>
              <a:rPr sz="800" spc="-5" dirty="0">
                <a:latin typeface="Arial MT"/>
                <a:cs typeface="Arial MT"/>
              </a:rPr>
              <a:t> </a:t>
            </a:r>
            <a:r>
              <a:rPr sz="800" dirty="0">
                <a:latin typeface="Arial MT"/>
                <a:cs typeface="Arial MT"/>
              </a:rPr>
              <a:t>decline.</a:t>
            </a:r>
            <a:endParaRPr sz="800">
              <a:latin typeface="Arial MT"/>
              <a:cs typeface="Arial MT"/>
            </a:endParaRPr>
          </a:p>
          <a:p>
            <a:pPr marL="49530" indent="-37465">
              <a:lnSpc>
                <a:spcPct val="100000"/>
              </a:lnSpc>
              <a:spcBef>
                <a:spcPts val="15"/>
              </a:spcBef>
              <a:buSzPct val="87500"/>
              <a:buFont typeface="Arial MT"/>
              <a:buChar char="•"/>
              <a:tabLst>
                <a:tab pos="50165" algn="l"/>
              </a:tabLst>
            </a:pPr>
            <a:r>
              <a:rPr sz="800" b="1" spc="5" dirty="0">
                <a:latin typeface="Arial"/>
                <a:cs typeface="Arial"/>
              </a:rPr>
              <a:t>Free</a:t>
            </a:r>
            <a:r>
              <a:rPr sz="800" b="1" spc="-5" dirty="0">
                <a:latin typeface="Arial"/>
                <a:cs typeface="Arial"/>
              </a:rPr>
              <a:t> </a:t>
            </a:r>
            <a:r>
              <a:rPr sz="800" b="1" spc="-10" dirty="0">
                <a:latin typeface="Arial"/>
                <a:cs typeface="Arial"/>
              </a:rPr>
              <a:t>Cash</a:t>
            </a:r>
            <a:r>
              <a:rPr sz="800" b="1" spc="25" dirty="0">
                <a:latin typeface="Arial"/>
                <a:cs typeface="Arial"/>
              </a:rPr>
              <a:t> </a:t>
            </a:r>
            <a:r>
              <a:rPr sz="800" b="1" dirty="0">
                <a:latin typeface="Arial"/>
                <a:cs typeface="Arial"/>
              </a:rPr>
              <a:t>Flow</a:t>
            </a:r>
            <a:r>
              <a:rPr sz="800" b="1" spc="-15" dirty="0">
                <a:latin typeface="Arial"/>
                <a:cs typeface="Arial"/>
              </a:rPr>
              <a:t> </a:t>
            </a:r>
            <a:r>
              <a:rPr sz="800" spc="5" dirty="0">
                <a:latin typeface="Arial MT"/>
                <a:cs typeface="Arial MT"/>
              </a:rPr>
              <a:t>increased</a:t>
            </a:r>
            <a:r>
              <a:rPr sz="800" spc="-5" dirty="0">
                <a:latin typeface="Arial MT"/>
                <a:cs typeface="Arial MT"/>
              </a:rPr>
              <a:t> </a:t>
            </a:r>
            <a:r>
              <a:rPr sz="800" spc="5" dirty="0">
                <a:latin typeface="Arial MT"/>
                <a:cs typeface="Arial MT"/>
              </a:rPr>
              <a:t>by</a:t>
            </a:r>
            <a:r>
              <a:rPr sz="800" spc="-35" dirty="0">
                <a:latin typeface="Arial MT"/>
                <a:cs typeface="Arial MT"/>
              </a:rPr>
              <a:t> </a:t>
            </a:r>
            <a:r>
              <a:rPr sz="800" spc="-5" dirty="0">
                <a:latin typeface="Arial MT"/>
                <a:cs typeface="Arial MT"/>
              </a:rPr>
              <a:t>4.5%,</a:t>
            </a:r>
            <a:r>
              <a:rPr sz="800" dirty="0">
                <a:latin typeface="Arial MT"/>
                <a:cs typeface="Arial MT"/>
              </a:rPr>
              <a:t> reinforcing</a:t>
            </a:r>
            <a:r>
              <a:rPr sz="800" spc="-5" dirty="0">
                <a:latin typeface="Arial MT"/>
                <a:cs typeface="Arial MT"/>
              </a:rPr>
              <a:t> </a:t>
            </a:r>
            <a:r>
              <a:rPr sz="800" dirty="0">
                <a:latin typeface="Arial MT"/>
                <a:cs typeface="Arial MT"/>
              </a:rPr>
              <a:t>operational</a:t>
            </a:r>
            <a:r>
              <a:rPr sz="800" spc="45" dirty="0">
                <a:latin typeface="Arial MT"/>
                <a:cs typeface="Arial MT"/>
              </a:rPr>
              <a:t> </a:t>
            </a:r>
            <a:r>
              <a:rPr sz="800" spc="-5" dirty="0">
                <a:latin typeface="Arial MT"/>
                <a:cs typeface="Arial MT"/>
              </a:rPr>
              <a:t>efficiency.</a:t>
            </a:r>
            <a:endParaRPr sz="800">
              <a:latin typeface="Arial MT"/>
              <a:cs typeface="Arial MT"/>
            </a:endParaRPr>
          </a:p>
          <a:p>
            <a:pPr marL="49530" indent="-37465">
              <a:lnSpc>
                <a:spcPct val="100000"/>
              </a:lnSpc>
              <a:spcBef>
                <a:spcPts val="20"/>
              </a:spcBef>
              <a:buSzPct val="87500"/>
              <a:buChar char="•"/>
              <a:tabLst>
                <a:tab pos="50165" algn="l"/>
              </a:tabLst>
            </a:pPr>
            <a:r>
              <a:rPr sz="800" dirty="0">
                <a:latin typeface="Arial MT"/>
                <a:cs typeface="Arial MT"/>
              </a:rPr>
              <a:t>Dividend</a:t>
            </a:r>
            <a:r>
              <a:rPr sz="800" spc="-10" dirty="0">
                <a:latin typeface="Arial MT"/>
                <a:cs typeface="Arial MT"/>
              </a:rPr>
              <a:t> </a:t>
            </a:r>
            <a:r>
              <a:rPr sz="800" dirty="0">
                <a:latin typeface="Arial MT"/>
                <a:cs typeface="Arial MT"/>
              </a:rPr>
              <a:t>yield</a:t>
            </a:r>
            <a:r>
              <a:rPr sz="800" spc="-10" dirty="0">
                <a:latin typeface="Arial MT"/>
                <a:cs typeface="Arial MT"/>
              </a:rPr>
              <a:t> </a:t>
            </a:r>
            <a:r>
              <a:rPr sz="800" spc="-5" dirty="0">
                <a:latin typeface="Arial MT"/>
                <a:cs typeface="Arial MT"/>
              </a:rPr>
              <a:t>grew</a:t>
            </a:r>
            <a:r>
              <a:rPr sz="800" spc="5" dirty="0">
                <a:latin typeface="Arial MT"/>
                <a:cs typeface="Arial MT"/>
              </a:rPr>
              <a:t> </a:t>
            </a:r>
            <a:r>
              <a:rPr sz="800" spc="-5" dirty="0">
                <a:latin typeface="Arial MT"/>
                <a:cs typeface="Arial MT"/>
              </a:rPr>
              <a:t>from</a:t>
            </a:r>
            <a:r>
              <a:rPr sz="800" spc="15" dirty="0">
                <a:latin typeface="Arial MT"/>
                <a:cs typeface="Arial MT"/>
              </a:rPr>
              <a:t> </a:t>
            </a:r>
            <a:r>
              <a:rPr sz="800" b="1" spc="5" dirty="0">
                <a:latin typeface="Arial"/>
                <a:cs typeface="Arial"/>
              </a:rPr>
              <a:t>2.9%</a:t>
            </a:r>
            <a:r>
              <a:rPr sz="800" b="1" spc="15" dirty="0">
                <a:latin typeface="Arial"/>
                <a:cs typeface="Arial"/>
              </a:rPr>
              <a:t> </a:t>
            </a:r>
            <a:r>
              <a:rPr sz="800" b="1" spc="-15" dirty="0">
                <a:latin typeface="Arial"/>
                <a:cs typeface="Arial"/>
              </a:rPr>
              <a:t>to</a:t>
            </a:r>
            <a:r>
              <a:rPr sz="800" b="1" spc="20" dirty="0">
                <a:latin typeface="Arial"/>
                <a:cs typeface="Arial"/>
              </a:rPr>
              <a:t> </a:t>
            </a:r>
            <a:r>
              <a:rPr sz="800" b="1" spc="-5" dirty="0">
                <a:latin typeface="Arial"/>
                <a:cs typeface="Arial"/>
              </a:rPr>
              <a:t>3.1%</a:t>
            </a:r>
            <a:r>
              <a:rPr sz="800" spc="-5" dirty="0">
                <a:latin typeface="Arial MT"/>
                <a:cs typeface="Arial MT"/>
              </a:rPr>
              <a:t>, </a:t>
            </a:r>
            <a:r>
              <a:rPr sz="800" spc="5" dirty="0">
                <a:latin typeface="Arial MT"/>
                <a:cs typeface="Arial MT"/>
              </a:rPr>
              <a:t>enhancing</a:t>
            </a:r>
            <a:r>
              <a:rPr sz="800" spc="-5" dirty="0">
                <a:latin typeface="Arial MT"/>
                <a:cs typeface="Arial MT"/>
              </a:rPr>
              <a:t> </a:t>
            </a:r>
            <a:r>
              <a:rPr sz="800" dirty="0">
                <a:latin typeface="Arial MT"/>
                <a:cs typeface="Arial MT"/>
              </a:rPr>
              <a:t>investor</a:t>
            </a:r>
            <a:r>
              <a:rPr sz="800" spc="-50" dirty="0">
                <a:latin typeface="Arial MT"/>
                <a:cs typeface="Arial MT"/>
              </a:rPr>
              <a:t> </a:t>
            </a:r>
            <a:r>
              <a:rPr sz="800" spc="5" dirty="0">
                <a:latin typeface="Arial MT"/>
                <a:cs typeface="Arial MT"/>
              </a:rPr>
              <a:t>returns.</a:t>
            </a:r>
            <a:endParaRPr sz="80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341374"/>
            <a:ext cx="4540250" cy="426720"/>
          </a:xfrm>
          <a:prstGeom prst="rect">
            <a:avLst/>
          </a:prstGeom>
        </p:spPr>
        <p:txBody>
          <a:bodyPr vert="horz" wrap="square" lIns="0" tIns="16510" rIns="0" bIns="0" rtlCol="0">
            <a:spAutoFit/>
          </a:bodyPr>
          <a:lstStyle/>
          <a:p>
            <a:pPr marL="12700">
              <a:lnSpc>
                <a:spcPct val="100000"/>
              </a:lnSpc>
              <a:spcBef>
                <a:spcPts val="130"/>
              </a:spcBef>
            </a:pPr>
            <a:r>
              <a:rPr sz="2600" spc="80" dirty="0">
                <a:solidFill>
                  <a:srgbClr val="1A1A1A"/>
                </a:solidFill>
              </a:rPr>
              <a:t>Discounted</a:t>
            </a:r>
            <a:r>
              <a:rPr sz="2600" spc="-185" dirty="0">
                <a:solidFill>
                  <a:srgbClr val="1A1A1A"/>
                </a:solidFill>
              </a:rPr>
              <a:t> </a:t>
            </a:r>
            <a:r>
              <a:rPr sz="2600" spc="100" dirty="0">
                <a:solidFill>
                  <a:srgbClr val="1A1A1A"/>
                </a:solidFill>
              </a:rPr>
              <a:t>cash</a:t>
            </a:r>
            <a:r>
              <a:rPr sz="2600" spc="-145" dirty="0">
                <a:solidFill>
                  <a:srgbClr val="1A1A1A"/>
                </a:solidFill>
              </a:rPr>
              <a:t> </a:t>
            </a:r>
            <a:r>
              <a:rPr sz="2600" spc="65" dirty="0">
                <a:solidFill>
                  <a:srgbClr val="1A1A1A"/>
                </a:solidFill>
              </a:rPr>
              <a:t>flow</a:t>
            </a:r>
            <a:r>
              <a:rPr sz="2600" spc="-165" dirty="0">
                <a:solidFill>
                  <a:srgbClr val="1A1A1A"/>
                </a:solidFill>
              </a:rPr>
              <a:t> </a:t>
            </a:r>
            <a:r>
              <a:rPr sz="2600" spc="105" dirty="0">
                <a:solidFill>
                  <a:srgbClr val="1A1A1A"/>
                </a:solidFill>
              </a:rPr>
              <a:t>model</a:t>
            </a:r>
            <a:endParaRPr sz="2600"/>
          </a:p>
        </p:txBody>
      </p:sp>
      <p:sp>
        <p:nvSpPr>
          <p:cNvPr id="3" name="object 3"/>
          <p:cNvSpPr txBox="1"/>
          <p:nvPr/>
        </p:nvSpPr>
        <p:spPr>
          <a:xfrm>
            <a:off x="800734" y="2304732"/>
            <a:ext cx="793750" cy="220345"/>
          </a:xfrm>
          <a:prstGeom prst="rect">
            <a:avLst/>
          </a:prstGeom>
        </p:spPr>
        <p:txBody>
          <a:bodyPr vert="horz" wrap="square" lIns="0" tIns="15875" rIns="0" bIns="0" rtlCol="0">
            <a:spAutoFit/>
          </a:bodyPr>
          <a:lstStyle/>
          <a:p>
            <a:pPr marL="12700">
              <a:lnSpc>
                <a:spcPct val="100000"/>
              </a:lnSpc>
              <a:spcBef>
                <a:spcPts val="125"/>
              </a:spcBef>
            </a:pPr>
            <a:r>
              <a:rPr sz="1250" spc="60" dirty="0">
                <a:solidFill>
                  <a:srgbClr val="585858"/>
                </a:solidFill>
                <a:latin typeface="Tahoma"/>
                <a:cs typeface="Tahoma"/>
              </a:rPr>
              <a:t>Next</a:t>
            </a:r>
            <a:r>
              <a:rPr sz="1250" spc="-85" dirty="0">
                <a:solidFill>
                  <a:srgbClr val="585858"/>
                </a:solidFill>
                <a:latin typeface="Tahoma"/>
                <a:cs typeface="Tahoma"/>
              </a:rPr>
              <a:t> </a:t>
            </a:r>
            <a:r>
              <a:rPr sz="1250" spc="10" dirty="0">
                <a:solidFill>
                  <a:srgbClr val="585858"/>
                </a:solidFill>
                <a:latin typeface="Tahoma"/>
                <a:cs typeface="Tahoma"/>
              </a:rPr>
              <a:t>time!</a:t>
            </a:r>
            <a:endParaRPr sz="1250">
              <a:latin typeface="Tahoma"/>
              <a:cs typeface="Tahoma"/>
            </a:endParaRPr>
          </a:p>
        </p:txBody>
      </p:sp>
      <p:pic>
        <p:nvPicPr>
          <p:cNvPr id="4" name="object 4"/>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9625" y="1380743"/>
            <a:ext cx="2153920" cy="426720"/>
          </a:xfrm>
          <a:prstGeom prst="rect">
            <a:avLst/>
          </a:prstGeom>
        </p:spPr>
        <p:txBody>
          <a:bodyPr vert="horz" wrap="square" lIns="0" tIns="16510" rIns="0" bIns="0" rtlCol="0">
            <a:spAutoFit/>
          </a:bodyPr>
          <a:lstStyle/>
          <a:p>
            <a:pPr marL="12700">
              <a:lnSpc>
                <a:spcPct val="100000"/>
              </a:lnSpc>
              <a:spcBef>
                <a:spcPts val="130"/>
              </a:spcBef>
            </a:pPr>
            <a:r>
              <a:rPr sz="2600" spc="100" dirty="0">
                <a:solidFill>
                  <a:srgbClr val="1A1A1A"/>
                </a:solidFill>
              </a:rPr>
              <a:t>Comparables</a:t>
            </a:r>
            <a:endParaRPr sz="2600"/>
          </a:p>
        </p:txBody>
      </p:sp>
      <p:sp>
        <p:nvSpPr>
          <p:cNvPr id="3" name="object 3"/>
          <p:cNvSpPr txBox="1"/>
          <p:nvPr/>
        </p:nvSpPr>
        <p:spPr>
          <a:xfrm>
            <a:off x="809625" y="2226246"/>
            <a:ext cx="740410" cy="220345"/>
          </a:xfrm>
          <a:prstGeom prst="rect">
            <a:avLst/>
          </a:prstGeom>
        </p:spPr>
        <p:txBody>
          <a:bodyPr vert="horz" wrap="square" lIns="0" tIns="15875" rIns="0" bIns="0" rtlCol="0">
            <a:spAutoFit/>
          </a:bodyPr>
          <a:lstStyle/>
          <a:p>
            <a:pPr marL="12700">
              <a:lnSpc>
                <a:spcPct val="100000"/>
              </a:lnSpc>
              <a:spcBef>
                <a:spcPts val="125"/>
              </a:spcBef>
            </a:pPr>
            <a:r>
              <a:rPr sz="1250" spc="60" dirty="0">
                <a:solidFill>
                  <a:srgbClr val="585858"/>
                </a:solidFill>
                <a:latin typeface="Tahoma"/>
                <a:cs typeface="Tahoma"/>
              </a:rPr>
              <a:t>Next</a:t>
            </a:r>
            <a:r>
              <a:rPr sz="1250" spc="-80" dirty="0">
                <a:solidFill>
                  <a:srgbClr val="585858"/>
                </a:solidFill>
                <a:latin typeface="Tahoma"/>
                <a:cs typeface="Tahoma"/>
              </a:rPr>
              <a:t> </a:t>
            </a:r>
            <a:r>
              <a:rPr sz="1250" spc="10" dirty="0">
                <a:solidFill>
                  <a:srgbClr val="585858"/>
                </a:solidFill>
                <a:latin typeface="Tahoma"/>
                <a:cs typeface="Tahoma"/>
              </a:rPr>
              <a:t>time</a:t>
            </a:r>
            <a:endParaRPr sz="1250">
              <a:latin typeface="Tahoma"/>
              <a:cs typeface="Tahoma"/>
            </a:endParaRPr>
          </a:p>
        </p:txBody>
      </p:sp>
      <p:pic>
        <p:nvPicPr>
          <p:cNvPr id="4" name="object 4"/>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9625" y="1380743"/>
            <a:ext cx="2970530" cy="426720"/>
          </a:xfrm>
          <a:prstGeom prst="rect">
            <a:avLst/>
          </a:prstGeom>
        </p:spPr>
        <p:txBody>
          <a:bodyPr vert="horz" wrap="square" lIns="0" tIns="16510" rIns="0" bIns="0" rtlCol="0">
            <a:spAutoFit/>
          </a:bodyPr>
          <a:lstStyle/>
          <a:p>
            <a:pPr marL="12700">
              <a:lnSpc>
                <a:spcPct val="100000"/>
              </a:lnSpc>
              <a:spcBef>
                <a:spcPts val="130"/>
              </a:spcBef>
            </a:pPr>
            <a:r>
              <a:rPr sz="2600" spc="55" dirty="0">
                <a:solidFill>
                  <a:srgbClr val="1A1A1A"/>
                </a:solidFill>
              </a:rPr>
              <a:t>T</a:t>
            </a:r>
            <a:r>
              <a:rPr sz="2600" dirty="0">
                <a:solidFill>
                  <a:srgbClr val="1A1A1A"/>
                </a:solidFill>
              </a:rPr>
              <a:t>e</a:t>
            </a:r>
            <a:r>
              <a:rPr sz="2600" spc="160" dirty="0">
                <a:solidFill>
                  <a:srgbClr val="1A1A1A"/>
                </a:solidFill>
              </a:rPr>
              <a:t>c</a:t>
            </a:r>
            <a:r>
              <a:rPr sz="2600" spc="30" dirty="0">
                <a:solidFill>
                  <a:srgbClr val="1A1A1A"/>
                </a:solidFill>
              </a:rPr>
              <a:t>h</a:t>
            </a:r>
            <a:r>
              <a:rPr sz="2600" spc="35" dirty="0">
                <a:solidFill>
                  <a:srgbClr val="1A1A1A"/>
                </a:solidFill>
              </a:rPr>
              <a:t>n</a:t>
            </a:r>
            <a:r>
              <a:rPr sz="2600" spc="15" dirty="0">
                <a:solidFill>
                  <a:srgbClr val="1A1A1A"/>
                </a:solidFill>
              </a:rPr>
              <a:t>i</a:t>
            </a:r>
            <a:r>
              <a:rPr sz="2600" spc="-30" dirty="0">
                <a:solidFill>
                  <a:srgbClr val="1A1A1A"/>
                </a:solidFill>
              </a:rPr>
              <a:t>c</a:t>
            </a:r>
            <a:r>
              <a:rPr sz="2600" spc="105" dirty="0">
                <a:solidFill>
                  <a:srgbClr val="1A1A1A"/>
                </a:solidFill>
              </a:rPr>
              <a:t>a</a:t>
            </a:r>
            <a:r>
              <a:rPr sz="2600" spc="65" dirty="0">
                <a:solidFill>
                  <a:srgbClr val="1A1A1A"/>
                </a:solidFill>
              </a:rPr>
              <a:t>l</a:t>
            </a:r>
            <a:r>
              <a:rPr sz="2600" spc="-195" dirty="0">
                <a:solidFill>
                  <a:srgbClr val="1A1A1A"/>
                </a:solidFill>
              </a:rPr>
              <a:t> </a:t>
            </a:r>
            <a:r>
              <a:rPr sz="2600" spc="150" dirty="0">
                <a:solidFill>
                  <a:srgbClr val="1A1A1A"/>
                </a:solidFill>
              </a:rPr>
              <a:t>A</a:t>
            </a:r>
            <a:r>
              <a:rPr sz="2600" spc="35" dirty="0">
                <a:solidFill>
                  <a:srgbClr val="1A1A1A"/>
                </a:solidFill>
              </a:rPr>
              <a:t>n</a:t>
            </a:r>
            <a:r>
              <a:rPr sz="2600" spc="105" dirty="0">
                <a:solidFill>
                  <a:srgbClr val="1A1A1A"/>
                </a:solidFill>
              </a:rPr>
              <a:t>a</a:t>
            </a:r>
            <a:r>
              <a:rPr sz="2600" spc="55" dirty="0">
                <a:solidFill>
                  <a:srgbClr val="1A1A1A"/>
                </a:solidFill>
              </a:rPr>
              <a:t>l</a:t>
            </a:r>
            <a:r>
              <a:rPr sz="2600" spc="30" dirty="0">
                <a:solidFill>
                  <a:srgbClr val="1A1A1A"/>
                </a:solidFill>
              </a:rPr>
              <a:t>y</a:t>
            </a:r>
            <a:r>
              <a:rPr sz="2600" spc="150" dirty="0">
                <a:solidFill>
                  <a:srgbClr val="1A1A1A"/>
                </a:solidFill>
              </a:rPr>
              <a:t>s</a:t>
            </a:r>
            <a:r>
              <a:rPr sz="2600" spc="35" dirty="0">
                <a:solidFill>
                  <a:srgbClr val="1A1A1A"/>
                </a:solidFill>
              </a:rPr>
              <a:t>is</a:t>
            </a:r>
            <a:endParaRPr sz="2600"/>
          </a:p>
        </p:txBody>
      </p:sp>
      <p:sp>
        <p:nvSpPr>
          <p:cNvPr id="3" name="object 3"/>
          <p:cNvSpPr txBox="1"/>
          <p:nvPr/>
        </p:nvSpPr>
        <p:spPr>
          <a:xfrm>
            <a:off x="800734" y="2875216"/>
            <a:ext cx="3055620" cy="831215"/>
          </a:xfrm>
          <a:prstGeom prst="rect">
            <a:avLst/>
          </a:prstGeom>
        </p:spPr>
        <p:txBody>
          <a:bodyPr vert="horz" wrap="square" lIns="0" tIns="15875" rIns="0" bIns="0" rtlCol="0">
            <a:spAutoFit/>
          </a:bodyPr>
          <a:lstStyle/>
          <a:p>
            <a:pPr marL="12700">
              <a:lnSpc>
                <a:spcPct val="100000"/>
              </a:lnSpc>
              <a:spcBef>
                <a:spcPts val="125"/>
              </a:spcBef>
            </a:pPr>
            <a:r>
              <a:rPr sz="1250" spc="160" dirty="0">
                <a:latin typeface="Tahoma"/>
                <a:cs typeface="Tahoma"/>
              </a:rPr>
              <a:t>O</a:t>
            </a:r>
            <a:r>
              <a:rPr sz="1250" spc="50" dirty="0">
                <a:latin typeface="Tahoma"/>
                <a:cs typeface="Tahoma"/>
              </a:rPr>
              <a:t>n</a:t>
            </a:r>
            <a:r>
              <a:rPr sz="1250" spc="25" dirty="0">
                <a:latin typeface="Tahoma"/>
                <a:cs typeface="Tahoma"/>
              </a:rPr>
              <a:t>ly</a:t>
            </a:r>
            <a:r>
              <a:rPr sz="1250" spc="-80" dirty="0">
                <a:latin typeface="Tahoma"/>
                <a:cs typeface="Tahoma"/>
              </a:rPr>
              <a:t> </a:t>
            </a:r>
            <a:r>
              <a:rPr sz="1250" spc="10" dirty="0">
                <a:latin typeface="Tahoma"/>
                <a:cs typeface="Tahoma"/>
              </a:rPr>
              <a:t>i</a:t>
            </a:r>
            <a:r>
              <a:rPr sz="1250" spc="45" dirty="0">
                <a:latin typeface="Tahoma"/>
                <a:cs typeface="Tahoma"/>
              </a:rPr>
              <a:t>f</a:t>
            </a:r>
            <a:r>
              <a:rPr sz="1250" spc="-15" dirty="0">
                <a:latin typeface="Tahoma"/>
                <a:cs typeface="Tahoma"/>
              </a:rPr>
              <a:t> </a:t>
            </a:r>
            <a:r>
              <a:rPr sz="1250" spc="10" dirty="0">
                <a:latin typeface="Tahoma"/>
                <a:cs typeface="Tahoma"/>
              </a:rPr>
              <a:t>a</a:t>
            </a:r>
            <a:r>
              <a:rPr sz="1250" spc="-20" dirty="0">
                <a:latin typeface="Tahoma"/>
                <a:cs typeface="Tahoma"/>
              </a:rPr>
              <a:t>p</a:t>
            </a:r>
            <a:r>
              <a:rPr sz="1250" spc="60" dirty="0">
                <a:latin typeface="Tahoma"/>
                <a:cs typeface="Tahoma"/>
              </a:rPr>
              <a:t>p</a:t>
            </a:r>
            <a:r>
              <a:rPr sz="1250" spc="15" dirty="0">
                <a:latin typeface="Tahoma"/>
                <a:cs typeface="Tahoma"/>
              </a:rPr>
              <a:t>l</a:t>
            </a:r>
            <a:r>
              <a:rPr sz="1250" spc="5" dirty="0">
                <a:latin typeface="Tahoma"/>
                <a:cs typeface="Tahoma"/>
              </a:rPr>
              <a:t>i</a:t>
            </a:r>
            <a:r>
              <a:rPr sz="1250" spc="90" dirty="0">
                <a:latin typeface="Tahoma"/>
                <a:cs typeface="Tahoma"/>
              </a:rPr>
              <a:t>c</a:t>
            </a:r>
            <a:r>
              <a:rPr sz="1250" spc="-60" dirty="0">
                <a:latin typeface="Tahoma"/>
                <a:cs typeface="Tahoma"/>
              </a:rPr>
              <a:t>a</a:t>
            </a:r>
            <a:r>
              <a:rPr sz="1250" spc="55" dirty="0">
                <a:latin typeface="Tahoma"/>
                <a:cs typeface="Tahoma"/>
              </a:rPr>
              <a:t>b</a:t>
            </a:r>
            <a:r>
              <a:rPr sz="1250" spc="15" dirty="0">
                <a:latin typeface="Tahoma"/>
                <a:cs typeface="Tahoma"/>
              </a:rPr>
              <a:t>le</a:t>
            </a:r>
            <a:endParaRPr sz="1250">
              <a:latin typeface="Tahoma"/>
              <a:cs typeface="Tahoma"/>
            </a:endParaRPr>
          </a:p>
          <a:p>
            <a:pPr>
              <a:lnSpc>
                <a:spcPct val="100000"/>
              </a:lnSpc>
              <a:spcBef>
                <a:spcPts val="60"/>
              </a:spcBef>
            </a:pPr>
            <a:endParaRPr sz="1200">
              <a:latin typeface="Tahoma"/>
              <a:cs typeface="Tahoma"/>
            </a:endParaRPr>
          </a:p>
          <a:p>
            <a:pPr marL="470534" indent="-311785">
              <a:lnSpc>
                <a:spcPct val="100000"/>
              </a:lnSpc>
              <a:buChar char="●"/>
              <a:tabLst>
                <a:tab pos="469900" algn="l"/>
                <a:tab pos="470534" algn="l"/>
              </a:tabLst>
            </a:pPr>
            <a:r>
              <a:rPr sz="1250" dirty="0">
                <a:latin typeface="Tahoma"/>
                <a:cs typeface="Tahoma"/>
              </a:rPr>
              <a:t>Indicators,</a:t>
            </a:r>
            <a:r>
              <a:rPr sz="1250" spc="-15" dirty="0">
                <a:latin typeface="Tahoma"/>
                <a:cs typeface="Tahoma"/>
              </a:rPr>
              <a:t> </a:t>
            </a:r>
            <a:r>
              <a:rPr sz="1250" spc="20" dirty="0">
                <a:latin typeface="Tahoma"/>
                <a:cs typeface="Tahoma"/>
              </a:rPr>
              <a:t>trend</a:t>
            </a:r>
            <a:r>
              <a:rPr sz="1250" spc="-60" dirty="0">
                <a:latin typeface="Tahoma"/>
                <a:cs typeface="Tahoma"/>
              </a:rPr>
              <a:t> </a:t>
            </a:r>
            <a:r>
              <a:rPr sz="1250" spc="5" dirty="0">
                <a:latin typeface="Tahoma"/>
                <a:cs typeface="Tahoma"/>
              </a:rPr>
              <a:t>lines,</a:t>
            </a:r>
            <a:r>
              <a:rPr sz="1250" spc="-85" dirty="0">
                <a:latin typeface="Tahoma"/>
                <a:cs typeface="Tahoma"/>
              </a:rPr>
              <a:t> </a:t>
            </a:r>
            <a:r>
              <a:rPr sz="1250" spc="30" dirty="0">
                <a:latin typeface="Tahoma"/>
                <a:cs typeface="Tahoma"/>
              </a:rPr>
              <a:t>support</a:t>
            </a:r>
            <a:r>
              <a:rPr sz="1250" spc="-30" dirty="0">
                <a:latin typeface="Tahoma"/>
                <a:cs typeface="Tahoma"/>
              </a:rPr>
              <a:t> </a:t>
            </a:r>
            <a:r>
              <a:rPr sz="1250" spc="15" dirty="0">
                <a:latin typeface="Tahoma"/>
                <a:cs typeface="Tahoma"/>
              </a:rPr>
              <a:t>lines</a:t>
            </a:r>
            <a:endParaRPr sz="1250">
              <a:latin typeface="Tahoma"/>
              <a:cs typeface="Tahoma"/>
            </a:endParaRPr>
          </a:p>
          <a:p>
            <a:pPr marL="470534" indent="-311785">
              <a:lnSpc>
                <a:spcPct val="100000"/>
              </a:lnSpc>
              <a:spcBef>
                <a:spcPts val="305"/>
              </a:spcBef>
              <a:buChar char="●"/>
              <a:tabLst>
                <a:tab pos="469900" algn="l"/>
                <a:tab pos="470534" algn="l"/>
              </a:tabLst>
            </a:pPr>
            <a:r>
              <a:rPr sz="1250" spc="35" dirty="0">
                <a:latin typeface="Tahoma"/>
                <a:cs typeface="Tahoma"/>
              </a:rPr>
              <a:t>Fibonacci</a:t>
            </a:r>
            <a:r>
              <a:rPr sz="1250" spc="-100" dirty="0">
                <a:latin typeface="Tahoma"/>
                <a:cs typeface="Tahoma"/>
              </a:rPr>
              <a:t> </a:t>
            </a:r>
            <a:r>
              <a:rPr sz="1250" spc="5" dirty="0">
                <a:latin typeface="Tahoma"/>
                <a:cs typeface="Tahoma"/>
              </a:rPr>
              <a:t>levels,</a:t>
            </a:r>
            <a:r>
              <a:rPr sz="1250" spc="-10" dirty="0">
                <a:latin typeface="Tahoma"/>
                <a:cs typeface="Tahoma"/>
              </a:rPr>
              <a:t> </a:t>
            </a:r>
            <a:r>
              <a:rPr sz="1250" spc="20" dirty="0">
                <a:latin typeface="Tahoma"/>
                <a:cs typeface="Tahoma"/>
              </a:rPr>
              <a:t>oscillators</a:t>
            </a:r>
            <a:endParaRPr sz="1250">
              <a:latin typeface="Tahoma"/>
              <a:cs typeface="Tahoma"/>
            </a:endParaRPr>
          </a:p>
        </p:txBody>
      </p:sp>
      <p:pic>
        <p:nvPicPr>
          <p:cNvPr id="4" name="object 4"/>
          <p:cNvPicPr/>
          <p:nvPr/>
        </p:nvPicPr>
        <p:blipFill>
          <a:blip r:embed="rId2" cstate="print"/>
          <a:stretch>
            <a:fillRect/>
          </a:stretch>
        </p:blipFill>
        <p:spPr>
          <a:xfrm>
            <a:off x="8534400" y="0"/>
            <a:ext cx="542925" cy="5429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42925"/>
            <a:ext cx="678815" cy="426720"/>
          </a:xfrm>
          <a:prstGeom prst="rect">
            <a:avLst/>
          </a:prstGeom>
        </p:spPr>
        <p:txBody>
          <a:bodyPr vert="horz" wrap="square" lIns="0" tIns="16510" rIns="0" bIns="0" rtlCol="0">
            <a:spAutoFit/>
          </a:bodyPr>
          <a:lstStyle/>
          <a:p>
            <a:pPr marL="12700">
              <a:lnSpc>
                <a:spcPct val="100000"/>
              </a:lnSpc>
              <a:spcBef>
                <a:spcPts val="130"/>
              </a:spcBef>
            </a:pPr>
            <a:r>
              <a:rPr sz="2600" spc="135" dirty="0">
                <a:solidFill>
                  <a:srgbClr val="1A1A1A"/>
                </a:solidFill>
              </a:rPr>
              <a:t>R</a:t>
            </a:r>
            <a:r>
              <a:rPr sz="2600" spc="30" dirty="0">
                <a:solidFill>
                  <a:srgbClr val="1A1A1A"/>
                </a:solidFill>
              </a:rPr>
              <a:t>i</a:t>
            </a:r>
            <a:r>
              <a:rPr sz="2600" spc="15" dirty="0">
                <a:solidFill>
                  <a:srgbClr val="1A1A1A"/>
                </a:solidFill>
              </a:rPr>
              <a:t>s</a:t>
            </a:r>
            <a:r>
              <a:rPr sz="2600" spc="40" dirty="0">
                <a:solidFill>
                  <a:srgbClr val="1A1A1A"/>
                </a:solidFill>
              </a:rPr>
              <a:t>k</a:t>
            </a:r>
            <a:endParaRPr sz="2600" dirty="0"/>
          </a:p>
        </p:txBody>
      </p:sp>
      <p:pic>
        <p:nvPicPr>
          <p:cNvPr id="4" name="object 4"/>
          <p:cNvPicPr/>
          <p:nvPr/>
        </p:nvPicPr>
        <p:blipFill>
          <a:blip r:embed="rId2" cstate="print"/>
          <a:stretch>
            <a:fillRect/>
          </a:stretch>
        </p:blipFill>
        <p:spPr>
          <a:xfrm>
            <a:off x="8534400" y="0"/>
            <a:ext cx="542925" cy="542925"/>
          </a:xfrm>
          <a:prstGeom prst="rect">
            <a:avLst/>
          </a:prstGeom>
        </p:spPr>
      </p:pic>
      <p:sp>
        <p:nvSpPr>
          <p:cNvPr id="6" name="TextBox 5">
            <a:extLst>
              <a:ext uri="{FF2B5EF4-FFF2-40B4-BE49-F238E27FC236}">
                <a16:creationId xmlns:a16="http://schemas.microsoft.com/office/drawing/2014/main" id="{043A061A-278C-7A7F-4AB6-CC8B805A0106}"/>
              </a:ext>
            </a:extLst>
          </p:cNvPr>
          <p:cNvSpPr txBox="1"/>
          <p:nvPr/>
        </p:nvSpPr>
        <p:spPr>
          <a:xfrm>
            <a:off x="14416" y="1327071"/>
            <a:ext cx="8619094" cy="3816429"/>
          </a:xfrm>
          <a:prstGeom prst="rect">
            <a:avLst/>
          </a:prstGeom>
          <a:noFill/>
        </p:spPr>
        <p:txBody>
          <a:bodyPr wrap="square">
            <a:spAutoFit/>
          </a:bodyPr>
          <a:lstStyle/>
          <a:p>
            <a:r>
              <a:rPr lang="en-US" sz="1100" dirty="0"/>
              <a:t>Risks: </a:t>
            </a:r>
          </a:p>
          <a:p>
            <a:r>
              <a:rPr lang="en-US" sz="1100" b="1" dirty="0"/>
              <a:t>1)Declining Volume in Key Market:</a:t>
            </a:r>
          </a:p>
          <a:p>
            <a:r>
              <a:rPr lang="en-US" sz="1100" dirty="0"/>
              <a:t>Coca-Cola’s Q3 2024 results showed a decline in unit case volumes in major markets such as China, Mexico, and Turkey. These regions are critical for revenue growth, and consistent volume declines could signal weakening brand strength or demand saturation in those markets.</a:t>
            </a:r>
          </a:p>
          <a:p>
            <a:endParaRPr lang="en-US" sz="1100" dirty="0"/>
          </a:p>
          <a:p>
            <a:r>
              <a:rPr lang="en-US" sz="1100" b="1" dirty="0"/>
              <a:t>2)CEO Share Sale Impact on Sentiment:</a:t>
            </a:r>
          </a:p>
          <a:p>
            <a:r>
              <a:rPr lang="en-US" sz="1100" dirty="0"/>
              <a:t>CEO James Quincey’s recent sale of 100,000 shares might undermine investor confidence, especially during a period when Coca-Cola faces operational headwinds. Insider selling by the CEO is often viewed as a potential red flag for near-term stock performance, regardless of personal motives.</a:t>
            </a:r>
          </a:p>
          <a:p>
            <a:endParaRPr lang="en-US" sz="1100" dirty="0"/>
          </a:p>
          <a:p>
            <a:r>
              <a:rPr lang="en-US" sz="1100" b="1" dirty="0"/>
              <a:t>3)Growing Debt Burden:</a:t>
            </a:r>
          </a:p>
          <a:p>
            <a:r>
              <a:rPr lang="en-US" sz="1100" dirty="0"/>
              <a:t>Coca-Cola’s leverage remains high, with total debt levels increasing over the past few years. Rising interest rates globally could make refinancing debt more expensive, pressuring free cash flow and net earnings.</a:t>
            </a:r>
          </a:p>
          <a:p>
            <a:endParaRPr lang="en-US" sz="1100" dirty="0"/>
          </a:p>
          <a:p>
            <a:r>
              <a:rPr lang="en-US" sz="1100" b="1" dirty="0"/>
              <a:t>4)Overvaluation Concerns:</a:t>
            </a:r>
          </a:p>
          <a:p>
            <a:r>
              <a:rPr lang="en-US" sz="1100" dirty="0"/>
              <a:t>Coca-Cola’s high price-to-sales (P/S) ratio relative to competitors like PepsiCo makes the stock vulnerable to a correction if earnings growth slows. Investors may view Coca-Cola as overpriced, leading to reduced demand for the stock.</a:t>
            </a:r>
          </a:p>
          <a:p>
            <a:endParaRPr lang="en-US" sz="1100" dirty="0"/>
          </a:p>
          <a:p>
            <a:r>
              <a:rPr lang="en-US" sz="1100" b="1" dirty="0"/>
              <a:t>5)Other(non-relevant as Coca Cola operates so many years and faced these problems before, we invest for short-run these risks are for long-run)</a:t>
            </a:r>
          </a:p>
          <a:p>
            <a:r>
              <a:rPr lang="en-US" sz="1100" dirty="0"/>
              <a:t>Regulations about plastics-Environmental backlash </a:t>
            </a:r>
          </a:p>
          <a:p>
            <a:r>
              <a:rPr lang="en-US" sz="1100" dirty="0"/>
              <a:t>Higher taxes for sugar</a:t>
            </a:r>
          </a:p>
          <a:p>
            <a:r>
              <a:rPr lang="en-US" sz="1100" dirty="0"/>
              <a:t>Shift towards healthier options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542925"/>
            <a:ext cx="4572000" cy="391197"/>
          </a:xfrm>
          <a:prstGeom prst="rect">
            <a:avLst/>
          </a:prstGeom>
        </p:spPr>
        <p:txBody>
          <a:bodyPr vert="horz" wrap="square" lIns="0" tIns="11430" rIns="0" bIns="0" rtlCol="0">
            <a:spAutoFit/>
          </a:bodyPr>
          <a:lstStyle/>
          <a:p>
            <a:pPr marL="12700" marR="5080">
              <a:lnSpc>
                <a:spcPct val="101200"/>
              </a:lnSpc>
              <a:spcBef>
                <a:spcPts val="90"/>
              </a:spcBef>
            </a:pPr>
            <a:r>
              <a:rPr sz="2600" spc="120" dirty="0">
                <a:solidFill>
                  <a:srgbClr val="1A1A1A"/>
                </a:solidFill>
              </a:rPr>
              <a:t>P</a:t>
            </a:r>
            <a:r>
              <a:rPr sz="2600" spc="-140" dirty="0">
                <a:solidFill>
                  <a:srgbClr val="1A1A1A"/>
                </a:solidFill>
              </a:rPr>
              <a:t>r</a:t>
            </a:r>
            <a:r>
              <a:rPr sz="2600" spc="100" dirty="0">
                <a:solidFill>
                  <a:srgbClr val="1A1A1A"/>
                </a:solidFill>
              </a:rPr>
              <a:t>o</a:t>
            </a:r>
            <a:r>
              <a:rPr sz="2600" spc="130" dirty="0">
                <a:solidFill>
                  <a:srgbClr val="1A1A1A"/>
                </a:solidFill>
              </a:rPr>
              <a:t>p</a:t>
            </a:r>
            <a:r>
              <a:rPr sz="2600" spc="100" dirty="0">
                <a:solidFill>
                  <a:srgbClr val="1A1A1A"/>
                </a:solidFill>
              </a:rPr>
              <a:t>o</a:t>
            </a:r>
            <a:r>
              <a:rPr sz="2600" spc="150" dirty="0">
                <a:solidFill>
                  <a:srgbClr val="1A1A1A"/>
                </a:solidFill>
              </a:rPr>
              <a:t>s</a:t>
            </a:r>
            <a:r>
              <a:rPr sz="2600" spc="105" dirty="0">
                <a:solidFill>
                  <a:srgbClr val="1A1A1A"/>
                </a:solidFill>
              </a:rPr>
              <a:t>a</a:t>
            </a:r>
            <a:r>
              <a:rPr sz="2600" spc="65" dirty="0">
                <a:solidFill>
                  <a:srgbClr val="1A1A1A"/>
                </a:solidFill>
              </a:rPr>
              <a:t>l</a:t>
            </a:r>
            <a:r>
              <a:rPr sz="2600" spc="-195" dirty="0">
                <a:solidFill>
                  <a:srgbClr val="1A1A1A"/>
                </a:solidFill>
              </a:rPr>
              <a:t> </a:t>
            </a:r>
            <a:r>
              <a:rPr sz="2600" spc="105" dirty="0">
                <a:solidFill>
                  <a:srgbClr val="1A1A1A"/>
                </a:solidFill>
              </a:rPr>
              <a:t>a</a:t>
            </a:r>
            <a:r>
              <a:rPr sz="2600" spc="35" dirty="0">
                <a:solidFill>
                  <a:srgbClr val="1A1A1A"/>
                </a:solidFill>
              </a:rPr>
              <a:t>n</a:t>
            </a:r>
            <a:r>
              <a:rPr sz="2600" spc="185" dirty="0">
                <a:solidFill>
                  <a:srgbClr val="1A1A1A"/>
                </a:solidFill>
              </a:rPr>
              <a:t>d</a:t>
            </a:r>
            <a:r>
              <a:rPr sz="2600" spc="-155" dirty="0">
                <a:solidFill>
                  <a:srgbClr val="1A1A1A"/>
                </a:solidFill>
              </a:rPr>
              <a:t> </a:t>
            </a:r>
            <a:r>
              <a:rPr sz="2600" spc="30" dirty="0">
                <a:solidFill>
                  <a:srgbClr val="1A1A1A"/>
                </a:solidFill>
              </a:rPr>
              <a:t>E</a:t>
            </a:r>
            <a:r>
              <a:rPr sz="2600" spc="-25" dirty="0">
                <a:solidFill>
                  <a:srgbClr val="1A1A1A"/>
                </a:solidFill>
              </a:rPr>
              <a:t>x</a:t>
            </a:r>
            <a:r>
              <a:rPr sz="2600" spc="-60" dirty="0">
                <a:solidFill>
                  <a:srgbClr val="1A1A1A"/>
                </a:solidFill>
              </a:rPr>
              <a:t>it  </a:t>
            </a:r>
            <a:r>
              <a:rPr sz="2600" spc="70" dirty="0">
                <a:solidFill>
                  <a:srgbClr val="1A1A1A"/>
                </a:solidFill>
              </a:rPr>
              <a:t>strategy</a:t>
            </a:r>
            <a:endParaRPr sz="2600" dirty="0"/>
          </a:p>
        </p:txBody>
      </p:sp>
      <p:pic>
        <p:nvPicPr>
          <p:cNvPr id="4" name="object 4"/>
          <p:cNvPicPr/>
          <p:nvPr/>
        </p:nvPicPr>
        <p:blipFill>
          <a:blip r:embed="rId2" cstate="print"/>
          <a:stretch>
            <a:fillRect/>
          </a:stretch>
        </p:blipFill>
        <p:spPr>
          <a:xfrm>
            <a:off x="8534400" y="0"/>
            <a:ext cx="542925" cy="542925"/>
          </a:xfrm>
          <a:prstGeom prst="rect">
            <a:avLst/>
          </a:prstGeom>
        </p:spPr>
      </p:pic>
      <p:sp>
        <p:nvSpPr>
          <p:cNvPr id="6" name="TextBox 5">
            <a:extLst>
              <a:ext uri="{FF2B5EF4-FFF2-40B4-BE49-F238E27FC236}">
                <a16:creationId xmlns:a16="http://schemas.microsoft.com/office/drawing/2014/main" id="{8EA5F48C-A0FE-F304-92A4-F5CAC372616F}"/>
              </a:ext>
            </a:extLst>
          </p:cNvPr>
          <p:cNvSpPr txBox="1"/>
          <p:nvPr/>
        </p:nvSpPr>
        <p:spPr>
          <a:xfrm>
            <a:off x="533400" y="1504950"/>
            <a:ext cx="7924800" cy="2554545"/>
          </a:xfrm>
          <a:prstGeom prst="rect">
            <a:avLst/>
          </a:prstGeom>
          <a:noFill/>
        </p:spPr>
        <p:txBody>
          <a:bodyPr wrap="square">
            <a:spAutoFit/>
          </a:bodyPr>
          <a:lstStyle/>
          <a:p>
            <a:r>
              <a:rPr lang="en-US" sz="1000" dirty="0"/>
              <a:t>Analysts forecast moderate price appreciation, with Coca-Cola having a price target of $72.36, suggesting a 15% upside. Coca-Cola’s Q4 2024 earnings report is scheduled for February 2025. As for Q1 2025, the earnings report is anticipated to be released in April 2025. The 2025 first dividend payment will likely take place around April 2025 . These reports and the dividend payments are key events that can impact the stock price. </a:t>
            </a:r>
          </a:p>
          <a:p>
            <a:r>
              <a:rPr lang="en-US" sz="1000" dirty="0"/>
              <a:t>We are considering an exit strategy that we hold the stock through the Q4 report to capture any earnings momentum, and then consider exiting before or after the Q1 earnings in April—especially if the market is likely to price in strong performance and favorable guidance for the full year.</a:t>
            </a:r>
          </a:p>
          <a:p>
            <a:endParaRPr lang="en-US" sz="1000" dirty="0"/>
          </a:p>
          <a:p>
            <a:r>
              <a:rPr lang="en-US" sz="1000" dirty="0"/>
              <a:t>Proposal:</a:t>
            </a:r>
          </a:p>
          <a:p>
            <a:r>
              <a:rPr lang="en-US" sz="1000" b="1" dirty="0"/>
              <a:t>Buy on 17th of December, the day after the dividend payment when the price is going to be low as many investors sell the stock.</a:t>
            </a:r>
          </a:p>
          <a:p>
            <a:endParaRPr lang="en-US" sz="1000" dirty="0"/>
          </a:p>
          <a:p>
            <a:r>
              <a:rPr lang="en-US" sz="1000" dirty="0"/>
              <a:t>Sell: </a:t>
            </a:r>
          </a:p>
          <a:p>
            <a:r>
              <a:rPr lang="en-US" sz="1000" dirty="0"/>
              <a:t>	1.	On February 2025, before or after the Q4 2024 Earnings as the price of the stock will be high.</a:t>
            </a:r>
          </a:p>
          <a:p>
            <a:r>
              <a:rPr lang="en-US" sz="1000" dirty="0"/>
              <a:t>	2.	If the price hits 73$.</a:t>
            </a:r>
          </a:p>
          <a:p>
            <a:r>
              <a:rPr lang="en-US" sz="1000" dirty="0"/>
              <a:t>	3.	On April 2025, after the Q1 2025 Earnings and the dividend payment, as the price of the stock will be high.</a:t>
            </a:r>
          </a:p>
          <a:p>
            <a:endParaRPr lang="en-US" sz="1000" dirty="0"/>
          </a:p>
          <a:p>
            <a:r>
              <a:rPr lang="en-US" sz="1000" dirty="0"/>
              <a:t>Invest:</a:t>
            </a:r>
          </a:p>
          <a:p>
            <a:r>
              <a:rPr lang="en-US" sz="1000" dirty="0"/>
              <a:t>Invest (15%)20% of our portfolio, selling (5%)10% when it achieves 10% growth, and holding the remaining 10% until exit date.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143500"/>
            <a:chOff x="0" y="0"/>
            <a:chExt cx="9144000" cy="5143500"/>
          </a:xfrm>
        </p:grpSpPr>
        <p:pic>
          <p:nvPicPr>
            <p:cNvPr id="3" name="object 3"/>
            <p:cNvPicPr/>
            <p:nvPr/>
          </p:nvPicPr>
          <p:blipFill>
            <a:blip r:embed="rId2" cstate="print"/>
            <a:stretch>
              <a:fillRect/>
            </a:stretch>
          </p:blipFill>
          <p:spPr>
            <a:xfrm>
              <a:off x="0" y="485774"/>
              <a:ext cx="9144000" cy="4657725"/>
            </a:xfrm>
            <a:prstGeom prst="rect">
              <a:avLst/>
            </a:prstGeom>
          </p:spPr>
        </p:pic>
        <p:sp>
          <p:nvSpPr>
            <p:cNvPr id="4" name="object 4"/>
            <p:cNvSpPr/>
            <p:nvPr/>
          </p:nvSpPr>
          <p:spPr>
            <a:xfrm>
              <a:off x="0" y="0"/>
              <a:ext cx="9144000" cy="485775"/>
            </a:xfrm>
            <a:custGeom>
              <a:avLst/>
              <a:gdLst/>
              <a:ahLst/>
              <a:cxnLst/>
              <a:rect l="l" t="t" r="r" b="b"/>
              <a:pathLst>
                <a:path w="9144000" h="485775">
                  <a:moveTo>
                    <a:pt x="9144000" y="0"/>
                  </a:moveTo>
                  <a:lnTo>
                    <a:pt x="0" y="0"/>
                  </a:lnTo>
                  <a:lnTo>
                    <a:pt x="0" y="485775"/>
                  </a:lnTo>
                  <a:lnTo>
                    <a:pt x="9144000" y="485775"/>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1200150" y="1190625"/>
              <a:ext cx="371475" cy="47625"/>
            </a:xfrm>
            <a:custGeom>
              <a:avLst/>
              <a:gdLst/>
              <a:ahLst/>
              <a:cxnLst/>
              <a:rect l="l" t="t" r="r" b="b"/>
              <a:pathLst>
                <a:path w="371475" h="47625">
                  <a:moveTo>
                    <a:pt x="371475" y="0"/>
                  </a:moveTo>
                  <a:lnTo>
                    <a:pt x="0" y="0"/>
                  </a:lnTo>
                  <a:lnTo>
                    <a:pt x="0" y="47625"/>
                  </a:lnTo>
                  <a:lnTo>
                    <a:pt x="371475" y="47625"/>
                  </a:lnTo>
                  <a:lnTo>
                    <a:pt x="371475" y="0"/>
                  </a:lnTo>
                  <a:close/>
                </a:path>
              </a:pathLst>
            </a:custGeom>
            <a:solidFill>
              <a:srgbClr val="EB5500"/>
            </a:solidFill>
          </p:spPr>
          <p:txBody>
            <a:bodyPr wrap="square" lIns="0" tIns="0" rIns="0" bIns="0" rtlCol="0"/>
            <a:lstStyle/>
            <a:p>
              <a:endParaRPr/>
            </a:p>
          </p:txBody>
        </p:sp>
        <p:sp>
          <p:nvSpPr>
            <p:cNvPr id="6" name="object 6"/>
            <p:cNvSpPr/>
            <p:nvPr/>
          </p:nvSpPr>
          <p:spPr>
            <a:xfrm>
              <a:off x="828675" y="1190625"/>
              <a:ext cx="381000" cy="47625"/>
            </a:xfrm>
            <a:custGeom>
              <a:avLst/>
              <a:gdLst/>
              <a:ahLst/>
              <a:cxnLst/>
              <a:rect l="l" t="t" r="r" b="b"/>
              <a:pathLst>
                <a:path w="381000" h="47625">
                  <a:moveTo>
                    <a:pt x="381000" y="0"/>
                  </a:moveTo>
                  <a:lnTo>
                    <a:pt x="0" y="0"/>
                  </a:lnTo>
                  <a:lnTo>
                    <a:pt x="0" y="47625"/>
                  </a:lnTo>
                  <a:lnTo>
                    <a:pt x="381000" y="47625"/>
                  </a:lnTo>
                  <a:lnTo>
                    <a:pt x="381000" y="0"/>
                  </a:lnTo>
                  <a:close/>
                </a:path>
              </a:pathLst>
            </a:custGeom>
            <a:solidFill>
              <a:srgbClr val="1A9987"/>
            </a:solidFill>
          </p:spPr>
          <p:txBody>
            <a:bodyPr wrap="square" lIns="0" tIns="0" rIns="0" bIns="0" rtlCol="0"/>
            <a:lstStyle/>
            <a:p>
              <a:endParaRPr/>
            </a:p>
          </p:txBody>
        </p:sp>
        <p:sp>
          <p:nvSpPr>
            <p:cNvPr id="7" name="object 7"/>
            <p:cNvSpPr/>
            <p:nvPr/>
          </p:nvSpPr>
          <p:spPr>
            <a:xfrm>
              <a:off x="8605901" y="223900"/>
              <a:ext cx="216535" cy="66675"/>
            </a:xfrm>
            <a:custGeom>
              <a:avLst/>
              <a:gdLst/>
              <a:ahLst/>
              <a:cxnLst/>
              <a:rect l="l" t="t" r="r" b="b"/>
              <a:pathLst>
                <a:path w="216534" h="66675">
                  <a:moveTo>
                    <a:pt x="0" y="0"/>
                  </a:moveTo>
                  <a:lnTo>
                    <a:pt x="216280" y="0"/>
                  </a:lnTo>
                </a:path>
                <a:path w="216534" h="66675">
                  <a:moveTo>
                    <a:pt x="0" y="28575"/>
                  </a:moveTo>
                  <a:lnTo>
                    <a:pt x="216280" y="28575"/>
                  </a:lnTo>
                </a:path>
                <a:path w="216534" h="66675">
                  <a:moveTo>
                    <a:pt x="0" y="66675"/>
                  </a:moveTo>
                  <a:lnTo>
                    <a:pt x="216280" y="66675"/>
                  </a:lnTo>
                </a:path>
              </a:pathLst>
            </a:custGeom>
            <a:ln w="9525">
              <a:solidFill>
                <a:srgbClr val="B7B7B7"/>
              </a:solidFill>
            </a:ln>
          </p:spPr>
          <p:txBody>
            <a:bodyPr wrap="square" lIns="0" tIns="0" rIns="0" bIns="0" rtlCol="0"/>
            <a:lstStyle/>
            <a:p>
              <a:endParaRPr/>
            </a:p>
          </p:txBody>
        </p:sp>
      </p:grpSp>
      <p:sp>
        <p:nvSpPr>
          <p:cNvPr id="8" name="object 8"/>
          <p:cNvSpPr txBox="1">
            <a:spLocks noGrp="1"/>
          </p:cNvSpPr>
          <p:nvPr>
            <p:ph type="title"/>
          </p:nvPr>
        </p:nvSpPr>
        <p:spPr>
          <a:xfrm>
            <a:off x="808990" y="1375346"/>
            <a:ext cx="3193415" cy="758190"/>
          </a:xfrm>
          <a:prstGeom prst="rect">
            <a:avLst/>
          </a:prstGeom>
        </p:spPr>
        <p:txBody>
          <a:bodyPr vert="horz" wrap="square" lIns="0" tIns="13335" rIns="0" bIns="0" rtlCol="0">
            <a:spAutoFit/>
          </a:bodyPr>
          <a:lstStyle/>
          <a:p>
            <a:pPr marL="12700">
              <a:lnSpc>
                <a:spcPct val="100000"/>
              </a:lnSpc>
              <a:spcBef>
                <a:spcPts val="105"/>
              </a:spcBef>
            </a:pPr>
            <a:r>
              <a:rPr spc="55" dirty="0"/>
              <a:t>T</a:t>
            </a:r>
            <a:r>
              <a:rPr dirty="0"/>
              <a:t>h</a:t>
            </a:r>
            <a:r>
              <a:rPr spc="210" dirty="0"/>
              <a:t>a</a:t>
            </a:r>
            <a:r>
              <a:rPr spc="85" dirty="0"/>
              <a:t>n</a:t>
            </a:r>
            <a:r>
              <a:rPr spc="50" dirty="0"/>
              <a:t>k</a:t>
            </a:r>
            <a:r>
              <a:rPr spc="-305" dirty="0"/>
              <a:t> </a:t>
            </a:r>
            <a:r>
              <a:rPr spc="65" dirty="0"/>
              <a:t>y</a:t>
            </a:r>
            <a:r>
              <a:rPr spc="160" dirty="0"/>
              <a:t>o</a:t>
            </a:r>
            <a:r>
              <a:rPr spc="135" dirty="0"/>
              <a:t>u</a:t>
            </a:r>
            <a:r>
              <a:rPr spc="-68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C367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TotalTime>
  <Words>1451</Words>
  <Application>Microsoft Macintosh PowerPoint</Application>
  <PresentationFormat>On-screen Show (16:9)</PresentationFormat>
  <Paragraphs>139</Paragraphs>
  <Slides>12</Slides>
  <Notes>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MT</vt:lpstr>
      <vt:lpstr>Calibri</vt:lpstr>
      <vt:lpstr>Tahoma</vt:lpstr>
      <vt:lpstr>Trebuchet MS</vt:lpstr>
      <vt:lpstr>Office Theme</vt:lpstr>
      <vt:lpstr>Coca Cola Company</vt:lpstr>
      <vt:lpstr>General, relevant market information</vt:lpstr>
      <vt:lpstr>Business overview</vt:lpstr>
      <vt:lpstr>SWOT</vt:lpstr>
      <vt:lpstr>Industry Performance</vt:lpstr>
      <vt:lpstr>Fundamentals</vt:lpstr>
      <vt:lpstr>Discounted cash flow model</vt:lpstr>
      <vt:lpstr>Comparables</vt:lpstr>
      <vt:lpstr>Technical Analysis</vt:lpstr>
      <vt:lpstr>Risk</vt:lpstr>
      <vt:lpstr>Proposal and Exit  strategy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Coca Cola Company</dc:title>
  <cp:lastModifiedBy>Rafid Mantari</cp:lastModifiedBy>
  <cp:revision>1</cp:revision>
  <dcterms:created xsi:type="dcterms:W3CDTF">2024-12-11T17:40:41Z</dcterms:created>
  <dcterms:modified xsi:type="dcterms:W3CDTF">2024-12-11T18:11:49Z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2024-11-27T00:00:00Z</vt:filetime>
  </property>
  <property fmtid="{D5CDD505-2E9C-101B-9397-08002B2CF9AE}" pid="3" name="LastSaved">
    <vt:filetime>2024-12-11T00:00:00Z</vt:filetime>
  </property>
</Properties>
</file>