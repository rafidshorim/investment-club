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1"/>
  </p:notesMasterIdLst>
  <p:sldIdLst>
    <p:sldId id="256" r:id="rId2"/>
    <p:sldId id="257" r:id="rId3"/>
    <p:sldId id="258" r:id="rId4"/>
    <p:sldId id="267" r:id="rId5"/>
    <p:sldId id="259" r:id="rId6"/>
    <p:sldId id="260" r:id="rId7"/>
    <p:sldId id="264" r:id="rId8"/>
    <p:sldId id="265" r:id="rId9"/>
    <p:sldId id="266" r:id="rId10"/>
  </p:sldIdLst>
  <p:sldSz cx="9144000" cy="5143500" type="screen16x9"/>
  <p:notesSz cx="6858000" cy="9144000"/>
  <p:embeddedFontLst>
    <p:embeddedFont>
      <p:font typeface="Lato" panose="020F0502020204030203" pitchFamily="34" charset="0"/>
      <p:regular r:id="rId12"/>
      <p:bold r:id="rId13"/>
      <p:italic r:id="rId14"/>
      <p:boldItalic r:id="rId15"/>
    </p:embeddedFont>
    <p:embeddedFont>
      <p:font typeface="Raleway" pitchFamily="2" charset="77"/>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723"/>
  </p:normalViewPr>
  <p:slideViewPr>
    <p:cSldViewPr snapToGrid="0">
      <p:cViewPr varScale="1">
        <p:scale>
          <a:sx n="163" d="100"/>
          <a:sy n="163" d="100"/>
        </p:scale>
        <p:origin x="520" y="9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61ff2a8e4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61ff2a8e4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607323dd88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607323dd88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607323dd88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607323dd88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3797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607323dd88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607323dd88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607323dd88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607323dd88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2607323dd88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2607323dd88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607323dd88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607323dd88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f88252dc4_0_15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f88252dc4_0_1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_alt1">
  <p:cSld name="TITLE_1">
    <p:bg>
      <p:bgPr>
        <a:solidFill>
          <a:schemeClr val="lt2"/>
        </a:solidFill>
        <a:effectLst/>
      </p:bgPr>
    </p:bg>
    <p:spTree>
      <p:nvGrpSpPr>
        <p:cNvPr id="1" name="Shape 82"/>
        <p:cNvGrpSpPr/>
        <p:nvPr/>
      </p:nvGrpSpPr>
      <p:grpSpPr>
        <a:xfrm>
          <a:off x="0" y="0"/>
          <a:ext cx="0" cy="0"/>
          <a:chOff x="0" y="0"/>
          <a:chExt cx="0" cy="0"/>
        </a:xfrm>
      </p:grpSpPr>
      <p:pic>
        <p:nvPicPr>
          <p:cNvPr id="83" name="Google Shape;83;p13" descr="shutterstock_429987889_edited.jpg"/>
          <p:cNvPicPr preferRelativeResize="0"/>
          <p:nvPr/>
        </p:nvPicPr>
        <p:blipFill rotWithShape="1">
          <a:blip r:embed="rId2">
            <a:alphaModFix/>
          </a:blip>
          <a:srcRect t="21799" b="23591"/>
          <a:stretch/>
        </p:blipFill>
        <p:spPr>
          <a:xfrm>
            <a:off x="0" y="487825"/>
            <a:ext cx="9144000" cy="4655676"/>
          </a:xfrm>
          <a:prstGeom prst="rect">
            <a:avLst/>
          </a:prstGeom>
          <a:noFill/>
          <a:ln>
            <a:noFill/>
          </a:ln>
        </p:spPr>
      </p:pic>
      <p:sp>
        <p:nvSpPr>
          <p:cNvPr id="84" name="Google Shape;84;p13"/>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13"/>
          <p:cNvGrpSpPr/>
          <p:nvPr/>
        </p:nvGrpSpPr>
        <p:grpSpPr>
          <a:xfrm>
            <a:off x="830392" y="1191256"/>
            <a:ext cx="745763" cy="45826"/>
            <a:chOff x="4580561" y="2589004"/>
            <a:chExt cx="1064464" cy="25200"/>
          </a:xfrm>
        </p:grpSpPr>
        <p:sp>
          <p:nvSpPr>
            <p:cNvPr id="86" name="Google Shape;86;p1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a:endParaRPr/>
          </a:p>
        </p:txBody>
      </p:sp>
      <p:sp>
        <p:nvSpPr>
          <p:cNvPr id="89" name="Google Shape;89;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90" name="Google Shape;90;p1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
        <p:nvSpPr>
          <p:cNvPr id="91" name="Google Shape;91;p13">
            <a:hlinkClick r:id="" action="ppaction://noaction"/>
          </p:cNvPr>
          <p:cNvSpPr/>
          <p:nvPr/>
        </p:nvSpPr>
        <p:spPr>
          <a:xfrm>
            <a:off x="8280450" y="0"/>
            <a:ext cx="863400" cy="4542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13">
            <a:hlinkClick r:id="" action="ppaction://noaction"/>
          </p:cNvPr>
          <p:cNvCxnSpPr/>
          <p:nvPr/>
        </p:nvCxnSpPr>
        <p:spPr>
          <a:xfrm>
            <a:off x="8598817" y="216350"/>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93" name="Google Shape;93;p13">
            <a:hlinkClick r:id="" action="ppaction://noaction"/>
          </p:cNvPr>
          <p:cNvCxnSpPr/>
          <p:nvPr/>
        </p:nvCxnSpPr>
        <p:spPr>
          <a:xfrm>
            <a:off x="8598817" y="250138"/>
            <a:ext cx="216300" cy="0"/>
          </a:xfrm>
          <a:prstGeom prst="straightConnector1">
            <a:avLst/>
          </a:prstGeom>
          <a:noFill/>
          <a:ln w="9525" cap="flat" cmpd="sng">
            <a:solidFill>
              <a:srgbClr val="B7B7B7"/>
            </a:solidFill>
            <a:prstDash val="solid"/>
            <a:round/>
            <a:headEnd type="none" w="med" len="med"/>
            <a:tailEnd type="none" w="med" len="med"/>
          </a:ln>
        </p:spPr>
      </p:cxnSp>
      <p:cxnSp>
        <p:nvCxnSpPr>
          <p:cNvPr id="94" name="Google Shape;94;p13">
            <a:hlinkClick r:id="" action="ppaction://noaction"/>
          </p:cNvPr>
          <p:cNvCxnSpPr/>
          <p:nvPr/>
        </p:nvCxnSpPr>
        <p:spPr>
          <a:xfrm>
            <a:off x="8598817" y="283925"/>
            <a:ext cx="216300" cy="0"/>
          </a:xfrm>
          <a:prstGeom prst="straightConnector1">
            <a:avLst/>
          </a:prstGeom>
          <a:noFill/>
          <a:ln w="9525" cap="flat" cmpd="sng">
            <a:solidFill>
              <a:srgbClr val="B7B7B7"/>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hyperlink" Target="https://www.reuters.com/business/finance/jpmorgan-profit-jumps-dealmakers-traders-ride-market-rebound-2025-01-15/#:~:text=The%20financial%20industry%20may%20benefit,capital%20rules%20and%20merger%20approvals" TargetMode="External"/><Relationship Id="rId3" Type="http://schemas.openxmlformats.org/officeDocument/2006/relationships/hyperlink" Target="https://www.tradingview.com/news/invezz:fa09b09a9094b:0-from-powell-to-policy-wall-street-grapples-with-tariffs-tech-risks-after-fed-s-signals/#:~:text=After%20an%20initial%20wave%20of,perhaps%20overhyped%2C%20artificial%20intelligence%20sector" TargetMode="External"/><Relationship Id="rId7" Type="http://schemas.openxmlformats.org/officeDocument/2006/relationships/hyperlink" Target="https://www.tradingview.com/news/invezz:fa09b09a9094b:0-from-powell-to-policy-wall-street-grapples-with-tariffs-tech-risks-after-fed-s-signals/#:~:text=The%20overall%20fear%20is%20that,slow%20down%20overall%20economic%20activity"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www.tradingview.com/news/invezz:fa09b09a9094b:0-from-powell-to-policy-wall-street-grapples-with-tariffs-tech-risks-after-fed-s-signals/#:~:text=Dennis%20Debusschere%2C%20president%20of%2022V,the%20possibility%20of%20reciprocal%20duties" TargetMode="External"/><Relationship Id="rId5" Type="http://schemas.openxmlformats.org/officeDocument/2006/relationships/hyperlink" Target="https://finance.yahoo.com/news/p-500-banks-perform-well-165400035.html#:~:text=Considering%20finance,M%26A%20activity%20and%20economic%20optimism" TargetMode="External"/><Relationship Id="rId4" Type="http://schemas.openxmlformats.org/officeDocument/2006/relationships/hyperlink" Target="https://www.tradingview.com/news/invezz:fa09b09a9094b:0-from-powell-to-policy-wall-street-grapples-with-tariffs-tech-risks-after-fed-s-signals/#:~:text=AI%3A%20boom%20or%20bubble%3F" TargetMode="Externa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businesswire.com/news/home/20250114242251/en/JPMorganChase-Reports-Fourth-Quarter-and-Full-Year-2024-Financial-Results#:~:text=JPMorgan%20Chase%20%26%20Co,is%20available%20at" TargetMode="External"/><Relationship Id="rId7" Type="http://schemas.openxmlformats.org/officeDocument/2006/relationships/hyperlink" Target="https://www.jpmorganchase.com/ir/news/2023/jpmc-acquires-substantial-majority-of-assets-and-assumes-certain-liabilities-of-first-republic-bank#:~:text=%2A%20%C2%A0Recognize%20an%20upfront%2C%20one,and%20maintain%20healthy%20liquidity%20buffers"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hyperlink" Target="https://www.biz.uiowa.edu/henry/download/s24_JPM.pdf#:~:text=Risks%20to%20Thesis%20%E2%80%A2%20JPM,rates%20for%20an%20extended%20period" TargetMode="External"/><Relationship Id="rId5" Type="http://schemas.openxmlformats.org/officeDocument/2006/relationships/hyperlink" Target="https://www.businesswire.com/news/home/20250114242251/en/JPMorganChase-Reports-Fourth-Quarter-and-Full-Year-2024-Financial-Results#:~:text=had%20%244,is%20available%20at" TargetMode="External"/><Relationship Id="rId4" Type="http://schemas.openxmlformats.org/officeDocument/2006/relationships/hyperlink" Target="https://www.biz.uiowa.edu/henry/download/s24_JPM.pdf#:~:text=JPMorgan%20Chase%20%26%20Co,Morgan%20operates%20in%20over%20100"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jpmorganchase.com/ir/news/2023/jpmc-acquires-substantial-majority-of-assets-and-assumes-certain-liabilities-of-first-republic-bank#:~:text=%2A%20%C2%A0Recognize%20an%20upfront%2C%20one,and%20maintain%20healthy%20liquidity%20buffers" TargetMode="External"/><Relationship Id="rId3" Type="http://schemas.openxmlformats.org/officeDocument/2006/relationships/image" Target="../media/image3.png"/><Relationship Id="rId7" Type="http://schemas.openxmlformats.org/officeDocument/2006/relationships/hyperlink" Target="https://www.reuters.com/business/finance/jpmorgan-profit-jumps-dealmakers-traders-ride-market-rebound-2025-01-15/#:~:text=The%20financial%20industry%20may%20benefit,capital%20rules%20and%20merger%20approval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hyperlink" Target="https://www.biz.uiowa.edu/henry/download/s24_JPM.pdf#:~:text=JPM,expected%20to%20slow%20to%202" TargetMode="External"/><Relationship Id="rId5" Type="http://schemas.openxmlformats.org/officeDocument/2006/relationships/hyperlink" Target="https://www.jpmorganchase.com/content/dam/jpmc/jpmorgan-chase-and-co/investor-relations/documents/quarterly-earnings/2024/4th-quarter/36b3c0a4-3ecd-422e-8167-0a31372f3438.pdf#:~:text=regulation%20should%20be%20designed%20to,%E2%80%9D" TargetMode="External"/><Relationship Id="rId4" Type="http://schemas.openxmlformats.org/officeDocument/2006/relationships/hyperlink" Target="https://www.biz.uiowa.edu/henry/download/s24_JPM.pdf#:~:text=Risks%20to%20Thesis%20%E2%80%A2%20JPM,rates%20for%20an%20extended%20period" TargetMode="External"/><Relationship Id="rId9" Type="http://schemas.openxmlformats.org/officeDocument/2006/relationships/hyperlink" Target="https://www.tradingview.com/news/invezz:fa09b09a9094b:0-from-powell-to-policy-wall-street-grapples-with-tariffs-tech-risks-after-fed-s-signals/#:~:text=The%20overall%20fear%20is%20that,slow%20down%20overall%20economic%20activit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jpmorganchase.com/content/dam/jpmc/jpmorgan-chase-and-co/investor-relations/documents/quarterly-earnings/2024/4th-quarter/36b3c0a4-3ecd-422e-8167-0a31372f3438.pdf#:~:text=4Q24%20ROE%2019,YoY"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hyperlink" Target="https://www.reuters.com/business/finance/us-banking-behemoths-attract-flood-deposits-after-svb-collapse-sources-2023-03-14/#:~:text=NEW%20YORK%2C%20March%2014%20,familiar%20with%20the%20matter%20said" TargetMode="External"/><Relationship Id="rId5" Type="http://schemas.openxmlformats.org/officeDocument/2006/relationships/hyperlink" Target="https://www.biz.uiowa.edu/henry/download/s24_JPM.pdf#:~:text=JPM,expected%20to%20slow%20to%202" TargetMode="External"/><Relationship Id="rId4" Type="http://schemas.openxmlformats.org/officeDocument/2006/relationships/hyperlink" Target="https://www.businesswire.com/news/home/20250114242251/en/JPMorganChase-Reports-Fourth-Quarter-and-Full-Year-2024-Financial-Results#:~:text=JPMorgan%20Chase%20%26%20Co,is%20available%20a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1026" name="Picture 2" descr="Download JPMorgan Chase Logo in SVG Vector or PNG File Format - Logo.wine">
            <a:extLst>
              <a:ext uri="{FF2B5EF4-FFF2-40B4-BE49-F238E27FC236}">
                <a16:creationId xmlns:a16="http://schemas.microsoft.com/office/drawing/2014/main" id="{E33CB954-2995-3222-AEF2-AAD1B63D3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48" y="-807410"/>
            <a:ext cx="7715250" cy="5143500"/>
          </a:xfrm>
          <a:prstGeom prst="rect">
            <a:avLst/>
          </a:prstGeom>
          <a:noFill/>
          <a:extLst>
            <a:ext uri="{909E8E84-426E-40DD-AFC4-6F175D3DCCD1}">
              <a14:hiddenFill xmlns:a14="http://schemas.microsoft.com/office/drawing/2010/main">
                <a:solidFill>
                  <a:srgbClr val="FFFFFF"/>
                </a:solidFill>
              </a14:hiddenFill>
            </a:ext>
          </a:extLst>
        </p:spPr>
      </p:pic>
      <p:sp>
        <p:nvSpPr>
          <p:cNvPr id="100" name="Google Shape;100;p1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b="1" dirty="0"/>
              <a:t>Group name: Team 2</a:t>
            </a:r>
            <a:endParaRPr sz="1400" b="1" dirty="0"/>
          </a:p>
        </p:txBody>
      </p:sp>
      <p:pic>
        <p:nvPicPr>
          <p:cNvPr id="101" name="Google Shape;101;p14"/>
          <p:cNvPicPr preferRelativeResize="0"/>
          <p:nvPr/>
        </p:nvPicPr>
        <p:blipFill>
          <a:blip r:embed="rId4">
            <a:alphaModFix/>
          </a:blip>
          <a:stretch>
            <a:fillRect/>
          </a:stretch>
        </p:blipFill>
        <p:spPr>
          <a:xfrm>
            <a:off x="8532500" y="0"/>
            <a:ext cx="541200" cy="541200"/>
          </a:xfrm>
          <a:prstGeom prst="rect">
            <a:avLst/>
          </a:prstGeom>
          <a:noFill/>
          <a:ln>
            <a:noFill/>
          </a:ln>
        </p:spPr>
      </p:pic>
      <p:pic>
        <p:nvPicPr>
          <p:cNvPr id="2" name="Picture 2" descr="Download JPMorgan Chase Logo in SVG Vector or PNG File Format - Logo.wine">
            <a:extLst>
              <a:ext uri="{FF2B5EF4-FFF2-40B4-BE49-F238E27FC236}">
                <a16:creationId xmlns:a16="http://schemas.microsoft.com/office/drawing/2014/main" id="{501D9D17-A572-EC6A-B49A-C2DE63027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48" y="-799595"/>
            <a:ext cx="7715250"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721225" y="656430"/>
            <a:ext cx="6676200" cy="562771"/>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General, relevant market information </a:t>
            </a:r>
            <a:endParaRPr dirty="0"/>
          </a:p>
        </p:txBody>
      </p:sp>
      <p:sp>
        <p:nvSpPr>
          <p:cNvPr id="107" name="Google Shape;107;p15"/>
          <p:cNvSpPr txBox="1">
            <a:spLocks noGrp="1"/>
          </p:cNvSpPr>
          <p:nvPr>
            <p:ph type="body" idx="1"/>
          </p:nvPr>
        </p:nvSpPr>
        <p:spPr>
          <a:xfrm>
            <a:off x="721224" y="1219201"/>
            <a:ext cx="7687052" cy="3924299"/>
          </a:xfrm>
          <a:prstGeom prst="rect">
            <a:avLst/>
          </a:prstGeom>
        </p:spPr>
        <p:txBody>
          <a:bodyPr spcFirstLastPara="1" wrap="square" lIns="91425" tIns="91425" rIns="91425" bIns="91425" anchor="t" anchorCtr="0">
            <a:normAutofit fontScale="77500" lnSpcReduction="20000"/>
          </a:bodyPr>
          <a:lstStyle/>
          <a:p>
            <a:r>
              <a:rPr lang="en-ID" b="1" dirty="0"/>
              <a:t>Economic Backdrop:</a:t>
            </a:r>
            <a:r>
              <a:rPr lang="en-ID" dirty="0"/>
              <a:t> U.S. inflation is hovering around ~3% (annual CPI) – still above the Fed’s 2% goal but easing from 2024 levels. Unemployment remains low ~4.1%, reflecting a resilient </a:t>
            </a:r>
            <a:r>
              <a:rPr lang="en-ID" dirty="0" err="1"/>
              <a:t>labor</a:t>
            </a:r>
            <a:r>
              <a:rPr lang="en-ID" dirty="0"/>
              <a:t> market. The Federal Reserve has paused its interest rate hikes, holding the fed funds rate ~4.5% after a series of late-2024 cuts, </a:t>
            </a:r>
            <a:r>
              <a:rPr lang="en-ID" b="1" dirty="0">
                <a:highlight>
                  <a:srgbClr val="FFFF00"/>
                </a:highlight>
              </a:rPr>
              <a:t>with markets expecting potential rate reductions later in 2025 if inflation trends downward.</a:t>
            </a:r>
          </a:p>
          <a:p>
            <a:pPr marL="146050" indent="0">
              <a:buNone/>
            </a:pPr>
            <a:endParaRPr lang="en-ID" dirty="0"/>
          </a:p>
          <a:p>
            <a:r>
              <a:rPr lang="en-ID" b="1" dirty="0"/>
              <a:t>Market Sentiment:</a:t>
            </a:r>
            <a:r>
              <a:rPr lang="en-ID" dirty="0"/>
              <a:t> 2024 was a banner year for equities, with financial stocks up over 30% (outpacing the S&amp;P 500 by ~5%) on post-election optimism. </a:t>
            </a:r>
            <a:r>
              <a:rPr lang="en-ID" b="1" dirty="0">
                <a:highlight>
                  <a:srgbClr val="FFFF00"/>
                </a:highlight>
              </a:rPr>
              <a:t>Coming into 2025, sentiment is more cautious – an initial rally on hopes of Fed easing quickly fizzled as investors refocused on persistent headwinds</a:t>
            </a:r>
            <a:r>
              <a:rPr lang="en-ID" b="1" dirty="0"/>
              <a:t>​ </a:t>
            </a:r>
            <a:r>
              <a:rPr lang="en-ID" b="1" dirty="0">
                <a:hlinkClick r:id="rId3"/>
              </a:rPr>
              <a:t>tradingview.com</a:t>
            </a:r>
            <a:r>
              <a:rPr lang="en-ID" b="1" dirty="0"/>
              <a:t> .</a:t>
            </a:r>
            <a:r>
              <a:rPr lang="en-ID" dirty="0"/>
              <a:t> Notably, high-flying tech names saw a Q1 2025 pullback (the “Magnificent Seven” had their worst relative quarter since 2022)​</a:t>
            </a:r>
            <a:r>
              <a:rPr lang="en-ID" dirty="0">
                <a:hlinkClick r:id="rId4"/>
              </a:rPr>
              <a:t>tradingview.com</a:t>
            </a:r>
            <a:r>
              <a:rPr lang="en-ID" dirty="0"/>
              <a:t> , prompting a rotation into value sectors like financials.</a:t>
            </a:r>
          </a:p>
          <a:p>
            <a:pPr marL="146050" indent="0">
              <a:buNone/>
            </a:pPr>
            <a:endParaRPr lang="en-ID" dirty="0"/>
          </a:p>
          <a:p>
            <a:r>
              <a:rPr lang="en-ID" b="1" dirty="0"/>
              <a:t>Sector Performance:</a:t>
            </a:r>
            <a:r>
              <a:rPr lang="en-ID" dirty="0"/>
              <a:t> </a:t>
            </a:r>
            <a:r>
              <a:rPr lang="en-ID" b="1" dirty="0">
                <a:highlight>
                  <a:srgbClr val="FFFF00"/>
                </a:highlight>
              </a:rPr>
              <a:t>The financial sector has been buoyant. Banks benefited from rising net interest income in 2024 and a rebound in deal-making activity. Major bank stocks (e.g. JPM, GS, WFC) soared in 2024 </a:t>
            </a:r>
            <a:r>
              <a:rPr lang="en-ID" dirty="0"/>
              <a:t>amid Fed rate cuts, booming M&amp;A, and robust economic growth​</a:t>
            </a:r>
            <a:r>
              <a:rPr lang="en-ID" dirty="0">
                <a:hlinkClick r:id="rId5"/>
              </a:rPr>
              <a:t>finance.yahoo.com</a:t>
            </a:r>
            <a:r>
              <a:rPr lang="en-ID" dirty="0"/>
              <a:t>. Large diversified banks and payment processors are expected to remain leaders into 2025 as fundamentals stay solid.</a:t>
            </a:r>
            <a:r>
              <a:rPr lang="en-ID" b="1" dirty="0"/>
              <a:t> </a:t>
            </a:r>
            <a:r>
              <a:rPr lang="en-ID" b="1" dirty="0">
                <a:highlight>
                  <a:srgbClr val="FFFF00"/>
                </a:highlight>
              </a:rPr>
              <a:t>However, late-2024 policy uncertainty injected volatility, and bank shares saw some profit-taking early 2025 on macro jitters.</a:t>
            </a:r>
          </a:p>
          <a:p>
            <a:pPr marL="146050" indent="0">
              <a:buNone/>
            </a:pPr>
            <a:endParaRPr lang="en-ID" dirty="0"/>
          </a:p>
          <a:p>
            <a:r>
              <a:rPr lang="en-ID" b="1" dirty="0"/>
              <a:t>Trade Policy &amp; Tariffs:</a:t>
            </a:r>
            <a:r>
              <a:rPr lang="en-ID" dirty="0"/>
              <a:t> The resurgence of Trump-era trade policies is a double-edged sword. Markets have </a:t>
            </a:r>
            <a:r>
              <a:rPr lang="en-ID" b="1" dirty="0"/>
              <a:t>shifted focus back to tariffs</a:t>
            </a:r>
            <a:r>
              <a:rPr lang="en-ID" dirty="0"/>
              <a:t> – President Trump’s plans for new or higher import tariffs (and potential reciprocal duties) are raising concerns about corporate costs​ </a:t>
            </a:r>
            <a:r>
              <a:rPr lang="en-ID" dirty="0">
                <a:hlinkClick r:id="rId6"/>
              </a:rPr>
              <a:t>tradingview.com</a:t>
            </a:r>
            <a:r>
              <a:rPr lang="en-ID" dirty="0"/>
              <a:t>. Analysts warn these trade barriers could stoke inflation and </a:t>
            </a:r>
            <a:r>
              <a:rPr lang="en-ID" b="1" dirty="0"/>
              <a:t>dampen consumer spending</a:t>
            </a:r>
            <a:r>
              <a:rPr lang="en-ID" dirty="0"/>
              <a:t>, slowing the economy ​</a:t>
            </a:r>
            <a:r>
              <a:rPr lang="en-ID" dirty="0">
                <a:hlinkClick r:id="rId7"/>
              </a:rPr>
              <a:t>tradingview.com</a:t>
            </a:r>
            <a:r>
              <a:rPr lang="en-ID" dirty="0"/>
              <a:t>. </a:t>
            </a:r>
            <a:r>
              <a:rPr lang="en-ID" b="1" dirty="0">
                <a:highlight>
                  <a:srgbClr val="FFFF00"/>
                </a:highlight>
              </a:rPr>
              <a:t>For the banking sector, a trade-driven uptick in inflation could lead to higher interest rates for longer, even as pro-growth agendas (tax cuts, deregulation) under the new administration may boost business confidence​ ​</a:t>
            </a:r>
            <a:r>
              <a:rPr lang="en-ID" b="1" dirty="0">
                <a:highlight>
                  <a:srgbClr val="FFFF00"/>
                </a:highlight>
                <a:hlinkClick r:id="rId8"/>
              </a:rPr>
              <a:t>reuters.com</a:t>
            </a:r>
            <a:r>
              <a:rPr lang="en-ID" b="1" dirty="0">
                <a:highlight>
                  <a:srgbClr val="FFFF00"/>
                </a:highlight>
              </a:rPr>
              <a:t> Net impact: cautious optimism, with close attention on trade developments.</a:t>
            </a:r>
          </a:p>
          <a:p>
            <a:pPr marL="0" lvl="0" indent="0" algn="l" rtl="0">
              <a:spcBef>
                <a:spcPts val="1200"/>
              </a:spcBef>
              <a:spcAft>
                <a:spcPts val="1200"/>
              </a:spcAft>
              <a:buNone/>
            </a:pPr>
            <a:endParaRPr dirty="0">
              <a:solidFill>
                <a:srgbClr val="000000"/>
              </a:solidFill>
            </a:endParaRPr>
          </a:p>
        </p:txBody>
      </p:sp>
      <p:pic>
        <p:nvPicPr>
          <p:cNvPr id="108" name="Google Shape;108;p15"/>
          <p:cNvPicPr preferRelativeResize="0"/>
          <p:nvPr/>
        </p:nvPicPr>
        <p:blipFill>
          <a:blip r:embed="rId9">
            <a:alphaModFix/>
          </a:blip>
          <a:stretch>
            <a:fillRect/>
          </a:stretch>
        </p:blipFill>
        <p:spPr>
          <a:xfrm>
            <a:off x="8532500" y="0"/>
            <a:ext cx="541200" cy="541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673400" y="540863"/>
            <a:ext cx="7526400" cy="570082"/>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Business overview</a:t>
            </a:r>
            <a:endParaRPr dirty="0"/>
          </a:p>
        </p:txBody>
      </p:sp>
      <p:sp>
        <p:nvSpPr>
          <p:cNvPr id="114" name="Google Shape;114;p16"/>
          <p:cNvSpPr txBox="1">
            <a:spLocks noGrp="1"/>
          </p:cNvSpPr>
          <p:nvPr>
            <p:ph type="body" idx="1"/>
          </p:nvPr>
        </p:nvSpPr>
        <p:spPr>
          <a:xfrm>
            <a:off x="662889" y="1152985"/>
            <a:ext cx="7859100" cy="3965555"/>
          </a:xfrm>
          <a:prstGeom prst="rect">
            <a:avLst/>
          </a:prstGeom>
        </p:spPr>
        <p:txBody>
          <a:bodyPr spcFirstLastPara="1" wrap="square" lIns="91425" tIns="91425" rIns="91425" bIns="91425" anchor="t" anchorCtr="0">
            <a:normAutofit fontScale="77500" lnSpcReduction="20000"/>
          </a:bodyPr>
          <a:lstStyle/>
          <a:p>
            <a:pPr>
              <a:buFont typeface="Arial" panose="020B0604020202020204" pitchFamily="34" charset="0"/>
              <a:buChar char="•"/>
            </a:pPr>
            <a:r>
              <a:rPr lang="en-ID" b="1" dirty="0"/>
              <a:t>Company Background:</a:t>
            </a:r>
            <a:r>
              <a:rPr lang="en-ID" dirty="0"/>
              <a:t> </a:t>
            </a:r>
            <a:r>
              <a:rPr lang="en-ID" b="1" dirty="0"/>
              <a:t>JPMorgan Chase &amp; Co.</a:t>
            </a:r>
            <a:r>
              <a:rPr lang="en-ID" dirty="0"/>
              <a:t> is the largest U.S. bank and a global financial powerhouse, with about </a:t>
            </a:r>
            <a:r>
              <a:rPr lang="en-ID" b="1" dirty="0">
                <a:highlight>
                  <a:srgbClr val="FFFF00"/>
                </a:highlight>
              </a:rPr>
              <a:t>$4.0 trillion in assets</a:t>
            </a:r>
            <a:r>
              <a:rPr lang="en-ID" dirty="0">
                <a:highlight>
                  <a:srgbClr val="FFFF00"/>
                </a:highlight>
              </a:rPr>
              <a:t> as of end-2024​</a:t>
            </a:r>
            <a:r>
              <a:rPr lang="en-ID" dirty="0">
                <a:highlight>
                  <a:srgbClr val="FFFF00"/>
                </a:highlight>
                <a:hlinkClick r:id="rId3"/>
              </a:rPr>
              <a:t>businesswire.com</a:t>
            </a:r>
            <a:r>
              <a:rPr lang="en-ID" dirty="0">
                <a:highlight>
                  <a:srgbClr val="FFFF00"/>
                </a:highlight>
              </a:rPr>
              <a:t> . It operates a diversified business model across </a:t>
            </a:r>
            <a:r>
              <a:rPr lang="en-ID" b="1" dirty="0">
                <a:highlight>
                  <a:srgbClr val="FFFF00"/>
                </a:highlight>
              </a:rPr>
              <a:t>consumer banking, corporate &amp; investment banking, commercial banking, and asset &amp; wealth management</a:t>
            </a:r>
            <a:r>
              <a:rPr lang="en-ID" dirty="0">
                <a:highlight>
                  <a:srgbClr val="FFFF00"/>
                </a:highlight>
              </a:rPr>
              <a:t>​</a:t>
            </a:r>
            <a:r>
              <a:rPr lang="en-ID" dirty="0">
                <a:hlinkClick r:id="rId4"/>
              </a:rPr>
              <a:t>biz.uiowa.edu</a:t>
            </a:r>
            <a:r>
              <a:rPr lang="en-ID" dirty="0"/>
              <a:t> . Under the well-regarded leadership of </a:t>
            </a:r>
            <a:r>
              <a:rPr lang="en-ID" b="1" dirty="0"/>
              <a:t>CEO Jamie </a:t>
            </a:r>
            <a:r>
              <a:rPr lang="en-ID" b="1" dirty="0" err="1"/>
              <a:t>Dimon</a:t>
            </a:r>
            <a:r>
              <a:rPr lang="en-ID" dirty="0"/>
              <a:t>, the bank serves </a:t>
            </a:r>
            <a:r>
              <a:rPr lang="en-ID" b="1" dirty="0"/>
              <a:t>millions of retail customers</a:t>
            </a:r>
            <a:r>
              <a:rPr lang="en-ID" dirty="0"/>
              <a:t> through Chase (the largest U.S. branch network and credit card issuer), as well as corporations, institutions, and governments worldwide​</a:t>
            </a:r>
            <a:r>
              <a:rPr lang="en-ID" dirty="0">
                <a:hlinkClick r:id="rId5"/>
              </a:rPr>
              <a:t>businesswire.com</a:t>
            </a:r>
            <a:r>
              <a:rPr lang="en-ID" dirty="0"/>
              <a:t>. JPMorgan generates revenue from a broad range of sources: interest on loans, credit cards and mortgages; fees from underwriting, trading, and advisory services; asset management and private banking fees; and transaction processing income.</a:t>
            </a:r>
          </a:p>
          <a:p>
            <a:pPr marL="146050" indent="0">
              <a:buNone/>
            </a:pPr>
            <a:endParaRPr lang="en-ID" dirty="0"/>
          </a:p>
          <a:p>
            <a:pPr>
              <a:buFont typeface="Arial" panose="020B0604020202020204" pitchFamily="34" charset="0"/>
              <a:buChar char="•"/>
            </a:pPr>
            <a:r>
              <a:rPr lang="en-ID" b="1" dirty="0"/>
              <a:t>Revenue Streams &amp; Business Model:</a:t>
            </a:r>
            <a:r>
              <a:rPr lang="en-ID" dirty="0"/>
              <a:t> </a:t>
            </a:r>
            <a:r>
              <a:rPr lang="en-ID" b="1" dirty="0">
                <a:highlight>
                  <a:srgbClr val="FFFF00"/>
                </a:highlight>
              </a:rPr>
              <a:t>JPMorgan’s revenue is well-diversified by segment. Its four main divisions contribute roughly: Consumer &amp; Community Banking (~45% of net revenue), Corporate &amp; Investment Bank (~32%), Commercial Banking (~10%), and Asset &amp; Wealth Management (~13%</a:t>
            </a:r>
            <a:r>
              <a:rPr lang="en-ID" dirty="0"/>
              <a:t>)​</a:t>
            </a:r>
            <a:r>
              <a:rPr lang="en-ID" dirty="0">
                <a:hlinkClick r:id="rId4"/>
              </a:rPr>
              <a:t>biz.uiowa.edu</a:t>
            </a:r>
            <a:r>
              <a:rPr lang="en-ID" dirty="0"/>
              <a:t>. This balance means JPM has both a hefty consumer finance franchise (deposit-taking, lending, credit cards, etc.) and a leading Wall Street presence. For example, JPM is a top credit card issuer (Chase Card Services), a major mortgage lender, and also a </a:t>
            </a:r>
            <a:r>
              <a:rPr lang="en-ID" b="1" dirty="0"/>
              <a:t>#1 investment bank</a:t>
            </a:r>
            <a:r>
              <a:rPr lang="en-ID" dirty="0"/>
              <a:t> by fees. This diversified model and large customer base provide multiple earnings drivers and cross-selling opportunities, while spreading risk across consumer and institutional activities.</a:t>
            </a:r>
          </a:p>
          <a:p>
            <a:pPr marL="146050" indent="0">
              <a:buNone/>
            </a:pPr>
            <a:endParaRPr lang="en-ID" dirty="0"/>
          </a:p>
          <a:p>
            <a:pPr>
              <a:buFont typeface="Arial" panose="020B0604020202020204" pitchFamily="34" charset="0"/>
              <a:buChar char="•"/>
            </a:pPr>
            <a:r>
              <a:rPr lang="en-ID" b="1" dirty="0"/>
              <a:t>Qualitative Insights:</a:t>
            </a:r>
            <a:r>
              <a:rPr lang="en-ID" dirty="0"/>
              <a:t> JPMorgan’s scale and execution have produced a number of competitive advantages. The firm is known for its </a:t>
            </a:r>
            <a:r>
              <a:rPr lang="en-ID" b="1" dirty="0"/>
              <a:t>“</a:t>
            </a:r>
            <a:r>
              <a:rPr lang="en-ID" b="1" dirty="0">
                <a:highlight>
                  <a:srgbClr val="FFFF00"/>
                </a:highlight>
              </a:rPr>
              <a:t>fortress balance sheet”</a:t>
            </a:r>
            <a:r>
              <a:rPr lang="en-ID" dirty="0">
                <a:highlight>
                  <a:srgbClr val="FFFF00"/>
                </a:highlight>
              </a:rPr>
              <a:t> and prudent risk management – a legacy of lessons from the 2008 crisis that underpins its strong credit ratings.</a:t>
            </a:r>
            <a:r>
              <a:rPr lang="en-ID" dirty="0"/>
              <a:t> It has also been at the forefront of fintech innovation (e.g. digital banking apps, blockchain-based payment networks) and has made strategic acquisitions to fuel growth. Notably, </a:t>
            </a:r>
            <a:r>
              <a:rPr lang="en-ID" dirty="0">
                <a:highlight>
                  <a:srgbClr val="FFFF00"/>
                </a:highlight>
              </a:rPr>
              <a:t>in 2023 JPM acquired the bulk of </a:t>
            </a:r>
            <a:r>
              <a:rPr lang="en-ID" b="1" dirty="0">
                <a:highlight>
                  <a:srgbClr val="FFFF00"/>
                </a:highlight>
              </a:rPr>
              <a:t>First Republic Bank’s</a:t>
            </a:r>
            <a:r>
              <a:rPr lang="en-ID" dirty="0">
                <a:highlight>
                  <a:srgbClr val="FFFF00"/>
                </a:highlight>
              </a:rPr>
              <a:t> assets and deposits after that bank’s failure, expanding JPM’s reach among affluent clients. This deal instantly boosted JPM’s </a:t>
            </a:r>
            <a:r>
              <a:rPr lang="en-ID" b="1" dirty="0">
                <a:highlight>
                  <a:srgbClr val="FFFF00"/>
                </a:highlight>
              </a:rPr>
              <a:t>wealth management</a:t>
            </a:r>
            <a:r>
              <a:rPr lang="en-ID" dirty="0">
                <a:highlight>
                  <a:srgbClr val="FFFF00"/>
                </a:highlight>
              </a:rPr>
              <a:t> and </a:t>
            </a:r>
            <a:r>
              <a:rPr lang="en-ID" b="1" dirty="0">
                <a:highlight>
                  <a:srgbClr val="FFFF00"/>
                </a:highlight>
              </a:rPr>
              <a:t>private banking</a:t>
            </a:r>
            <a:r>
              <a:rPr lang="en-ID" dirty="0">
                <a:highlight>
                  <a:srgbClr val="FFFF00"/>
                </a:highlight>
              </a:rPr>
              <a:t> franchise</a:t>
            </a:r>
            <a:r>
              <a:rPr lang="en-ID" dirty="0"/>
              <a:t> (First Republic’s forte</a:t>
            </a:r>
            <a:r>
              <a:rPr lang="en-ID" b="1" dirty="0"/>
              <a:t>), growing those segments’ assets by ~20% and expanding commercial banking loans ~46% year-on-year with the added business ​</a:t>
            </a:r>
            <a:r>
              <a:rPr lang="en-ID" dirty="0">
                <a:hlinkClick r:id="rId6"/>
              </a:rPr>
              <a:t>biz.uiowa.edu</a:t>
            </a:r>
            <a:r>
              <a:rPr lang="en-ID" dirty="0"/>
              <a:t>. The acquisition was done at a bargain price with government assistance, and JPM expects it to be accretive to earnings, adding over $500 million to net income annually​ </a:t>
            </a:r>
            <a:r>
              <a:rPr lang="en-ID" dirty="0">
                <a:hlinkClick r:id="rId7"/>
              </a:rPr>
              <a:t>jpmorganchase.com</a:t>
            </a:r>
            <a:r>
              <a:rPr lang="en-ID" dirty="0"/>
              <a:t>. This reflects JPM’s role as a “safe haven” consolidator – its size and stability allow it to step in during industry turmoil (as invited by regulators) and emerge even stronger.</a:t>
            </a:r>
          </a:p>
          <a:p>
            <a:pPr marL="0" marR="0" lvl="0" indent="0" algn="l" rtl="0">
              <a:lnSpc>
                <a:spcPct val="115000"/>
              </a:lnSpc>
              <a:spcBef>
                <a:spcPts val="0"/>
              </a:spcBef>
              <a:spcAft>
                <a:spcPts val="0"/>
              </a:spcAft>
              <a:buNone/>
            </a:pPr>
            <a:endParaRPr dirty="0">
              <a:solidFill>
                <a:srgbClr val="000000"/>
              </a:solidFill>
            </a:endParaRPr>
          </a:p>
        </p:txBody>
      </p:sp>
      <p:pic>
        <p:nvPicPr>
          <p:cNvPr id="115" name="Google Shape;115;p16"/>
          <p:cNvPicPr preferRelativeResize="0"/>
          <p:nvPr/>
        </p:nvPicPr>
        <p:blipFill>
          <a:blip r:embed="rId8">
            <a:alphaModFix/>
          </a:blip>
          <a:stretch>
            <a:fillRect/>
          </a:stretch>
        </p:blipFill>
        <p:spPr>
          <a:xfrm>
            <a:off x="8532500" y="0"/>
            <a:ext cx="541200" cy="541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673400" y="540863"/>
            <a:ext cx="7526400" cy="570082"/>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SWOT</a:t>
            </a:r>
            <a:endParaRPr dirty="0"/>
          </a:p>
        </p:txBody>
      </p:sp>
      <p:pic>
        <p:nvPicPr>
          <p:cNvPr id="115" name="Google Shape;115;p16"/>
          <p:cNvPicPr preferRelativeResize="0"/>
          <p:nvPr/>
        </p:nvPicPr>
        <p:blipFill>
          <a:blip r:embed="rId3">
            <a:alphaModFix/>
          </a:blip>
          <a:stretch>
            <a:fillRect/>
          </a:stretch>
        </p:blipFill>
        <p:spPr>
          <a:xfrm>
            <a:off x="8532500" y="0"/>
            <a:ext cx="541200" cy="541200"/>
          </a:xfrm>
          <a:prstGeom prst="rect">
            <a:avLst/>
          </a:prstGeom>
          <a:noFill/>
          <a:ln>
            <a:noFill/>
          </a:ln>
        </p:spPr>
      </p:pic>
      <p:sp>
        <p:nvSpPr>
          <p:cNvPr id="3" name="Text Placeholder 2">
            <a:extLst>
              <a:ext uri="{FF2B5EF4-FFF2-40B4-BE49-F238E27FC236}">
                <a16:creationId xmlns:a16="http://schemas.microsoft.com/office/drawing/2014/main" id="{F8B4F551-18E6-46C5-3EC6-090E370FBEBA}"/>
              </a:ext>
            </a:extLst>
          </p:cNvPr>
          <p:cNvSpPr>
            <a:spLocks noGrp="1"/>
          </p:cNvSpPr>
          <p:nvPr>
            <p:ph type="body" idx="1"/>
          </p:nvPr>
        </p:nvSpPr>
        <p:spPr>
          <a:xfrm>
            <a:off x="197596" y="1134388"/>
            <a:ext cx="8821399" cy="4125364"/>
          </a:xfrm>
        </p:spPr>
        <p:txBody>
          <a:bodyPr>
            <a:normAutofit fontScale="70000" lnSpcReduction="20000"/>
          </a:bodyPr>
          <a:lstStyle/>
          <a:p>
            <a:r>
              <a:rPr lang="en-ID" sz="1400" b="1" dirty="0"/>
              <a:t>Strengths:</a:t>
            </a:r>
            <a:r>
              <a:rPr lang="en-ID" sz="1400" dirty="0"/>
              <a:t> JPMorgan’s </a:t>
            </a:r>
            <a:r>
              <a:rPr lang="en-ID" sz="1400" b="1" dirty="0"/>
              <a:t>diversification and scale</a:t>
            </a:r>
            <a:r>
              <a:rPr lang="en-ID" sz="1400" dirty="0"/>
              <a:t> are unparalleled. Each of its divisions is large enough to rival many standalone competitors (for instance, its investment bank or credit card business alone would rank among the industry leaders)​</a:t>
            </a:r>
            <a:r>
              <a:rPr lang="en-ID" sz="1400" dirty="0">
                <a:hlinkClick r:id="rId4"/>
              </a:rPr>
              <a:t>biz.uiowa.edu</a:t>
            </a:r>
            <a:r>
              <a:rPr lang="en-ID" sz="1400" dirty="0"/>
              <a:t>. </a:t>
            </a:r>
            <a:r>
              <a:rPr lang="en-ID" sz="1400" b="1" dirty="0">
                <a:highlight>
                  <a:srgbClr val="FFFF00"/>
                </a:highlight>
              </a:rPr>
              <a:t>The firm enjoys a strong brand and customer trust (flight-to-quality benefits), a seasoned management team, and a tech advantage from heavy investments in digital platforms</a:t>
            </a:r>
            <a:r>
              <a:rPr lang="en-ID" sz="1400" dirty="0"/>
              <a:t>. Its capital position is robust (“fortress” capital ratios well above regulatory minimums) and it has a high liquidity buffer to withstand shocks​</a:t>
            </a:r>
            <a:r>
              <a:rPr lang="en-ID" sz="1400" dirty="0">
                <a:hlinkClick r:id="rId5"/>
              </a:rPr>
              <a:t>jpmorganchase.com</a:t>
            </a:r>
            <a:r>
              <a:rPr lang="en-ID" sz="1400" dirty="0"/>
              <a:t>. These strengths give JPM resilience through economic cycles.</a:t>
            </a:r>
          </a:p>
          <a:p>
            <a:pPr marL="146050" indent="0">
              <a:buNone/>
            </a:pPr>
            <a:endParaRPr lang="en-ID" sz="1400" dirty="0"/>
          </a:p>
          <a:p>
            <a:r>
              <a:rPr lang="en-ID" sz="1400" b="1" dirty="0"/>
              <a:t>Weaknesses:</a:t>
            </a:r>
            <a:r>
              <a:rPr lang="en-ID" sz="1400" dirty="0"/>
              <a:t> </a:t>
            </a:r>
            <a:r>
              <a:rPr lang="en-ID" sz="1400" b="1" dirty="0">
                <a:highlight>
                  <a:srgbClr val="FFFF00"/>
                </a:highlight>
              </a:rPr>
              <a:t>JPM’s sheer size means high law-of-large-numbers effects – growth rates may be slower simply because the bank is already twice the size of its nearest competitor​</a:t>
            </a:r>
            <a:r>
              <a:rPr lang="en-ID" sz="1400" b="1" dirty="0">
                <a:highlight>
                  <a:srgbClr val="FFFF00"/>
                </a:highlight>
                <a:hlinkClick r:id="rId6"/>
              </a:rPr>
              <a:t>biz.uiowa.edu</a:t>
            </a:r>
            <a:r>
              <a:rPr lang="en-ID" sz="1400" dirty="0"/>
              <a:t>. Being a Global Systemically Important Bank (G-SIB), it faces stricter regulatory oversight and capital requirements than smaller peers, which can limit flexibility. The diversified model can also lead to complexity and bureaucratic costs (the firm’s scale requires careful management to avoid inefficiencies). In consumer banking, some critics note JPM has lower presence in certain regions or under-served communities compared to smaller banks.</a:t>
            </a:r>
          </a:p>
          <a:p>
            <a:pPr marL="146050" indent="0">
              <a:buNone/>
            </a:pPr>
            <a:endParaRPr lang="en-ID" sz="1400" dirty="0"/>
          </a:p>
          <a:p>
            <a:r>
              <a:rPr lang="en-ID" sz="1400" b="1" dirty="0"/>
              <a:t>Opportunities:</a:t>
            </a:r>
            <a:r>
              <a:rPr lang="en-ID" sz="1400" dirty="0"/>
              <a:t> JPMorgan can </a:t>
            </a:r>
            <a:r>
              <a:rPr lang="en-ID" sz="1400" b="1" dirty="0">
                <a:highlight>
                  <a:srgbClr val="FFFF00"/>
                </a:highlight>
              </a:rPr>
              <a:t>capitalize on </a:t>
            </a:r>
            <a:r>
              <a:rPr lang="en-ID" sz="1400" b="1" dirty="0" err="1">
                <a:highlight>
                  <a:srgbClr val="FFFF00"/>
                </a:highlight>
              </a:rPr>
              <a:t>favorable</a:t>
            </a:r>
            <a:r>
              <a:rPr lang="en-ID" sz="1400" b="1" dirty="0">
                <a:highlight>
                  <a:srgbClr val="FFFF00"/>
                </a:highlight>
              </a:rPr>
              <a:t> policy shifts and market trends. The new political regime’s emphasis on deregulation could ease capital rules and open doors for expansion or higher shareholder </a:t>
            </a:r>
            <a:r>
              <a:rPr lang="en-ID" sz="1400" b="1" dirty="0" err="1">
                <a:highlight>
                  <a:srgbClr val="FFFF00"/>
                </a:highlight>
              </a:rPr>
              <a:t>payouts</a:t>
            </a:r>
            <a:r>
              <a:rPr lang="en-ID" sz="1400" b="1" dirty="0">
                <a:highlight>
                  <a:srgbClr val="FFFF00"/>
                </a:highlight>
              </a:rPr>
              <a:t> (e.g., potential to increase dividends or buybacks if stress capital buffers are relaxed)</a:t>
            </a:r>
            <a:r>
              <a:rPr lang="en-ID" sz="1400" dirty="0"/>
              <a:t>​</a:t>
            </a:r>
            <a:r>
              <a:rPr lang="en-ID" sz="1400" dirty="0">
                <a:hlinkClick r:id="rId7"/>
              </a:rPr>
              <a:t>reuters.com</a:t>
            </a:r>
            <a:r>
              <a:rPr lang="en-ID" sz="1400" dirty="0"/>
              <a:t>. Economic recovery and </a:t>
            </a:r>
            <a:r>
              <a:rPr lang="en-ID" sz="1400" b="1" dirty="0"/>
              <a:t>increased deal-making</a:t>
            </a:r>
            <a:r>
              <a:rPr lang="en-ID" sz="1400" dirty="0"/>
              <a:t> present revenue opportunities for its investment bank (as seen by the recent surge in underwriting and trading fees). JPM’s scale and technology give it an edge to further grow in areas like payments (it’s investing in payments processing and fintech partnerships) and international banking. </a:t>
            </a:r>
            <a:r>
              <a:rPr lang="en-ID" sz="1400" b="1" dirty="0">
                <a:highlight>
                  <a:srgbClr val="FFFF00"/>
                </a:highlight>
              </a:rPr>
              <a:t>Additionally, the integration of First Republic’s wealth management clientele provides cross-selling opportunities (e.g. offering JPM’s broader products to FRB’s high-net-worth clients), which could drive incremental growth beyond the initial ~$500M net income boost ​</a:t>
            </a:r>
            <a:r>
              <a:rPr lang="en-ID" sz="1400" b="1" dirty="0">
                <a:highlight>
                  <a:srgbClr val="FFFF00"/>
                </a:highlight>
                <a:hlinkClick r:id="rId8"/>
              </a:rPr>
              <a:t>jpmorganchase.com</a:t>
            </a:r>
            <a:r>
              <a:rPr lang="en-ID" sz="1400" b="1" dirty="0">
                <a:highlight>
                  <a:srgbClr val="FFFF00"/>
                </a:highlight>
              </a:rPr>
              <a:t>.</a:t>
            </a:r>
          </a:p>
          <a:p>
            <a:pPr marL="146050" indent="0">
              <a:buNone/>
            </a:pPr>
            <a:endParaRPr lang="en-ID" sz="1400" dirty="0"/>
          </a:p>
          <a:p>
            <a:r>
              <a:rPr lang="en-ID" sz="1400" b="1" dirty="0"/>
              <a:t>Threats:</a:t>
            </a:r>
            <a:r>
              <a:rPr lang="en-ID" sz="1400" dirty="0"/>
              <a:t> </a:t>
            </a:r>
            <a:r>
              <a:rPr lang="en-ID" sz="1400" b="1" dirty="0"/>
              <a:t>Macroeconomic and political risks</a:t>
            </a:r>
            <a:r>
              <a:rPr lang="en-ID" sz="1400" dirty="0"/>
              <a:t> loom. </a:t>
            </a:r>
            <a:r>
              <a:rPr lang="en-ID" sz="1400" b="1" dirty="0">
                <a:highlight>
                  <a:srgbClr val="FFFF00"/>
                </a:highlight>
              </a:rPr>
              <a:t>A sharp economic downturn or credit shock would increase loan defaults and could hit JPM’s sizeable loan book across consumer and corporate portfolios. </a:t>
            </a:r>
            <a:r>
              <a:rPr lang="en-ID" sz="1400" dirty="0"/>
              <a:t>The return of protectionist trade policies (tariffs) is a key threat – higher tariffs can raise input costs, hurt business confidence, and ultimately squeeze borrowers’ profits, leading to weaker loan demand and credit deterioration​</a:t>
            </a:r>
            <a:r>
              <a:rPr lang="en-ID" sz="1400" dirty="0">
                <a:hlinkClick r:id="rId9"/>
              </a:rPr>
              <a:t>tradingview.com</a:t>
            </a:r>
            <a:r>
              <a:rPr lang="en-ID" sz="1400" dirty="0"/>
              <a:t>. Regulatory changes are uncertain: while a looser stance is anticipated, any surprise tightening (for instance, if the so-called Basel “endgame” capital rules proceed unaltered) could force big banks to hold more capital​</a:t>
            </a:r>
            <a:r>
              <a:rPr lang="en-ID" sz="1400" dirty="0">
                <a:hlinkClick r:id="rId7"/>
              </a:rPr>
              <a:t>reuters.com</a:t>
            </a:r>
            <a:r>
              <a:rPr lang="en-ID" sz="1400" dirty="0"/>
              <a:t>, potentially crimping returns. Finally, </a:t>
            </a:r>
            <a:r>
              <a:rPr lang="en-ID" sz="1400" b="1" dirty="0">
                <a:highlight>
                  <a:srgbClr val="FFFF00"/>
                </a:highlight>
              </a:rPr>
              <a:t>competition from </a:t>
            </a:r>
            <a:r>
              <a:rPr lang="en-ID" sz="1400" b="1" dirty="0" err="1">
                <a:highlight>
                  <a:srgbClr val="FFFF00"/>
                </a:highlight>
              </a:rPr>
              <a:t>fintechs</a:t>
            </a:r>
            <a:r>
              <a:rPr lang="en-ID" sz="1400" b="1" dirty="0">
                <a:highlight>
                  <a:srgbClr val="FFFF00"/>
                </a:highlight>
              </a:rPr>
              <a:t> and agile regional banks in niches (like digital wallets, buy-now-pay-later, etc.) could chip away at parts of JPM’s business if it fails to keep innovating – though so far JPM has been effective at adapting to tech disruptions.</a:t>
            </a:r>
          </a:p>
          <a:p>
            <a:endParaRPr lang="en-US" dirty="0"/>
          </a:p>
        </p:txBody>
      </p:sp>
    </p:spTree>
    <p:extLst>
      <p:ext uri="{BB962C8B-B14F-4D97-AF65-F5344CB8AC3E}">
        <p14:creationId xmlns:p14="http://schemas.microsoft.com/office/powerpoint/2010/main" val="1832896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7"/>
          <p:cNvSpPr txBox="1">
            <a:spLocks noGrp="1"/>
          </p:cNvSpPr>
          <p:nvPr>
            <p:ph type="title"/>
          </p:nvPr>
        </p:nvSpPr>
        <p:spPr>
          <a:xfrm>
            <a:off x="721225" y="541200"/>
            <a:ext cx="3926400" cy="806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Industry Performance</a:t>
            </a:r>
            <a:endParaRPr dirty="0"/>
          </a:p>
        </p:txBody>
      </p:sp>
      <p:pic>
        <p:nvPicPr>
          <p:cNvPr id="122" name="Google Shape;122;p17"/>
          <p:cNvPicPr preferRelativeResize="0"/>
          <p:nvPr/>
        </p:nvPicPr>
        <p:blipFill>
          <a:blip r:embed="rId3">
            <a:alphaModFix/>
          </a:blip>
          <a:stretch>
            <a:fillRect/>
          </a:stretch>
        </p:blipFill>
        <p:spPr>
          <a:xfrm>
            <a:off x="8532500" y="0"/>
            <a:ext cx="541200" cy="541200"/>
          </a:xfrm>
          <a:prstGeom prst="rect">
            <a:avLst/>
          </a:prstGeom>
          <a:noFill/>
          <a:ln>
            <a:noFill/>
          </a:ln>
        </p:spPr>
      </p:pic>
      <p:sp>
        <p:nvSpPr>
          <p:cNvPr id="124" name="Google Shape;124;p17"/>
          <p:cNvSpPr txBox="1"/>
          <p:nvPr/>
        </p:nvSpPr>
        <p:spPr>
          <a:xfrm>
            <a:off x="944800" y="6609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t>
            </a:r>
            <a:endParaRPr/>
          </a:p>
        </p:txBody>
      </p:sp>
      <p:sp>
        <p:nvSpPr>
          <p:cNvPr id="3" name="Text Placeholder 2">
            <a:extLst>
              <a:ext uri="{FF2B5EF4-FFF2-40B4-BE49-F238E27FC236}">
                <a16:creationId xmlns:a16="http://schemas.microsoft.com/office/drawing/2014/main" id="{8B631BB1-AA25-D1BF-F110-D7D41ED0FCC4}"/>
              </a:ext>
            </a:extLst>
          </p:cNvPr>
          <p:cNvSpPr>
            <a:spLocks noGrp="1"/>
          </p:cNvSpPr>
          <p:nvPr>
            <p:ph type="body" idx="1"/>
          </p:nvPr>
        </p:nvSpPr>
        <p:spPr>
          <a:xfrm>
            <a:off x="0" y="1273906"/>
            <a:ext cx="9144000" cy="4087446"/>
          </a:xfrm>
        </p:spPr>
        <p:txBody>
          <a:bodyPr>
            <a:normAutofit fontScale="70000" lnSpcReduction="20000"/>
          </a:bodyPr>
          <a:lstStyle/>
          <a:p>
            <a:r>
              <a:rPr lang="en-ID" b="1" dirty="0"/>
              <a:t>Banking Sector Trends:</a:t>
            </a:r>
            <a:r>
              <a:rPr lang="en-ID" dirty="0"/>
              <a:t> </a:t>
            </a:r>
            <a:r>
              <a:rPr lang="en-ID" b="1" dirty="0">
                <a:highlight>
                  <a:srgbClr val="FFFF00"/>
                </a:highlight>
              </a:rPr>
              <a:t>The U.S. banking and financial services industry saw a strong rebound in 2024. After the turmoil of regional bank failures in early 2023, confidence in the banking system improved and larger banks in particular thrived</a:t>
            </a:r>
            <a:r>
              <a:rPr lang="en-ID" dirty="0"/>
              <a:t>. Higher interest rates through most of 2023 into 2024 allowed banks to earn more on loans (widening net interest margins), while credit costs remained manageable. By mid-December 2024, the S&amp;P 500 Financials sector was up over </a:t>
            </a:r>
            <a:r>
              <a:rPr lang="en-ID" b="1" dirty="0"/>
              <a:t>30% for the year</a:t>
            </a:r>
            <a:r>
              <a:rPr lang="en-ID" dirty="0"/>
              <a:t>. Banks rode a tailwind of solid economic growth (~2-3% GDP), </a:t>
            </a:r>
            <a:r>
              <a:rPr lang="en-ID" b="1" dirty="0"/>
              <a:t>Fed rate cuts</a:t>
            </a:r>
            <a:r>
              <a:rPr lang="en-ID" dirty="0"/>
              <a:t> in late 2024 (which boosted bond values and eased funding costs), and </a:t>
            </a:r>
            <a:r>
              <a:rPr lang="en-ID" b="1" dirty="0"/>
              <a:t>revived capital markets activity</a:t>
            </a:r>
            <a:r>
              <a:rPr lang="en-ID" dirty="0"/>
              <a:t>. For example, Wall Street deal-making sprang back to life: IPOs and M&amp;A that were subdued in 2022-23 picked up, benefiting banks’ fee income. </a:t>
            </a:r>
            <a:r>
              <a:rPr lang="en-ID" b="1" dirty="0">
                <a:highlight>
                  <a:srgbClr val="FFFF00"/>
                </a:highlight>
              </a:rPr>
              <a:t>Overall, the industry entered 2025 on strong footing, though facing new uncertainties (inflation, trade policy) that have introduced some volatility.</a:t>
            </a:r>
          </a:p>
          <a:p>
            <a:pPr marL="146050" indent="0">
              <a:buNone/>
            </a:pPr>
            <a:endParaRPr lang="en-ID" dirty="0"/>
          </a:p>
          <a:p>
            <a:r>
              <a:rPr lang="en-ID" b="1" dirty="0"/>
              <a:t>JPMorgan’s Market Position:</a:t>
            </a:r>
            <a:r>
              <a:rPr lang="en-ID" dirty="0"/>
              <a:t> </a:t>
            </a:r>
            <a:r>
              <a:rPr lang="en-ID" b="1" dirty="0">
                <a:highlight>
                  <a:srgbClr val="FFFF00"/>
                </a:highlight>
              </a:rPr>
              <a:t>JPMorgan is firmly at the top of the industry. It is the largest bank in the US by assets ( ~$4T, about 15% of U.S. banking assets)​</a:t>
            </a:r>
            <a:r>
              <a:rPr lang="en-ID" b="1" dirty="0">
                <a:highlight>
                  <a:srgbClr val="FFFF00"/>
                </a:highlight>
                <a:hlinkClick r:id="rId4"/>
              </a:rPr>
              <a:t>businesswire.com</a:t>
            </a:r>
            <a:r>
              <a:rPr lang="en-ID" b="1" dirty="0">
                <a:highlight>
                  <a:srgbClr val="FFFF00"/>
                </a:highlight>
              </a:rPr>
              <a:t>, and its scale far exceeds peers </a:t>
            </a:r>
            <a:r>
              <a:rPr lang="en-ID" dirty="0"/>
              <a:t>– in fact, JPM is roughly </a:t>
            </a:r>
            <a:r>
              <a:rPr lang="en-ID" b="1" dirty="0"/>
              <a:t>twice the size of its next-largest competitor</a:t>
            </a:r>
            <a:r>
              <a:rPr lang="en-ID" dirty="0"/>
              <a:t> in total assets​</a:t>
            </a:r>
            <a:r>
              <a:rPr lang="en-ID" dirty="0">
                <a:hlinkClick r:id="rId5"/>
              </a:rPr>
              <a:t>biz.uiowa.edu</a:t>
            </a:r>
            <a:r>
              <a:rPr lang="en-ID" dirty="0"/>
              <a:t>. This dominant size was an advantage during the 2023 regional banking scare: as smaller banks faltered, </a:t>
            </a:r>
            <a:r>
              <a:rPr lang="en-ID" b="1" dirty="0"/>
              <a:t>depositors flocked to the safety of big banks</a:t>
            </a:r>
            <a:r>
              <a:rPr lang="en-ID" dirty="0"/>
              <a:t>, and giants like JPM, </a:t>
            </a:r>
            <a:r>
              <a:rPr lang="en-ID" dirty="0" err="1"/>
              <a:t>BofA</a:t>
            </a:r>
            <a:r>
              <a:rPr lang="en-ID" dirty="0"/>
              <a:t>, and Citi saw billions in inflows​</a:t>
            </a:r>
            <a:r>
              <a:rPr lang="en-ID" dirty="0">
                <a:hlinkClick r:id="rId6"/>
              </a:rPr>
              <a:t>reuters.com</a:t>
            </a:r>
            <a:r>
              <a:rPr lang="en-ID" dirty="0"/>
              <a:t>. JPMorgan’s deposit base actually </a:t>
            </a:r>
            <a:r>
              <a:rPr lang="en-ID" b="1" dirty="0"/>
              <a:t>grew</a:t>
            </a:r>
            <a:r>
              <a:rPr lang="en-ID" dirty="0"/>
              <a:t> during that crisis, bolstering its market share in core banking. In many lines of business, JPM is the market leader or a top player: it ranks #1 globally in investment banking fees (with </a:t>
            </a:r>
            <a:r>
              <a:rPr lang="en-ID" b="1" dirty="0"/>
              <a:t>9.3% wallet share</a:t>
            </a:r>
            <a:r>
              <a:rPr lang="en-ID" dirty="0"/>
              <a:t> in 2024)​</a:t>
            </a:r>
            <a:r>
              <a:rPr lang="en-ID" dirty="0">
                <a:hlinkClick r:id="rId7"/>
              </a:rPr>
              <a:t>jpmorganchase.com</a:t>
            </a:r>
            <a:r>
              <a:rPr lang="en-ID" dirty="0"/>
              <a:t>, #1 in U.S. credit card spend, and among the top in commercial banking and asset management. </a:t>
            </a:r>
            <a:r>
              <a:rPr lang="en-ID" b="1" dirty="0">
                <a:highlight>
                  <a:srgbClr val="FFFF00"/>
                </a:highlight>
              </a:rPr>
              <a:t>This breadth gives JPM a competitive edge – it can capture opportunities across the financial spectrum, and its brand strength and trust factor attract clients (and deposits) especially in uncertain times.</a:t>
            </a:r>
          </a:p>
          <a:p>
            <a:pPr marL="146050" indent="0">
              <a:buNone/>
            </a:pPr>
            <a:endParaRPr lang="en-ID" b="1" dirty="0">
              <a:highlight>
                <a:srgbClr val="FFFF00"/>
              </a:highlight>
            </a:endParaRPr>
          </a:p>
          <a:p>
            <a:r>
              <a:rPr lang="en-ID" b="1" dirty="0"/>
              <a:t>Competitive Dynamics:</a:t>
            </a:r>
            <a:r>
              <a:rPr lang="en-ID" dirty="0"/>
              <a:t> </a:t>
            </a:r>
            <a:r>
              <a:rPr lang="en-ID" b="1" dirty="0">
                <a:highlight>
                  <a:srgbClr val="FFFF00"/>
                </a:highlight>
              </a:rPr>
              <a:t>The U.S. banking industry is oligopolistic at the top, with a few mega-banks (JPMorgan, Bank of America, Citigroup, Wells Fargo) controlling a large chunk of assets and deposits, while a long tail of regional and community banks competes in local markets</a:t>
            </a:r>
            <a:r>
              <a:rPr lang="en-ID" dirty="0"/>
              <a:t>. JPMorgan’s chief competition in various segments comes from other “universal banks” and some specialized firms: e.g., investment banking competition from Goldman Sachs and Morgan Stanley, consumer banking competition from </a:t>
            </a:r>
            <a:r>
              <a:rPr lang="en-ID" dirty="0" err="1"/>
              <a:t>BofA</a:t>
            </a:r>
            <a:r>
              <a:rPr lang="en-ID" dirty="0"/>
              <a:t> and Wells Fargo, and wealth management competition from firms like Morgan Stanley (which acquired </a:t>
            </a:r>
            <a:r>
              <a:rPr lang="en-ID" dirty="0" err="1"/>
              <a:t>E*Trade</a:t>
            </a:r>
            <a:r>
              <a:rPr lang="en-ID" dirty="0"/>
              <a:t> and Smith Barney) and Bank of America (Merrill Lynch). </a:t>
            </a:r>
          </a:p>
          <a:p>
            <a:pPr marL="146050" indent="0">
              <a:buNone/>
            </a:pPr>
            <a:endParaRPr lang="en-ID" dirty="0"/>
          </a:p>
          <a:p>
            <a:r>
              <a:rPr lang="en-ID" b="1" dirty="0"/>
              <a:t>Competitive moat:</a:t>
            </a:r>
            <a:r>
              <a:rPr lang="en-ID" dirty="0"/>
              <a:t> </a:t>
            </a:r>
            <a:r>
              <a:rPr lang="en-ID" b="1" dirty="0">
                <a:highlight>
                  <a:srgbClr val="FFFF00"/>
                </a:highlight>
              </a:rPr>
              <a:t>JPM’s size and diversified revenue give it economies of scale – for instance, its technology and marketing spend can be spread across a huge base.</a:t>
            </a:r>
            <a:r>
              <a:rPr lang="en-ID" dirty="0"/>
              <a:t> This has helped it maintain an efficiency advantage and invest heavily in innovation (smaller banks struggle to match this). Moreover, its broad product suite means it can serve clients’ multiple needs (one-stop financial partner), increasing stickiness</a:t>
            </a:r>
            <a:r>
              <a:rPr lang="en-ID" b="1" dirty="0">
                <a:highlight>
                  <a:srgbClr val="FFFF00"/>
                </a:highlight>
              </a:rPr>
              <a:t>. That said, competition is still intense: fintech disruptors target areas like payments and consumer lending, and smaller banks often compete on niche expertise or customer service. </a:t>
            </a:r>
            <a:r>
              <a:rPr lang="en-ID" dirty="0"/>
              <a:t>JPMorgan responds by continually updating digital offerings (the Chase app, digital wealth management, etc.) and by leveraging data across its businesses to deepen customer relationships. </a:t>
            </a:r>
            <a:r>
              <a:rPr lang="en-ID" b="1" dirty="0"/>
              <a:t>Regulatory environment</a:t>
            </a:r>
            <a:r>
              <a:rPr lang="en-ID" dirty="0"/>
              <a:t> also shapes competition – big banks have higher compliance burdens, but also the benefit of “too-big-to-fail” implicit support. </a:t>
            </a:r>
            <a:r>
              <a:rPr lang="en-ID" b="1" dirty="0">
                <a:highlight>
                  <a:srgbClr val="FFFF00"/>
                </a:highlight>
              </a:rPr>
              <a:t>Overall, JPM is well-positioned in the current competitive landscape, with leadership in both Main Street banking and Wall Street activities, which few others can claim.</a:t>
            </a:r>
          </a:p>
          <a:p>
            <a:pPr marL="14605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8"/>
          <p:cNvSpPr txBox="1">
            <a:spLocks noGrp="1"/>
          </p:cNvSpPr>
          <p:nvPr>
            <p:ph type="title"/>
          </p:nvPr>
        </p:nvSpPr>
        <p:spPr>
          <a:xfrm>
            <a:off x="698738" y="541200"/>
            <a:ext cx="2685323" cy="502335"/>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Fundamentals</a:t>
            </a:r>
            <a:endParaRPr dirty="0"/>
          </a:p>
        </p:txBody>
      </p:sp>
      <p:sp>
        <p:nvSpPr>
          <p:cNvPr id="130" name="Google Shape;130;p18"/>
          <p:cNvSpPr txBox="1">
            <a:spLocks noGrp="1"/>
          </p:cNvSpPr>
          <p:nvPr>
            <p:ph type="body" idx="1"/>
          </p:nvPr>
        </p:nvSpPr>
        <p:spPr>
          <a:xfrm>
            <a:off x="1" y="1156677"/>
            <a:ext cx="9144000" cy="3986823"/>
          </a:xfrm>
          <a:prstGeom prst="rect">
            <a:avLst/>
          </a:prstGeom>
        </p:spPr>
        <p:txBody>
          <a:bodyPr spcFirstLastPara="1" wrap="square" lIns="91425" tIns="91425" rIns="91425" bIns="91425" anchor="t" anchorCtr="0">
            <a:normAutofit fontScale="77500" lnSpcReduction="20000"/>
          </a:bodyPr>
          <a:lstStyle/>
          <a:p>
            <a:pPr marL="146050" indent="0">
              <a:buNone/>
            </a:pPr>
            <a:r>
              <a:rPr lang="en-ID" b="1" dirty="0"/>
              <a:t>📈 Earnings Momentum</a:t>
            </a:r>
          </a:p>
          <a:p>
            <a:pPr>
              <a:buFont typeface="Arial" panose="020B0604020202020204" pitchFamily="34" charset="0"/>
              <a:buChar char="•"/>
            </a:pPr>
            <a:r>
              <a:rPr lang="en-ID" b="1" dirty="0"/>
              <a:t>Q4 2024 Net Income:</a:t>
            </a:r>
            <a:r>
              <a:rPr lang="en-ID" dirty="0"/>
              <a:t> $14.0B (+50% YoY)</a:t>
            </a:r>
          </a:p>
          <a:p>
            <a:pPr>
              <a:buFont typeface="Arial" panose="020B0604020202020204" pitchFamily="34" charset="0"/>
              <a:buChar char="•"/>
            </a:pPr>
            <a:r>
              <a:rPr lang="en-ID" b="1" dirty="0"/>
              <a:t>Full-Year 2024 Net Income:</a:t>
            </a:r>
            <a:r>
              <a:rPr lang="en-ID" dirty="0"/>
              <a:t> Record $58.5B (+18% YoY)</a:t>
            </a:r>
          </a:p>
          <a:p>
            <a:pPr>
              <a:buFont typeface="Arial" panose="020B0604020202020204" pitchFamily="34" charset="0"/>
              <a:buChar char="•"/>
            </a:pPr>
            <a:r>
              <a:rPr lang="en-ID" b="1" dirty="0"/>
              <a:t>EPS:</a:t>
            </a:r>
            <a:r>
              <a:rPr lang="en-ID" dirty="0"/>
              <a:t> </a:t>
            </a:r>
            <a:r>
              <a:rPr lang="en-ID" b="1" dirty="0">
                <a:highlight>
                  <a:srgbClr val="FFFF00"/>
                </a:highlight>
              </a:rPr>
              <a:t>$4.81 (above expectations)</a:t>
            </a:r>
          </a:p>
          <a:p>
            <a:pPr>
              <a:buFont typeface="Arial" panose="020B0604020202020204" pitchFamily="34" charset="0"/>
              <a:buChar char="•"/>
            </a:pPr>
            <a:r>
              <a:rPr lang="en-ID" b="1" dirty="0"/>
              <a:t>Revenue (Q4 2024):</a:t>
            </a:r>
            <a:r>
              <a:rPr lang="en-ID" dirty="0"/>
              <a:t> </a:t>
            </a:r>
            <a:r>
              <a:rPr lang="en-ID" dirty="0">
                <a:highlight>
                  <a:srgbClr val="FFFF00"/>
                </a:highlight>
              </a:rPr>
              <a:t>$43.7B (+10% YoY)</a:t>
            </a:r>
          </a:p>
          <a:p>
            <a:pPr>
              <a:buFont typeface="Arial" panose="020B0604020202020204" pitchFamily="34" charset="0"/>
              <a:buChar char="•"/>
            </a:pPr>
            <a:r>
              <a:rPr lang="en-ID" b="1" dirty="0"/>
              <a:t>Strong Net Interest Income (NII)</a:t>
            </a:r>
            <a:r>
              <a:rPr lang="en-ID" dirty="0"/>
              <a:t> despite Q4 slight dip (-3% YoY); 2025 guidance positive at ~$94B.</a:t>
            </a:r>
          </a:p>
          <a:p>
            <a:pPr marL="146050" indent="0">
              <a:buNone/>
            </a:pPr>
            <a:r>
              <a:rPr lang="en-ID" b="1" dirty="0"/>
              <a:t>🏦 Investment Banking &amp; Trading</a:t>
            </a:r>
          </a:p>
          <a:p>
            <a:pPr>
              <a:buFont typeface="Arial" panose="020B0604020202020204" pitchFamily="34" charset="0"/>
              <a:buChar char="•"/>
            </a:pPr>
            <a:r>
              <a:rPr lang="en-ID" b="1" dirty="0"/>
              <a:t>Investment Banking Fees (Q4 2024):</a:t>
            </a:r>
            <a:r>
              <a:rPr lang="en-ID" dirty="0"/>
              <a:t> </a:t>
            </a:r>
            <a:r>
              <a:rPr lang="en-ID" dirty="0">
                <a:highlight>
                  <a:srgbClr val="FFFF00"/>
                </a:highlight>
              </a:rPr>
              <a:t>Surged +49% YoY; multi-year highs.</a:t>
            </a:r>
          </a:p>
          <a:p>
            <a:pPr>
              <a:buFont typeface="Arial" panose="020B0604020202020204" pitchFamily="34" charset="0"/>
              <a:buChar char="•"/>
            </a:pPr>
            <a:r>
              <a:rPr lang="en-ID" b="1" dirty="0"/>
              <a:t>Trading Revenue:</a:t>
            </a:r>
            <a:r>
              <a:rPr lang="en-ID" dirty="0"/>
              <a:t> +21% YoY, driven by fixed-income and equity derivatives.</a:t>
            </a:r>
          </a:p>
          <a:p>
            <a:pPr>
              <a:buFont typeface="Arial" panose="020B0604020202020204" pitchFamily="34" charset="0"/>
              <a:buChar char="•"/>
            </a:pPr>
            <a:r>
              <a:rPr lang="en-ID" b="1" dirty="0"/>
              <a:t>Payments Revenue:</a:t>
            </a:r>
            <a:r>
              <a:rPr lang="en-ID" dirty="0"/>
              <a:t> Hit record ~$18B in 2024, highlighting diversified income.</a:t>
            </a:r>
          </a:p>
          <a:p>
            <a:pPr marL="146050" indent="0">
              <a:buNone/>
            </a:pPr>
            <a:r>
              <a:rPr lang="en-ID" b="1" dirty="0"/>
              <a:t>💼 Financial Health &amp; Ratios</a:t>
            </a:r>
          </a:p>
          <a:p>
            <a:pPr>
              <a:buFont typeface="Arial" panose="020B0604020202020204" pitchFamily="34" charset="0"/>
              <a:buChar char="•"/>
            </a:pPr>
            <a:r>
              <a:rPr lang="en-ID" b="1" dirty="0"/>
              <a:t>CET1 Capital Ratio:</a:t>
            </a:r>
            <a:r>
              <a:rPr lang="en-ID" dirty="0"/>
              <a:t> Robust ~14–15% (above regulatory requirements).</a:t>
            </a:r>
          </a:p>
          <a:p>
            <a:pPr>
              <a:buFont typeface="Arial" panose="020B0604020202020204" pitchFamily="34" charset="0"/>
              <a:buChar char="•"/>
            </a:pPr>
            <a:r>
              <a:rPr lang="en-ID" b="1" dirty="0"/>
              <a:t>Liquidity:</a:t>
            </a:r>
            <a:r>
              <a:rPr lang="en-ID" dirty="0"/>
              <a:t> $1.4T cash/marketable securities, $547B loss-absorbing capacity.</a:t>
            </a:r>
          </a:p>
          <a:p>
            <a:pPr>
              <a:buFont typeface="Arial" panose="020B0604020202020204" pitchFamily="34" charset="0"/>
              <a:buChar char="•"/>
            </a:pPr>
            <a:r>
              <a:rPr lang="en-ID" b="1" dirty="0"/>
              <a:t>Asset Quality:</a:t>
            </a:r>
            <a:r>
              <a:rPr lang="en-ID" dirty="0"/>
              <a:t> Low net charge-offs ($2.4B on $1.3T+ loan book, mainly cards).</a:t>
            </a:r>
          </a:p>
          <a:p>
            <a:pPr>
              <a:buFont typeface="Arial" panose="020B0604020202020204" pitchFamily="34" charset="0"/>
              <a:buChar char="•"/>
            </a:pPr>
            <a:r>
              <a:rPr lang="en-ID" b="1" dirty="0"/>
              <a:t>Profitability Metrics:</a:t>
            </a:r>
            <a:r>
              <a:rPr lang="en-ID" dirty="0"/>
              <a:t> Return on Equity ~17%, Return on Tangible Equity ~21%</a:t>
            </a:r>
          </a:p>
          <a:p>
            <a:pPr>
              <a:buFont typeface="Arial" panose="020B0604020202020204" pitchFamily="34" charset="0"/>
              <a:buChar char="•"/>
            </a:pPr>
            <a:r>
              <a:rPr lang="en-ID" b="1" dirty="0"/>
              <a:t>Efficiency Ratio:</a:t>
            </a:r>
            <a:r>
              <a:rPr lang="en-ID" dirty="0"/>
              <a:t> </a:t>
            </a:r>
            <a:r>
              <a:rPr lang="en-ID" dirty="0">
                <a:highlight>
                  <a:srgbClr val="FFFF00"/>
                </a:highlight>
              </a:rPr>
              <a:t>Low-50%, strong cost discipline (expenses down 7% YoY).</a:t>
            </a:r>
          </a:p>
          <a:p>
            <a:pPr marL="146050" indent="0">
              <a:buNone/>
            </a:pPr>
            <a:r>
              <a:rPr lang="en-ID" b="1" dirty="0"/>
              <a:t>📊 Valuation Metrics</a:t>
            </a:r>
          </a:p>
          <a:p>
            <a:pPr>
              <a:buFont typeface="Arial" panose="020B0604020202020204" pitchFamily="34" charset="0"/>
              <a:buChar char="•"/>
            </a:pPr>
            <a:r>
              <a:rPr lang="en-ID" b="1" dirty="0"/>
              <a:t>P/E Ratio:</a:t>
            </a:r>
            <a:r>
              <a:rPr lang="en-ID" dirty="0"/>
              <a:t> ~12–13x (slightly above historical average ~11x).</a:t>
            </a:r>
          </a:p>
          <a:p>
            <a:pPr>
              <a:buFont typeface="Arial" panose="020B0604020202020204" pitchFamily="34" charset="0"/>
              <a:buChar char="•"/>
            </a:pPr>
            <a:r>
              <a:rPr lang="en-ID" b="1" dirty="0"/>
              <a:t>Price-to-Book Ratio:</a:t>
            </a:r>
            <a:r>
              <a:rPr lang="en-ID" dirty="0"/>
              <a:t> ~2.0x (premium reflecting superior returns/stability).</a:t>
            </a:r>
          </a:p>
          <a:p>
            <a:pPr>
              <a:buFont typeface="Arial" panose="020B0604020202020204" pitchFamily="34" charset="0"/>
              <a:buChar char="•"/>
            </a:pPr>
            <a:r>
              <a:rPr lang="en-ID" b="1" dirty="0"/>
              <a:t>Dividend Yield:</a:t>
            </a:r>
            <a:r>
              <a:rPr lang="en-ID" dirty="0"/>
              <a:t> ~2%; steadily rising (current dividend $1.05/share).</a:t>
            </a:r>
          </a:p>
          <a:p>
            <a:pPr>
              <a:buFont typeface="Arial" panose="020B0604020202020204" pitchFamily="34" charset="0"/>
              <a:buChar char="•"/>
            </a:pPr>
            <a:r>
              <a:rPr lang="en-ID" b="1" dirty="0"/>
              <a:t>Share Buybacks:</a:t>
            </a:r>
            <a:r>
              <a:rPr lang="en-ID" dirty="0"/>
              <a:t> Restarted in 2H 2023 after regulatory pause.</a:t>
            </a:r>
          </a:p>
          <a:p>
            <a:pPr>
              <a:buFont typeface="Arial" panose="020B0604020202020204" pitchFamily="34" charset="0"/>
              <a:buChar char="•"/>
            </a:pPr>
            <a:r>
              <a:rPr lang="en-ID" b="1" dirty="0"/>
              <a:t>Stock Performance:</a:t>
            </a:r>
            <a:r>
              <a:rPr lang="en-ID" dirty="0"/>
              <a:t> </a:t>
            </a:r>
            <a:r>
              <a:rPr lang="en-ID" dirty="0">
                <a:highlight>
                  <a:srgbClr val="FFFF00"/>
                </a:highlight>
              </a:rPr>
              <a:t>+41% total return in 2024, outperforming market.</a:t>
            </a:r>
          </a:p>
          <a:p>
            <a:pPr marL="146050" indent="0">
              <a:buNone/>
            </a:pPr>
            <a:r>
              <a:rPr lang="en-ID" b="1" dirty="0"/>
              <a:t>🎯 Investment Rationale</a:t>
            </a:r>
          </a:p>
          <a:p>
            <a:pPr>
              <a:buFont typeface="Arial" panose="020B0604020202020204" pitchFamily="34" charset="0"/>
              <a:buChar char="•"/>
            </a:pPr>
            <a:r>
              <a:rPr lang="en-ID" dirty="0"/>
              <a:t>Strong financial momentum with diversified growth drivers.</a:t>
            </a:r>
          </a:p>
          <a:p>
            <a:pPr>
              <a:buFont typeface="Arial" panose="020B0604020202020204" pitchFamily="34" charset="0"/>
              <a:buChar char="•"/>
            </a:pPr>
            <a:r>
              <a:rPr lang="en-ID" dirty="0"/>
              <a:t>Attractive valuation post recent volatility presents a </a:t>
            </a:r>
            <a:r>
              <a:rPr lang="en-ID" dirty="0" err="1"/>
              <a:t>favorable</a:t>
            </a:r>
            <a:r>
              <a:rPr lang="en-ID" dirty="0"/>
              <a:t> entry point.</a:t>
            </a:r>
          </a:p>
          <a:p>
            <a:pPr>
              <a:buFont typeface="Arial" panose="020B0604020202020204" pitchFamily="34" charset="0"/>
              <a:buChar char="•"/>
            </a:pPr>
            <a:r>
              <a:rPr lang="en-ID" dirty="0"/>
              <a:t>Solid fundamentals position JPM well for continued outperformance.</a:t>
            </a:r>
          </a:p>
          <a:p>
            <a:endParaRPr lang="en-ID" dirty="0">
              <a:solidFill>
                <a:srgbClr val="040C28"/>
              </a:solidFill>
            </a:endParaRPr>
          </a:p>
        </p:txBody>
      </p:sp>
      <p:pic>
        <p:nvPicPr>
          <p:cNvPr id="131" name="Google Shape;131;p18"/>
          <p:cNvPicPr preferRelativeResize="0"/>
          <p:nvPr/>
        </p:nvPicPr>
        <p:blipFill>
          <a:blip r:embed="rId3">
            <a:alphaModFix/>
          </a:blip>
          <a:stretch>
            <a:fillRect/>
          </a:stretch>
        </p:blipFill>
        <p:spPr>
          <a:xfrm>
            <a:off x="8532500" y="0"/>
            <a:ext cx="541200" cy="541200"/>
          </a:xfrm>
          <a:prstGeom prst="rect">
            <a:avLst/>
          </a:prstGeom>
          <a:noFill/>
          <a:ln>
            <a:noFill/>
          </a:ln>
        </p:spPr>
      </p:pic>
      <p:sp>
        <p:nvSpPr>
          <p:cNvPr id="7" name="AutoShape 7" descr="JPMorgan earns biggest-ever annual profit as investment bankers ride rebound | Reuters">
            <a:extLst>
              <a:ext uri="{FF2B5EF4-FFF2-40B4-BE49-F238E27FC236}">
                <a16:creationId xmlns:a16="http://schemas.microsoft.com/office/drawing/2014/main" id="{465D47D0-C476-3A71-5DEE-F18BB499164F}"/>
              </a:ext>
            </a:extLst>
          </p:cNvPr>
          <p:cNvSpPr>
            <a:spLocks noChangeAspect="1" noChangeArrowheads="1"/>
          </p:cNvSpPr>
          <p:nvPr/>
        </p:nvSpPr>
        <p:spPr bwMode="auto">
          <a:xfrm>
            <a:off x="4419600" y="2419350"/>
            <a:ext cx="1699846" cy="16998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D476E620-00EB-6C28-D119-301FABF76B62}"/>
              </a:ext>
            </a:extLst>
          </p:cNvPr>
          <p:cNvPicPr>
            <a:picLocks noChangeAspect="1"/>
          </p:cNvPicPr>
          <p:nvPr/>
        </p:nvPicPr>
        <p:blipFill>
          <a:blip r:embed="rId4"/>
          <a:stretch>
            <a:fillRect/>
          </a:stretch>
        </p:blipFill>
        <p:spPr>
          <a:xfrm>
            <a:off x="5352340" y="2419350"/>
            <a:ext cx="3580683" cy="25566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2"/>
          <p:cNvSpPr txBox="1">
            <a:spLocks noGrp="1"/>
          </p:cNvSpPr>
          <p:nvPr>
            <p:ph type="title"/>
          </p:nvPr>
        </p:nvSpPr>
        <p:spPr>
          <a:xfrm>
            <a:off x="721225" y="607450"/>
            <a:ext cx="3300900" cy="650827"/>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Risk</a:t>
            </a:r>
            <a:endParaRPr dirty="0"/>
          </a:p>
        </p:txBody>
      </p:sp>
      <p:sp>
        <p:nvSpPr>
          <p:cNvPr id="158" name="Google Shape;158;p22"/>
          <p:cNvSpPr txBox="1">
            <a:spLocks noGrp="1"/>
          </p:cNvSpPr>
          <p:nvPr>
            <p:ph type="body" idx="1"/>
          </p:nvPr>
        </p:nvSpPr>
        <p:spPr>
          <a:xfrm>
            <a:off x="195385" y="1227993"/>
            <a:ext cx="8635999" cy="3915507"/>
          </a:xfrm>
          <a:prstGeom prst="rect">
            <a:avLst/>
          </a:prstGeom>
        </p:spPr>
        <p:txBody>
          <a:bodyPr spcFirstLastPara="1" wrap="square" lIns="91425" tIns="91425" rIns="91425" bIns="91425" anchor="t" anchorCtr="0">
            <a:normAutofit fontScale="85000" lnSpcReduction="20000"/>
          </a:bodyPr>
          <a:lstStyle/>
          <a:p>
            <a:pPr marL="146050" indent="0">
              <a:buNone/>
            </a:pPr>
            <a:r>
              <a:rPr lang="en-ID" b="1" dirty="0"/>
              <a:t>📉 Regulatory Risks</a:t>
            </a:r>
          </a:p>
          <a:p>
            <a:pPr>
              <a:buFont typeface="Arial" panose="020B0604020202020204" pitchFamily="34" charset="0"/>
              <a:buChar char="•"/>
            </a:pPr>
            <a:r>
              <a:rPr lang="en-ID" dirty="0"/>
              <a:t>Uncertainty around capital requirements; potential tighter regulations.</a:t>
            </a:r>
          </a:p>
          <a:p>
            <a:pPr>
              <a:buFont typeface="Arial" panose="020B0604020202020204" pitchFamily="34" charset="0"/>
              <a:buChar char="•"/>
            </a:pPr>
            <a:r>
              <a:rPr lang="en-ID" dirty="0"/>
              <a:t>Regulatory scrutiny as a major U.S. systemic bank could impact flexibility.</a:t>
            </a:r>
          </a:p>
          <a:p>
            <a:pPr marL="146050" indent="0">
              <a:buNone/>
            </a:pPr>
            <a:endParaRPr lang="en-ID" dirty="0"/>
          </a:p>
          <a:p>
            <a:pPr marL="146050" indent="0">
              <a:buNone/>
            </a:pPr>
            <a:r>
              <a:rPr lang="en-ID" b="1" dirty="0"/>
              <a:t>🌎 Macroeconomic Risks</a:t>
            </a:r>
          </a:p>
          <a:p>
            <a:pPr>
              <a:buFont typeface="Arial" panose="020B0604020202020204" pitchFamily="34" charset="0"/>
              <a:buChar char="•"/>
            </a:pPr>
            <a:r>
              <a:rPr lang="en-ID" dirty="0"/>
              <a:t>Potential economic slowdown increasing loan defaults.</a:t>
            </a:r>
          </a:p>
          <a:p>
            <a:pPr>
              <a:buFont typeface="Arial" panose="020B0604020202020204" pitchFamily="34" charset="0"/>
              <a:buChar char="•"/>
            </a:pPr>
            <a:r>
              <a:rPr lang="en-ID" dirty="0"/>
              <a:t>Exposure to consumer and corporate credit quality deterioration in downturn.</a:t>
            </a:r>
          </a:p>
          <a:p>
            <a:pPr marL="146050" indent="0">
              <a:buNone/>
            </a:pPr>
            <a:endParaRPr lang="en-ID" dirty="0"/>
          </a:p>
          <a:p>
            <a:pPr marL="146050" indent="0">
              <a:buNone/>
            </a:pPr>
            <a:r>
              <a:rPr lang="en-ID" b="1" dirty="0"/>
              <a:t>📊 Interest Rate &amp; Inflation Risks</a:t>
            </a:r>
          </a:p>
          <a:p>
            <a:pPr>
              <a:buFont typeface="Arial" panose="020B0604020202020204" pitchFamily="34" charset="0"/>
              <a:buChar char="•"/>
            </a:pPr>
            <a:r>
              <a:rPr lang="en-ID" dirty="0"/>
              <a:t>Persistent inflation could lead Fed to maintain higher rates, pressuring margins.</a:t>
            </a:r>
          </a:p>
          <a:p>
            <a:pPr>
              <a:buFont typeface="Arial" panose="020B0604020202020204" pitchFamily="34" charset="0"/>
              <a:buChar char="•"/>
            </a:pPr>
            <a:r>
              <a:rPr lang="en-ID" dirty="0"/>
              <a:t>Interest rate volatility impacts net interest income stability and trading revenues.</a:t>
            </a:r>
          </a:p>
          <a:p>
            <a:pPr marL="146050" indent="0">
              <a:buNone/>
            </a:pPr>
            <a:endParaRPr lang="en-ID" dirty="0"/>
          </a:p>
          <a:p>
            <a:pPr marL="146050" indent="0">
              <a:buNone/>
            </a:pPr>
            <a:r>
              <a:rPr lang="en-ID" b="1" dirty="0"/>
              <a:t>🌐 Political &amp; Trade Risks</a:t>
            </a:r>
          </a:p>
          <a:p>
            <a:pPr>
              <a:buFont typeface="Arial" panose="020B0604020202020204" pitchFamily="34" charset="0"/>
              <a:buChar char="•"/>
            </a:pPr>
            <a:r>
              <a:rPr lang="en-ID" dirty="0"/>
              <a:t>Return of Trump-era tariffs may raise costs, dampen business investment/spending.</a:t>
            </a:r>
          </a:p>
          <a:p>
            <a:pPr>
              <a:buFont typeface="Arial" panose="020B0604020202020204" pitchFamily="34" charset="0"/>
              <a:buChar char="•"/>
            </a:pPr>
            <a:r>
              <a:rPr lang="en-ID" dirty="0"/>
              <a:t>Escalation in trade conflicts could negatively affect credit demand and corporate profitability.</a:t>
            </a:r>
          </a:p>
          <a:p>
            <a:pPr marL="146050" indent="0">
              <a:buNone/>
            </a:pPr>
            <a:endParaRPr lang="en-ID" dirty="0"/>
          </a:p>
          <a:p>
            <a:pPr marL="146050" indent="0">
              <a:buNone/>
            </a:pPr>
            <a:r>
              <a:rPr lang="en-ID" b="1" dirty="0"/>
              <a:t>💻 Competitive &amp; Technological Risks</a:t>
            </a:r>
          </a:p>
          <a:p>
            <a:pPr>
              <a:buFont typeface="Arial" panose="020B0604020202020204" pitchFamily="34" charset="0"/>
              <a:buChar char="•"/>
            </a:pPr>
            <a:r>
              <a:rPr lang="en-ID" dirty="0"/>
              <a:t>Growing fintech competition in payments and consumer lending.</a:t>
            </a:r>
          </a:p>
          <a:p>
            <a:pPr>
              <a:buFont typeface="Arial" panose="020B0604020202020204" pitchFamily="34" charset="0"/>
              <a:buChar char="•"/>
            </a:pPr>
            <a:r>
              <a:rPr lang="en-ID" dirty="0"/>
              <a:t>Cybersecurity threats could harm reputation and operations.</a:t>
            </a:r>
          </a:p>
          <a:p>
            <a:pPr marL="146050" indent="0">
              <a:buNone/>
            </a:pPr>
            <a:endParaRPr lang="en-ID" dirty="0"/>
          </a:p>
          <a:p>
            <a:pPr marL="146050" indent="0">
              <a:buNone/>
            </a:pPr>
            <a:r>
              <a:rPr lang="en-ID" b="1" dirty="0"/>
              <a:t>🛡️ Mitigation Factors</a:t>
            </a:r>
          </a:p>
          <a:p>
            <a:pPr>
              <a:buFont typeface="Arial" panose="020B0604020202020204" pitchFamily="34" charset="0"/>
              <a:buChar char="•"/>
            </a:pPr>
            <a:r>
              <a:rPr lang="en-ID" dirty="0"/>
              <a:t>Strong capital and liquidity buffers provide resilience.</a:t>
            </a:r>
          </a:p>
          <a:p>
            <a:pPr>
              <a:buFont typeface="Arial" panose="020B0604020202020204" pitchFamily="34" charset="0"/>
              <a:buChar char="•"/>
            </a:pPr>
            <a:r>
              <a:rPr lang="en-ID" dirty="0"/>
              <a:t>Diversified revenue streams reduce impact of single-sector risks.</a:t>
            </a:r>
          </a:p>
          <a:p>
            <a:pPr marL="0" lvl="0" indent="0" algn="l" rtl="0">
              <a:spcBef>
                <a:spcPts val="0"/>
              </a:spcBef>
              <a:spcAft>
                <a:spcPts val="0"/>
              </a:spcAft>
              <a:buNone/>
            </a:pPr>
            <a:endParaRPr dirty="0">
              <a:solidFill>
                <a:srgbClr val="000000"/>
              </a:solidFill>
            </a:endParaRPr>
          </a:p>
        </p:txBody>
      </p:sp>
      <p:pic>
        <p:nvPicPr>
          <p:cNvPr id="159" name="Google Shape;159;p22"/>
          <p:cNvPicPr preferRelativeResize="0"/>
          <p:nvPr/>
        </p:nvPicPr>
        <p:blipFill>
          <a:blip r:embed="rId3">
            <a:alphaModFix/>
          </a:blip>
          <a:stretch>
            <a:fillRect/>
          </a:stretch>
        </p:blipFill>
        <p:spPr>
          <a:xfrm>
            <a:off x="8532500" y="0"/>
            <a:ext cx="541200" cy="541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721224" y="458957"/>
            <a:ext cx="5820253" cy="138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Proposal and Exit strategy </a:t>
            </a:r>
            <a:endParaRPr dirty="0"/>
          </a:p>
        </p:txBody>
      </p:sp>
      <p:pic>
        <p:nvPicPr>
          <p:cNvPr id="166" name="Google Shape;166;p23"/>
          <p:cNvPicPr preferRelativeResize="0"/>
          <p:nvPr/>
        </p:nvPicPr>
        <p:blipFill>
          <a:blip r:embed="rId3">
            <a:alphaModFix/>
          </a:blip>
          <a:stretch>
            <a:fillRect/>
          </a:stretch>
        </p:blipFill>
        <p:spPr>
          <a:xfrm>
            <a:off x="8532500" y="0"/>
            <a:ext cx="541200" cy="541200"/>
          </a:xfrm>
          <a:prstGeom prst="rect">
            <a:avLst/>
          </a:prstGeom>
          <a:noFill/>
          <a:ln>
            <a:noFill/>
          </a:ln>
        </p:spPr>
      </p:pic>
      <p:sp>
        <p:nvSpPr>
          <p:cNvPr id="3" name="Text Placeholder 2">
            <a:extLst>
              <a:ext uri="{FF2B5EF4-FFF2-40B4-BE49-F238E27FC236}">
                <a16:creationId xmlns:a16="http://schemas.microsoft.com/office/drawing/2014/main" id="{D350726C-1080-BDBD-F315-739AF60F6FA0}"/>
              </a:ext>
            </a:extLst>
          </p:cNvPr>
          <p:cNvSpPr>
            <a:spLocks noGrp="1"/>
          </p:cNvSpPr>
          <p:nvPr>
            <p:ph type="body" idx="1"/>
          </p:nvPr>
        </p:nvSpPr>
        <p:spPr>
          <a:xfrm>
            <a:off x="0" y="1336430"/>
            <a:ext cx="9073700" cy="3807069"/>
          </a:xfrm>
        </p:spPr>
        <p:txBody>
          <a:bodyPr>
            <a:normAutofit fontScale="77500" lnSpcReduction="20000"/>
          </a:bodyPr>
          <a:lstStyle/>
          <a:p>
            <a:pPr marL="146050" indent="0">
              <a:buNone/>
            </a:pPr>
            <a:r>
              <a:rPr lang="en-ID" b="1" dirty="0"/>
              <a:t>💡 Investment Proposal</a:t>
            </a:r>
          </a:p>
          <a:p>
            <a:pPr>
              <a:buFont typeface="Arial" panose="020B0604020202020204" pitchFamily="34" charset="0"/>
              <a:buChar char="•"/>
            </a:pPr>
            <a:r>
              <a:rPr lang="en-ID" b="1" dirty="0"/>
              <a:t>Action:</a:t>
            </a:r>
            <a:r>
              <a:rPr lang="en-ID" dirty="0"/>
              <a:t> Buy (Short-term, 3-month holding)</a:t>
            </a:r>
          </a:p>
          <a:p>
            <a:pPr>
              <a:buFont typeface="Arial" panose="020B0604020202020204" pitchFamily="34" charset="0"/>
              <a:buChar char="•"/>
            </a:pPr>
            <a:r>
              <a:rPr lang="en-ID" b="1" dirty="0"/>
              <a:t>Allocation:</a:t>
            </a:r>
            <a:r>
              <a:rPr lang="en-ID" dirty="0"/>
              <a:t> ~10% of portfolio</a:t>
            </a:r>
          </a:p>
          <a:p>
            <a:pPr>
              <a:buFont typeface="Arial" panose="020B0604020202020204" pitchFamily="34" charset="0"/>
              <a:buChar char="•"/>
            </a:pPr>
            <a:r>
              <a:rPr lang="en-ID" b="1" dirty="0"/>
              <a:t>Entry Price:</a:t>
            </a:r>
            <a:r>
              <a:rPr lang="en-ID" dirty="0"/>
              <a:t> </a:t>
            </a:r>
            <a:r>
              <a:rPr lang="en-ID" dirty="0">
                <a:highlight>
                  <a:srgbClr val="FFFF00"/>
                </a:highlight>
              </a:rPr>
              <a:t>~$240 (current levels)</a:t>
            </a:r>
          </a:p>
          <a:p>
            <a:pPr>
              <a:buFont typeface="Arial" panose="020B0604020202020204" pitchFamily="34" charset="0"/>
              <a:buChar char="•"/>
            </a:pPr>
            <a:r>
              <a:rPr lang="en-ID" b="1" dirty="0"/>
              <a:t>Price Target:</a:t>
            </a:r>
            <a:r>
              <a:rPr lang="en-ID" dirty="0"/>
              <a:t> </a:t>
            </a:r>
            <a:r>
              <a:rPr lang="en-ID" dirty="0">
                <a:highlight>
                  <a:srgbClr val="FFFF00"/>
                </a:highlight>
              </a:rPr>
              <a:t>~$270 (12% upside potential)</a:t>
            </a:r>
          </a:p>
          <a:p>
            <a:pPr>
              <a:buFont typeface="Arial" panose="020B0604020202020204" pitchFamily="34" charset="0"/>
              <a:buChar char="•"/>
            </a:pPr>
            <a:r>
              <a:rPr lang="en-ID" b="1" dirty="0"/>
              <a:t>Stop-Loss:</a:t>
            </a:r>
            <a:r>
              <a:rPr lang="en-ID" dirty="0"/>
              <a:t> Set around ~$215–$220 (-10% downside protection)</a:t>
            </a:r>
          </a:p>
          <a:p>
            <a:pPr marL="146050" indent="0">
              <a:buNone/>
            </a:pPr>
            <a:endParaRPr lang="en-ID" dirty="0"/>
          </a:p>
          <a:p>
            <a:pPr marL="146050" indent="0">
              <a:buNone/>
            </a:pPr>
            <a:r>
              <a:rPr lang="en-ID" b="1" dirty="0"/>
              <a:t>📅 Catalysts to Watch (Next 3 Months)</a:t>
            </a:r>
          </a:p>
          <a:p>
            <a:pPr marL="146050" indent="0">
              <a:buNone/>
            </a:pPr>
            <a:r>
              <a:rPr lang="en-ID" b="1" dirty="0"/>
              <a:t>📊 Earnings Catalyst</a:t>
            </a:r>
          </a:p>
          <a:p>
            <a:pPr>
              <a:buFont typeface="Arial" panose="020B0604020202020204" pitchFamily="34" charset="0"/>
              <a:buChar char="•"/>
            </a:pPr>
            <a:r>
              <a:rPr lang="en-ID" b="1" dirty="0">
                <a:highlight>
                  <a:srgbClr val="FFFF00"/>
                </a:highlight>
              </a:rPr>
              <a:t>Q1 2025 Earnings (April 11):</a:t>
            </a:r>
            <a:r>
              <a:rPr lang="en-ID" dirty="0">
                <a:highlight>
                  <a:srgbClr val="FFFF00"/>
                </a:highlight>
              </a:rPr>
              <a:t> Anticipating strong performance driven by solid consumer spending and fee income.</a:t>
            </a:r>
          </a:p>
          <a:p>
            <a:pPr marL="146050" indent="0">
              <a:buNone/>
            </a:pPr>
            <a:endParaRPr lang="en-ID" dirty="0">
              <a:highlight>
                <a:srgbClr val="FFFF00"/>
              </a:highlight>
            </a:endParaRPr>
          </a:p>
          <a:p>
            <a:pPr marL="146050" indent="0">
              <a:buNone/>
            </a:pPr>
            <a:r>
              <a:rPr lang="en-ID" b="1" dirty="0"/>
              <a:t>🏛️ Regulatory Developments</a:t>
            </a:r>
          </a:p>
          <a:p>
            <a:pPr>
              <a:buFont typeface="Arial" panose="020B0604020202020204" pitchFamily="34" charset="0"/>
              <a:buChar char="•"/>
            </a:pPr>
            <a:r>
              <a:rPr lang="en-ID" dirty="0"/>
              <a:t>Possible easing of capital rules and regulatory requirements under current administration.</a:t>
            </a:r>
          </a:p>
          <a:p>
            <a:pPr marL="146050" indent="0">
              <a:buNone/>
            </a:pPr>
            <a:endParaRPr lang="en-ID" dirty="0"/>
          </a:p>
          <a:p>
            <a:pPr marL="146050" indent="0">
              <a:buNone/>
            </a:pPr>
            <a:r>
              <a:rPr lang="en-ID" b="1" dirty="0"/>
              <a:t>🏦 Federal Reserve Policy</a:t>
            </a:r>
          </a:p>
          <a:p>
            <a:pPr>
              <a:buFont typeface="Arial" panose="020B0604020202020204" pitchFamily="34" charset="0"/>
              <a:buChar char="•"/>
            </a:pPr>
            <a:r>
              <a:rPr lang="en-ID" dirty="0"/>
              <a:t>Potential signals of interest rate cuts or a dovish policy stance boosting sentiment in financial stocks.</a:t>
            </a:r>
          </a:p>
          <a:p>
            <a:pPr marL="146050" indent="0">
              <a:buNone/>
            </a:pPr>
            <a:endParaRPr lang="en-ID" dirty="0"/>
          </a:p>
          <a:p>
            <a:pPr marL="146050" indent="0">
              <a:buNone/>
            </a:pPr>
            <a:r>
              <a:rPr lang="en-ID" b="1" dirty="0"/>
              <a:t>📢 Trade Policy Clarification</a:t>
            </a:r>
          </a:p>
          <a:p>
            <a:pPr>
              <a:buFont typeface="Arial" panose="020B0604020202020204" pitchFamily="34" charset="0"/>
              <a:buChar char="•"/>
            </a:pPr>
            <a:r>
              <a:rPr lang="en-ID" dirty="0"/>
              <a:t>Reduction or clarification of tariffs by the administration, improving market confidence and economic outlook.</a:t>
            </a:r>
          </a:p>
          <a:p>
            <a:pPr marL="146050" indent="0">
              <a:buNone/>
            </a:pPr>
            <a:endParaRPr lang="en-ID" dirty="0"/>
          </a:p>
          <a:p>
            <a:pPr marL="146050" indent="0">
              <a:buNone/>
            </a:pPr>
            <a:r>
              <a:rPr lang="en-ID" b="1" dirty="0"/>
              <a:t>🛑 Exit Strategy</a:t>
            </a:r>
          </a:p>
          <a:p>
            <a:pPr>
              <a:buFont typeface="Arial" panose="020B0604020202020204" pitchFamily="34" charset="0"/>
              <a:buChar char="•"/>
            </a:pPr>
            <a:r>
              <a:rPr lang="en-ID" b="1" dirty="0"/>
              <a:t>Target Price Achievement (~$270):</a:t>
            </a:r>
            <a:r>
              <a:rPr lang="en-ID" dirty="0"/>
              <a:t> Exit upon reaching target.</a:t>
            </a:r>
          </a:p>
          <a:p>
            <a:pPr>
              <a:buFont typeface="Arial" panose="020B0604020202020204" pitchFamily="34" charset="0"/>
              <a:buChar char="•"/>
            </a:pPr>
            <a:r>
              <a:rPr lang="en-ID" b="1" dirty="0"/>
              <a:t>Time Horizon:</a:t>
            </a:r>
            <a:r>
              <a:rPr lang="en-ID" dirty="0"/>
              <a:t> Reassess at 3-month mark (end of Q2 2025).</a:t>
            </a:r>
          </a:p>
          <a:p>
            <a:pPr>
              <a:buFont typeface="Arial" panose="020B0604020202020204" pitchFamily="34" charset="0"/>
              <a:buChar char="•"/>
            </a:pPr>
            <a:r>
              <a:rPr lang="en-ID" b="1" dirty="0"/>
              <a:t>Negative Catalysts:</a:t>
            </a:r>
            <a:r>
              <a:rPr lang="en-ID" dirty="0"/>
              <a:t> Exit early if significant deterioration in earnings, macroeconomic conditions, or regulatory environment occurs.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4800">
                <a:solidFill>
                  <a:srgbClr val="000000"/>
                </a:solidFill>
              </a:rPr>
              <a:t>Thank you.</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1114</TotalTime>
  <Words>2846</Words>
  <Application>Microsoft Macintosh PowerPoint</Application>
  <PresentationFormat>On-screen Show (16:9)</PresentationFormat>
  <Paragraphs>109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Lato</vt:lpstr>
      <vt:lpstr>Raleway</vt:lpstr>
      <vt:lpstr>Arial</vt:lpstr>
      <vt:lpstr>Streamline</vt:lpstr>
      <vt:lpstr>PowerPoint Presentation</vt:lpstr>
      <vt:lpstr>General, relevant market information </vt:lpstr>
      <vt:lpstr>Business overview</vt:lpstr>
      <vt:lpstr>SWOT</vt:lpstr>
      <vt:lpstr>Industry Performance</vt:lpstr>
      <vt:lpstr>Fundamentals</vt:lpstr>
      <vt:lpstr>Risk</vt:lpstr>
      <vt:lpstr>Proposal and Exit strategy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Name</dc:title>
  <cp:lastModifiedBy>Rafid Mantari</cp:lastModifiedBy>
  <cp:revision>3</cp:revision>
  <dcterms:modified xsi:type="dcterms:W3CDTF">2025-04-03T09:31:55Z</dcterms:modified>
</cp:coreProperties>
</file>